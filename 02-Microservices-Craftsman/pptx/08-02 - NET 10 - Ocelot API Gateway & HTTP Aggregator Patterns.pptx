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dotnet/architecture/microservices/multi-container-microservice-net-applications/implement-api-gateways-with-ocelot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otnet/architecture/microservices/architect-microservice-container-applications/direct-client-to-microservice-communication-versus-the-api-gateway-patter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ocelot.readthedocs.io/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ocelot.readthedocs.io/en/latest/introduction/bigpicture.html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otnet/aspire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ocelot.readthedocs.io/en/latest/features/routing.html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uget.org/packages/Ocelot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ocelot.readthedocs.io/en/latest/introduction/gettingstarted.html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ocelot.readthedocs.io/en/latest/features/routing.html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ocelot.readthedocs.io/en/latest/features/ratelimiting.html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ocelot.readthedocs.io/en/latest/features/aggregation.html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ocelot.readthedocs.io/en/latest/features/aggregation.html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ocelot.readthedocs.io/en/latest/features/aggregation.html#custom-aggregators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ocelot.readthedocs.io/en/latest/features/aggregation.html#custom-aggregators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azure/architecture/patterns/gateway-aggregation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otnet/aspire/get-started/aspire-overview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ocelot.readthedocs.io/" TargetMode="Externa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nterpriseintegrationpatterns.com/patterns/messaging/BroadcastAggregate.html" TargetMode="Externa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zure/architecture/patterns/gateway-aggregation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samnewman.io/patterns/architectural/bff/" TargetMode="Externa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spnet/core/fundamentals/http-requests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dotnet/aspire/service-discovery/overview" TargetMode="Externa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dotnet/standard/serialization/system-text-json/overview" TargetMode="Externa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martinfowler.com/bliki/TolerantReader.html" TargetMode="Externa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terpriseintegrationpatterns.com/patterns/messaging/BroadcastAggregate.html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dotnet/standard/parallel-programming/task-based-asynchronous-programming" TargetMode="Externa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ef/core/dbcontext-configuration/#avoiding-dbcontext-threading-issues" TargetMode="Externa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zure/well-architected/reliability/handle-transient-faults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tracker.ietf.org/doc/html/rfc9457" TargetMode="Externa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azure/architecture/patterns/gateway-aggregation" TargetMode="Externa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microservices.io/patterns/apigateway.html" TargetMode="Externa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otnet/core/resilience/http-resilience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ollydocs.org/strategies/" TargetMode="Externa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dotnet/aspire/fundamentals/telemetry" TargetMode="Externa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dotnet/core/resilience/http-resilience" TargetMode="Externa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en-us/dotnet/architecture/microservices/" TargetMode="External"/><Relationship Id="rId3" Type="http://schemas.openxmlformats.org/officeDocument/2006/relationships/hyperlink" Target="https://ocelot.readthedocs.io/en/latest/features/aggregation.html" TargetMode="External"/><Relationship Id="rId7" Type="http://schemas.openxmlformats.org/officeDocument/2006/relationships/hyperlink" Target="https://martinfowler.com/bliki/TolerantReader.html" TargetMode="External"/><Relationship Id="rId2" Type="http://schemas.openxmlformats.org/officeDocument/2006/relationships/hyperlink" Target="https://learn.microsoft.com/en-us/dotnet/architecture/microservices/multi-container-microservice-net-applications/implement-api-gateways-with-ocelot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learn.microsoft.com/en-us/dotnet/core/resilience/http-resilience" TargetMode="External"/><Relationship Id="rId5" Type="http://schemas.openxmlformats.org/officeDocument/2006/relationships/hyperlink" Target="https://learn.microsoft.com/en-us/azure/architecture/patterns/backends-for-frontends" TargetMode="External"/><Relationship Id="rId4" Type="http://schemas.openxmlformats.org/officeDocument/2006/relationships/hyperlink" Target="https://learn.microsoft.com/en-us/azure/architecture/patterns/gateway-aggrega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5F666E"/>
                </a:solidFill>
                <a:latin typeface="Segoe UI"/>
              </a:defRPr>
            </a:pPr>
            <a:r>
              <a:t>АКАДЕМІЧНИЙ КУРС  |  02-MICROSERVICES-CRAFTSMAN  |  .NET 10 &amp; ASPIRE</a:t>
            </a:r>
          </a:p>
          <a:p>
            <a:pPr>
              <a:spcAft>
                <a:spcPts val="800"/>
              </a:spcAft>
              <a:defRPr sz="3050" b="1">
                <a:solidFill>
                  <a:srgbClr val="111418"/>
                </a:solidFill>
                <a:latin typeface="Segoe UI"/>
              </a:defRPr>
            </a:pPr>
            <a:r>
              <a:t>Патерни API Gateway (Ocelot) та HTTP Gateway Aggregator / BFF у .NET 10</a:t>
            </a:r>
          </a:p>
          <a:p>
            <a:pPr>
              <a:defRPr sz="1500">
                <a:solidFill>
                  <a:srgbClr val="2D3238"/>
                </a:solidFill>
                <a:latin typeface="Segoe UI"/>
              </a:defRPr>
            </a:pPr>
            <a:r>
              <a:t>Двочастинна лекція та покроковий розбір коду CargoDeliveryService: від маршрутизації Ocelot до паралельного Scatter-Gather (Task.WhenAll) та Graceful Degradation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2514600"/>
            <a:ext cx="10972800" cy="27432"/>
          </a:xfrm>
          <a:prstGeom prst="rect">
            <a:avLst/>
          </a:prstGeom>
          <a:solidFill>
            <a:srgbClr val="11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4360" y="2743200"/>
            <a:ext cx="5349240" cy="3291840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28016" rtlCol="0" anchor="t"/>
          <a:lstStyle/>
          <a:p>
            <a:pPr algn="ctr">
              <a:spcAft>
                <a:spcPts val="700"/>
              </a:spcAft>
              <a:defRPr sz="1600" b="1">
                <a:solidFill>
                  <a:srgbClr val="111418"/>
                </a:solidFill>
                <a:latin typeface="Segoe UI"/>
              </a:defRPr>
            </a:pPr>
            <a:r>
              <a:t>ЧАСТИНА 1 (Слайди 1–17): API Gateway та бібліотека Ocelot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11418"/>
                </a:solidFill>
                <a:latin typeface="Segoe UI"/>
              </a:rPr>
              <a:t>• Проблема прямих викликів: </a:t>
            </a:r>
            <a:r>
              <a:rPr sz="1400" b="0">
                <a:solidFill>
                  <a:srgbClr val="2D3238"/>
                </a:solidFill>
                <a:latin typeface="Segoe UI"/>
              </a:rPr>
              <a:t>чому клієнт не повинен знати внутрішні адреси мікросервісів (:5001, :5002, :5003).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11418"/>
                </a:solidFill>
                <a:latin typeface="Segoe UI"/>
              </a:rPr>
              <a:t>• Конвеєр Ocelot у .NET 10: </a:t>
            </a:r>
            <a:r>
              <a:rPr sz="1400" b="0">
                <a:solidFill>
                  <a:srgbClr val="2D3238"/>
                </a:solidFill>
                <a:latin typeface="Segoe UI"/>
              </a:rPr>
              <a:t>маршрутизація Upstream -&gt; Downstream, Rate Limiting, трансформація заголовків, балансування.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11418"/>
                </a:solidFill>
                <a:latin typeface="Segoe UI"/>
              </a:rPr>
              <a:t>• Декларативна агрегація Ocelot: </a:t>
            </a:r>
            <a:r>
              <a:rPr sz="1400" b="0">
                <a:solidFill>
                  <a:srgbClr val="2D3238"/>
                </a:solidFill>
                <a:latin typeface="Segoe UI"/>
              </a:rPr>
              <a:t>секція Aggregates та RouteKeys у файлі ocelot.json.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11418"/>
                </a:solidFill>
                <a:latin typeface="Segoe UI"/>
              </a:rPr>
              <a:t>• Програмна агрегація Ocelot: </a:t>
            </a:r>
            <a:r>
              <a:rPr sz="1400" b="0">
                <a:solidFill>
                  <a:srgbClr val="2D3238"/>
                </a:solidFill>
                <a:latin typeface="Segoe UI"/>
              </a:rPr>
              <a:t>реалізація інтерфейсу IDefinedAggregator у проєкті CargoDelivery.ApiGateway (:5000).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2743200"/>
            <a:ext cx="5349240" cy="3291840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28016" rtlCol="0" anchor="t"/>
          <a:lstStyle/>
          <a:p>
            <a:pPr algn="ctr">
              <a:spcAft>
                <a:spcPts val="700"/>
              </a:spcAft>
              <a:defRPr sz="1600" b="1">
                <a:solidFill>
                  <a:srgbClr val="111418"/>
                </a:solidFill>
                <a:latin typeface="Segoe UI"/>
              </a:defRPr>
            </a:pPr>
            <a:r>
              <a:t>ЧАСТИНА 2 (Слайди 18–36): HTTP Aggregator та BFF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11418"/>
                </a:solidFill>
                <a:latin typeface="Segoe UI"/>
              </a:rPr>
              <a:t>• Патерн EIP Scatter-Gather: </a:t>
            </a:r>
            <a:r>
              <a:rPr sz="1400" b="0">
                <a:solidFill>
                  <a:srgbClr val="2D3238"/>
                </a:solidFill>
                <a:latin typeface="Segoe UI"/>
              </a:rPr>
              <a:t>математика затримок WAN/LAN та прискорення через паралельний Task.WhenAll.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11418"/>
                </a:solidFill>
                <a:latin typeface="Segoe UI"/>
              </a:rPr>
              <a:t>• Дві реалізації у проєкті: </a:t>
            </a:r>
            <a:r>
              <a:rPr sz="1400" b="0">
                <a:solidFill>
                  <a:srgbClr val="2D3238"/>
                </a:solidFill>
                <a:latin typeface="Segoe UI"/>
              </a:rPr>
              <a:t>виділений CargoDelivery.HttpAggregator (:57390) проти вбудованого BFF у DriversManagement (:5001).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11418"/>
                </a:solidFill>
                <a:latin typeface="Segoe UI"/>
              </a:rPr>
              <a:t>• Управління сокетами: </a:t>
            </a:r>
            <a:r>
              <a:rPr sz="1400" b="0">
                <a:solidFill>
                  <a:srgbClr val="2D3238"/>
                </a:solidFill>
                <a:latin typeface="Segoe UI"/>
              </a:rPr>
              <a:t>IHttpClientFactory, Aspire Service Discovery (https+http://) та Tolerant Reader.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11418"/>
                </a:solidFill>
                <a:latin typeface="Segoe UI"/>
              </a:rPr>
              <a:t>• Відмовостійкість: </a:t>
            </a:r>
            <a:r>
              <a:rPr sz="1400" b="0">
                <a:solidFill>
                  <a:srgbClr val="2D3238"/>
                </a:solidFill>
                <a:latin typeface="Segoe UI"/>
              </a:rPr>
              <a:t>Graceful Degradation за 2.2 с, поділ на Hard/Soft залежності та лабораторія Polly v8.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217920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254496"/>
            <a:ext cx="9555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5F666E"/>
                </a:solidFill>
                <a:latin typeface="Segoe UI"/>
              </a:rPr>
              <a:t>Проєкти в рішенні: CargoDelivery.ApiGateway (:5000), CargoDelivery.HttpAggregator (:57390), DriversManagement (:5001)</a:t>
            </a:r>
          </a:p>
          <a:p>
            <a:r>
              <a:rPr sz="1000" b="1">
                <a:solidFill>
                  <a:srgbClr val="2D3238"/>
                </a:solidFill>
                <a:latin typeface="Segoe UI"/>
              </a:rPr>
              <a:t>Офіційна документація: </a:t>
            </a:r>
            <a:r>
              <a:rPr sz="1000" b="1">
                <a:solidFill>
                  <a:srgbClr val="111418"/>
                </a:solidFill>
                <a:latin typeface="Segoe UI"/>
                <a:hlinkClick r:id="rId2"/>
              </a:rPr>
              <a:t>https://learn.microsoft.com/en-us/dotnet/architecture/microservices/multi-container-microservice-net-applications/implement-api-gateways-with-ocelot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327648"/>
            <a:ext cx="1536192" cy="347472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50" b="1">
                <a:solidFill>
                  <a:srgbClr val="111418"/>
                </a:solidFill>
                <a:latin typeface="Segoe UI"/>
              </a:defRPr>
            </a:pPr>
            <a:r>
              <a:t>Слайд 1 з 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11183112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ЧАСТИНА 1. ПАТЕРН API GATEWAY ТА OCELOT</a:t>
            </a:r>
          </a:p>
          <a:p>
            <a:pPr>
              <a:defRPr sz="2300" b="1">
                <a:solidFill>
                  <a:srgbClr val="111418"/>
                </a:solidFill>
                <a:latin typeface="Segoe UI"/>
              </a:defRPr>
            </a:pPr>
            <a:r>
              <a:t>Проблема прямої взаємодії (Direct Client-to-Microservice) та роль шлюзу</a:t>
            </a:r>
          </a:p>
          <a:p>
            <a:pPr>
              <a:defRPr sz="1280">
                <a:solidFill>
                  <a:srgbClr val="5F666E"/>
                </a:solidFill>
                <a:latin typeface="Segoe UI"/>
              </a:defRPr>
            </a:pPr>
            <a:r>
              <a:t>Чому звернення клієнтського застосунку напряму до десятків мікросервісів є архітектурним антипатерном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ag_01_direct_vs_gate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11183112" cy="37277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4669674"/>
            <a:ext cx="11183112" cy="1470522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28016" rtlCol="0" anchor="t"/>
          <a:lstStyle/>
          <a:p>
            <a:pPr algn="ctr">
              <a:spcAft>
                <a:spcPts val="700"/>
              </a:spcAft>
              <a:defRPr sz="1600" b="1">
                <a:solidFill>
                  <a:srgbClr val="111418"/>
                </a:solidFill>
                <a:latin typeface="Segoe UI"/>
              </a:defRPr>
            </a:pPr>
            <a:r>
              <a:rPr dirty="0" err="1"/>
              <a:t>Фундаментальні</a:t>
            </a:r>
            <a:r>
              <a:rPr dirty="0"/>
              <a:t> </a:t>
            </a:r>
            <a:r>
              <a:rPr dirty="0" err="1"/>
              <a:t>вади</a:t>
            </a:r>
            <a:r>
              <a:rPr dirty="0"/>
              <a:t> </a:t>
            </a:r>
            <a:r>
              <a:rPr dirty="0" err="1"/>
              <a:t>прямої</a:t>
            </a:r>
            <a:r>
              <a:rPr dirty="0"/>
              <a:t> </a:t>
            </a:r>
            <a:r>
              <a:rPr dirty="0" err="1"/>
              <a:t>взаємодії</a:t>
            </a:r>
            <a:r>
              <a:rPr dirty="0"/>
              <a:t> </a:t>
            </a:r>
            <a:r>
              <a:rPr dirty="0" err="1"/>
              <a:t>клієнта</a:t>
            </a:r>
            <a:r>
              <a:rPr dirty="0"/>
              <a:t> з </a:t>
            </a:r>
            <a:r>
              <a:rPr dirty="0" err="1"/>
              <a:t>мікросервісами</a:t>
            </a:r>
            <a:endParaRPr dirty="0"/>
          </a:p>
          <a:p>
            <a:pPr>
              <a:spcAft>
                <a:spcPts val="300"/>
              </a:spcAft>
            </a:pPr>
            <a:r>
              <a:rPr sz="1380" b="1" dirty="0">
                <a:solidFill>
                  <a:srgbClr val="111418"/>
                </a:solidFill>
                <a:latin typeface="Segoe UI"/>
              </a:rPr>
              <a:t>1. </a:t>
            </a:r>
            <a:r>
              <a:rPr sz="1380" b="1" dirty="0" err="1">
                <a:solidFill>
                  <a:srgbClr val="111418"/>
                </a:solidFill>
                <a:latin typeface="Segoe UI"/>
              </a:rPr>
              <a:t>Мережева</a:t>
            </a:r>
            <a:r>
              <a:rPr sz="1380" b="1" dirty="0">
                <a:solidFill>
                  <a:srgbClr val="111418"/>
                </a:solidFill>
                <a:latin typeface="Segoe UI"/>
              </a:rPr>
              <a:t> </a:t>
            </a:r>
            <a:r>
              <a:rPr sz="1380" b="1" dirty="0" err="1">
                <a:solidFill>
                  <a:srgbClr val="111418"/>
                </a:solidFill>
                <a:latin typeface="Segoe UI"/>
              </a:rPr>
              <a:t>балакучість</a:t>
            </a:r>
            <a:r>
              <a:rPr sz="1380" b="1" dirty="0">
                <a:solidFill>
                  <a:srgbClr val="111418"/>
                </a:solidFill>
                <a:latin typeface="Segoe UI"/>
              </a:rPr>
              <a:t> (WAN Chattiness):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клієнт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виконує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 3–5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окремих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запитів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через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мобільний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інтернет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 (WAN),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витрачаючи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сотні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мілісекунд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на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 TCP/TLS.</a:t>
            </a:r>
          </a:p>
          <a:p>
            <a:pPr>
              <a:spcAft>
                <a:spcPts val="200"/>
              </a:spcAft>
            </a:pPr>
            <a:r>
              <a:rPr sz="1380" b="1" dirty="0">
                <a:solidFill>
                  <a:srgbClr val="111418"/>
                </a:solidFill>
                <a:latin typeface="Segoe UI"/>
              </a:rPr>
              <a:t>2. </a:t>
            </a:r>
            <a:r>
              <a:rPr sz="1380" b="1" dirty="0" err="1">
                <a:solidFill>
                  <a:srgbClr val="111418"/>
                </a:solidFill>
                <a:latin typeface="Segoe UI"/>
              </a:rPr>
              <a:t>Жорстке</a:t>
            </a:r>
            <a:r>
              <a:rPr sz="1380" b="1" dirty="0">
                <a:solidFill>
                  <a:srgbClr val="111418"/>
                </a:solidFill>
                <a:latin typeface="Segoe UI"/>
              </a:rPr>
              <a:t> </a:t>
            </a:r>
            <a:r>
              <a:rPr sz="1380" b="1" dirty="0" err="1">
                <a:solidFill>
                  <a:srgbClr val="111418"/>
                </a:solidFill>
                <a:latin typeface="Segoe UI"/>
              </a:rPr>
              <a:t>зачеплення</a:t>
            </a:r>
            <a:r>
              <a:rPr sz="1380" b="1" dirty="0">
                <a:solidFill>
                  <a:srgbClr val="111418"/>
                </a:solidFill>
                <a:latin typeface="Segoe UI"/>
              </a:rPr>
              <a:t> (Coupling) </a:t>
            </a:r>
            <a:r>
              <a:rPr sz="1380" b="1" dirty="0" err="1">
                <a:solidFill>
                  <a:srgbClr val="111418"/>
                </a:solidFill>
                <a:latin typeface="Segoe UI"/>
              </a:rPr>
              <a:t>та</a:t>
            </a:r>
            <a:r>
              <a:rPr sz="1380" b="1" dirty="0">
                <a:solidFill>
                  <a:srgbClr val="111418"/>
                </a:solidFill>
                <a:latin typeface="Segoe UI"/>
              </a:rPr>
              <a:t> </a:t>
            </a:r>
            <a:r>
              <a:rPr sz="1380" b="1" dirty="0" err="1">
                <a:solidFill>
                  <a:srgbClr val="111418"/>
                </a:solidFill>
                <a:latin typeface="Segoe UI"/>
              </a:rPr>
              <a:t>безпека</a:t>
            </a:r>
            <a:r>
              <a:rPr sz="1380" b="1" dirty="0">
                <a:solidFill>
                  <a:srgbClr val="111418"/>
                </a:solidFill>
                <a:latin typeface="Segoe UI"/>
              </a:rPr>
              <a:t>: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клієнт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знає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внутрішні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порти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 (:5001, :5002, :5003), а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кожен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мікросервіс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змушений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відкривати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публічний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доступ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ззовні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217920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254496"/>
            <a:ext cx="9555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dirty="0" err="1">
                <a:solidFill>
                  <a:srgbClr val="5F666E"/>
                </a:solidFill>
                <a:latin typeface="Segoe UI"/>
              </a:rPr>
              <a:t>Теоретичний</a:t>
            </a:r>
            <a:r>
              <a:rPr sz="1000" dirty="0">
                <a:solidFill>
                  <a:srgbClr val="5F666E"/>
                </a:solidFill>
                <a:latin typeface="Segoe UI"/>
              </a:rPr>
              <a:t> </a:t>
            </a:r>
            <a:r>
              <a:rPr sz="1000" dirty="0" err="1">
                <a:solidFill>
                  <a:srgbClr val="5F666E"/>
                </a:solidFill>
                <a:latin typeface="Segoe UI"/>
              </a:rPr>
              <a:t>базис</a:t>
            </a:r>
            <a:r>
              <a:rPr sz="1000" dirty="0">
                <a:solidFill>
                  <a:srgbClr val="5F666E"/>
                </a:solidFill>
                <a:latin typeface="Segoe UI"/>
              </a:rPr>
              <a:t>: Direct Client-to-Microservice communication versus the API Gateway pattern</a:t>
            </a:r>
          </a:p>
          <a:p>
            <a:r>
              <a:rPr sz="1000" b="1" dirty="0" err="1">
                <a:solidFill>
                  <a:srgbClr val="2D3238"/>
                </a:solidFill>
                <a:latin typeface="Segoe UI"/>
              </a:rPr>
              <a:t>Офіційна</a:t>
            </a:r>
            <a:r>
              <a:rPr sz="1000" b="1" dirty="0">
                <a:solidFill>
                  <a:srgbClr val="2D3238"/>
                </a:solidFill>
                <a:latin typeface="Segoe UI"/>
              </a:rPr>
              <a:t> </a:t>
            </a:r>
            <a:r>
              <a:rPr sz="1000" b="1" dirty="0" err="1">
                <a:solidFill>
                  <a:srgbClr val="2D3238"/>
                </a:solidFill>
                <a:latin typeface="Segoe UI"/>
              </a:rPr>
              <a:t>документація</a:t>
            </a:r>
            <a:r>
              <a:rPr sz="1000" b="1" dirty="0">
                <a:solidFill>
                  <a:srgbClr val="2D3238"/>
                </a:solidFill>
                <a:latin typeface="Segoe UI"/>
              </a:rPr>
              <a:t>: </a:t>
            </a:r>
            <a:r>
              <a:rPr sz="1000" b="1" dirty="0">
                <a:solidFill>
                  <a:srgbClr val="111418"/>
                </a:solidFill>
                <a:latin typeface="Segoe UI"/>
                <a:hlinkClick r:id="rId3"/>
              </a:rPr>
              <a:t>https://learn.microsoft.com/en-us/dotnet/architecture/microservices/architect-microservice-container-applications/direct-client-to-microservice-communication-versus-the-api-gateway-pattern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327648"/>
            <a:ext cx="1536192" cy="347472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50" b="1">
                <a:solidFill>
                  <a:srgbClr val="111418"/>
                </a:solidFill>
                <a:latin typeface="Segoe UI"/>
              </a:defRPr>
            </a:pPr>
            <a:r>
              <a:t>Слайд 2 з 36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11183112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ЧАСТИНА 1. КЛАСИФІКАЦІЯ ШЛЮЗІВ У .NET</a:t>
            </a:r>
          </a:p>
          <a:p>
            <a:pPr>
              <a:defRPr sz="2300" b="1">
                <a:solidFill>
                  <a:srgbClr val="111418"/>
                </a:solidFill>
                <a:latin typeface="Segoe UI"/>
              </a:defRPr>
            </a:pPr>
            <a:r>
              <a:t>Розмежування понять: Ocelot API Gateway, YARP, Gateway Aggregator та BFF</a:t>
            </a:r>
          </a:p>
          <a:p>
            <a:pPr>
              <a:defRPr sz="1280">
                <a:solidFill>
                  <a:srgbClr val="5F666E"/>
                </a:solidFill>
                <a:latin typeface="Segoe UI"/>
              </a:defRPr>
            </a:pPr>
            <a:r>
              <a:t>Порівняльна матриця за 7 архітектурними вимірами в екосистемі .NET 10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25296"/>
          <a:ext cx="11183112" cy="4864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4944">
                <a:tc>
                  <a:txBody>
                    <a:bodyPr/>
                    <a:lstStyle/>
                    <a:p>
                      <a:pPr>
                        <a:defRPr sz="121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Архітектурний вимір</a:t>
                      </a:r>
                    </a:p>
                  </a:txBody>
                  <a:tcPr marL="100584" marR="100584" anchor="ctr"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1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Ocelot API Gateway (:5000)</a:t>
                      </a:r>
                    </a:p>
                  </a:txBody>
                  <a:tcPr marL="100584" marR="100584" anchor="ctr"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1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YARP (Reverse Proxy)</a:t>
                      </a:r>
                    </a:p>
                  </a:txBody>
                  <a:tcPr marL="100584" marR="100584" anchor="ctr"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1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Gateway Aggregator (:57390)</a:t>
                      </a:r>
                    </a:p>
                  </a:txBody>
                  <a:tcPr marL="100584" marR="100584" anchor="ctr"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1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Backend for Frontend (BFF :5001)</a:t>
                      </a:r>
                    </a:p>
                  </a:txBody>
                  <a:tcPr marL="100584" marR="100584" anchor="ctr">
                    <a:solidFill>
                      <a:srgbClr val="DCE0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>
                        <a:defRPr sz="116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Головне призначення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6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Декларативний шлюз для мікросервісів .NET + базова склейка JSON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6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Надвисокошвидкісний L7 зворотний проксі та балансувальник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6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Прикладна композиція даних (Scatter-Gather) у C# коді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6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Адаптація API під конкретний UI (Web / Mobile / WPF)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>
                        <a:defRPr sz="116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Спосіб налаштування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6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Декларативний JSON (ocelot.json) + розширення C# (IDefinedAggregator)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6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Конфігурація appsettings.json або програмний код C#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6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Чистий C# код (Controller + Service + Typed HttpClients)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6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Чистий C# код (MediatR CQRS Handler + локальна БД)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>
                        <a:defRPr sz="116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Вбудована агрегація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6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Так (секція Aggregates у JSON або інтерфейс IDefinedAggregator)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6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Ні (лише маршрутизація 1 -&gt; 1; агрегацію треба писати вручну)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6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Так (ядро сервісу: паралельний Task.WhenAll + типізовані DTO)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6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Так (поєднує читання власної БД з викликами сусідніх API)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>
                        <a:defRPr sz="116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Робота з пам'яттю та тілом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6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Парсить або склеює рядки JSON при агрегації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6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Zero-copy потокове пересилання байтів (Stream)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6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Повна десеріалізація у C# об'єкти (System.Text.Json)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6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Повна десеріалізація та проекція EF Core + JSON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>
                        <a:defRPr sz="116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Cross-Cutting функції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6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Вбудовані: Rate Limiting, QoS, Auth, Claims/Header Transform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6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Через стандартні ASP.NET Core Middleware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6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Фокус на Polly Resilience та частковій деградації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6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Фокус на потребах конкретного екрана користувача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>
                        <a:defRPr sz="116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Реалізація у нашому проєкті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6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Проєкт CargoDelivery.ApiGateway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6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Може стояти перед кластером як Ingress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6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Проєкт CargoDelivery.HttpAggregator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6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Проєкт DriversManagement (DriverDashboardController)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02920" y="6217920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254496"/>
            <a:ext cx="9555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5F666E"/>
                </a:solidFill>
                <a:latin typeface="Segoe UI"/>
              </a:rPr>
              <a:t>Файл документації: 02-Microservices-Craftsman/02-01-Aspire-Documentation/03_HttpAggregator_Gateway_Architecture_And_Design.md (§3)</a:t>
            </a:r>
          </a:p>
          <a:p>
            <a:r>
              <a:rPr sz="1000" b="1">
                <a:solidFill>
                  <a:srgbClr val="2D3238"/>
                </a:solidFill>
                <a:latin typeface="Segoe UI"/>
              </a:rPr>
              <a:t>Офіційна документація: </a:t>
            </a:r>
            <a:r>
              <a:rPr sz="1000" b="1">
                <a:solidFill>
                  <a:srgbClr val="111418"/>
                </a:solidFill>
                <a:latin typeface="Segoe UI"/>
                <a:hlinkClick r:id="rId2"/>
              </a:rPr>
              <a:t>https://ocelot.readthedocs.io/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27648"/>
            <a:ext cx="1536192" cy="347472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50" b="1">
                <a:solidFill>
                  <a:srgbClr val="111418"/>
                </a:solidFill>
                <a:latin typeface="Segoe UI"/>
              </a:defRPr>
            </a:pPr>
            <a:r>
              <a:t>Слайд 3 з 36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11183112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ЧАСТИНА 1. АРХІТЕКТУРА БІБЛІОТЕКИ OCELOT</a:t>
            </a:r>
          </a:p>
          <a:p>
            <a:pPr>
              <a:defRPr sz="2300" b="1">
                <a:solidFill>
                  <a:srgbClr val="111418"/>
                </a:solidFill>
                <a:latin typeface="Segoe UI"/>
              </a:defRPr>
            </a:pPr>
            <a:r>
              <a:t>Як працює Ocelot під капотом: конвеєр обробки запиту (Middleware Pipeline)</a:t>
            </a:r>
          </a:p>
          <a:p>
            <a:pPr>
              <a:defRPr sz="1280">
                <a:solidFill>
                  <a:srgbClr val="5F666E"/>
                </a:solidFill>
                <a:latin typeface="Segoe UI"/>
              </a:defRPr>
            </a:pPr>
            <a:r>
              <a:t>Шість послідовних етапів трансформації вхідного запиту (Upstream) у внутрішній виклик (Downstream)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ag_02_ocelot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11183112" cy="307535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4279392"/>
            <a:ext cx="5440680" cy="1828800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28016" rtlCol="0" anchor="t"/>
          <a:lstStyle/>
          <a:p>
            <a:pPr algn="ctr">
              <a:spcAft>
                <a:spcPts val="700"/>
              </a:spcAft>
              <a:defRPr sz="1600" b="1">
                <a:solidFill>
                  <a:srgbClr val="111418"/>
                </a:solidFill>
                <a:latin typeface="Segoe UI"/>
              </a:defRPr>
            </a:pPr>
            <a:r>
              <a:t>Термінологія Ocelot: Upstream проти Downstream</a:t>
            </a:r>
          </a:p>
          <a:p>
            <a:pPr>
              <a:spcAft>
                <a:spcPts val="500"/>
              </a:spcAft>
            </a:pPr>
            <a:r>
              <a:rPr sz="1380" b="1">
                <a:solidFill>
                  <a:srgbClr val="111418"/>
                </a:solidFill>
                <a:latin typeface="Segoe UI"/>
              </a:rPr>
              <a:t>• Upstream (Вхідний потік): </a:t>
            </a:r>
            <a:r>
              <a:rPr sz="1380" b="0">
                <a:solidFill>
                  <a:srgbClr val="2D3238"/>
                </a:solidFill>
                <a:latin typeface="Segoe UI"/>
              </a:rPr>
              <a:t>запит, який надходить від зовнішнього клієнта до шлюзу Ocelot (наприклад, GET https://localhost:5000/gateway/drivers).</a:t>
            </a:r>
          </a:p>
          <a:p>
            <a:pPr>
              <a:spcAft>
                <a:spcPts val="400"/>
              </a:spcAft>
            </a:pPr>
            <a:r>
              <a:rPr sz="1380" b="1">
                <a:solidFill>
                  <a:srgbClr val="111418"/>
                </a:solidFill>
                <a:latin typeface="Segoe UI"/>
              </a:rPr>
              <a:t>• Downstream (Вихідний потік): </a:t>
            </a:r>
            <a:r>
              <a:rPr sz="1380" b="0">
                <a:solidFill>
                  <a:srgbClr val="2D3238"/>
                </a:solidFill>
                <a:latin typeface="Segoe UI"/>
              </a:rPr>
              <a:t>запит, який сам шлюз Ocelot формує і відправляє до цільового мікросервісу (наприклад, GET https://localhost:5001/api/drivers).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5352" y="4279392"/>
            <a:ext cx="5440680" cy="1828800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28016" rtlCol="0" anchor="t"/>
          <a:lstStyle/>
          <a:p>
            <a:pPr algn="ctr">
              <a:spcAft>
                <a:spcPts val="700"/>
              </a:spcAft>
              <a:defRPr sz="1600" b="1">
                <a:solidFill>
                  <a:srgbClr val="111418"/>
                </a:solidFill>
                <a:latin typeface="Segoe UI"/>
              </a:defRPr>
            </a:pPr>
            <a:r>
              <a:t>Чому Ocelot зручний для мікросервісів .NET</a:t>
            </a:r>
          </a:p>
          <a:p>
            <a:pPr>
              <a:spcAft>
                <a:spcPts val="500"/>
              </a:spcAft>
            </a:pPr>
            <a:r>
              <a:rPr sz="1380" b="1">
                <a:solidFill>
                  <a:srgbClr val="111418"/>
                </a:solidFill>
                <a:latin typeface="Segoe UI"/>
              </a:rPr>
              <a:t>• Декларативність: </a:t>
            </a:r>
            <a:r>
              <a:rPr sz="1380" b="0">
                <a:solidFill>
                  <a:srgbClr val="2D3238"/>
                </a:solidFill>
                <a:latin typeface="Segoe UI"/>
              </a:rPr>
              <a:t>маршрути, обмеження частоти (Rate Limiting), заголовки та базове склеювання JSON описуються в одному файлі ocelot.json.</a:t>
            </a:r>
          </a:p>
          <a:p>
            <a:pPr>
              <a:spcAft>
                <a:spcPts val="400"/>
              </a:spcAft>
            </a:pPr>
            <a:r>
              <a:rPr sz="1380" b="1">
                <a:solidFill>
                  <a:srgbClr val="111418"/>
                </a:solidFill>
                <a:latin typeface="Segoe UI"/>
              </a:rPr>
              <a:t>• Розширюваність C#: </a:t>
            </a:r>
            <a:r>
              <a:rPr sz="1380" b="0">
                <a:solidFill>
                  <a:srgbClr val="2D3238"/>
                </a:solidFill>
                <a:latin typeface="Segoe UI"/>
              </a:rPr>
              <a:t>за потреби складного злиття відповідей підключається інтерфейс IDefinedAggregator або DelegatingHandler.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17920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254496"/>
            <a:ext cx="9555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5F666E"/>
                </a:solidFill>
                <a:latin typeface="Segoe UI"/>
              </a:rPr>
              <a:t>Архітектура конвеєра Ocelot у CargoDelivery.ApiGateway</a:t>
            </a:r>
          </a:p>
          <a:p>
            <a:r>
              <a:rPr sz="1000" b="1">
                <a:solidFill>
                  <a:srgbClr val="2D3238"/>
                </a:solidFill>
                <a:latin typeface="Segoe UI"/>
              </a:rPr>
              <a:t>Офіційна документація: </a:t>
            </a:r>
            <a:r>
              <a:rPr sz="1000" b="1">
                <a:solidFill>
                  <a:srgbClr val="111418"/>
                </a:solidFill>
                <a:latin typeface="Segoe UI"/>
                <a:hlinkClick r:id="rId3"/>
              </a:rPr>
              <a:t>https://ocelot.readthedocs.io/en/latest/introduction/bigpicture.html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327648"/>
            <a:ext cx="1536192" cy="347472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50" b="1">
                <a:solidFill>
                  <a:srgbClr val="111418"/>
                </a:solidFill>
                <a:latin typeface="Segoe UI"/>
              </a:defRPr>
            </a:pPr>
            <a:r>
              <a:t>Слайд 4 з 36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11183112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ЧАСТИНА 1. ТОПОЛОГІЯ НАШОГО ПРОЄКТУ CARGODELIVERYSERVICE</a:t>
            </a:r>
          </a:p>
          <a:p>
            <a:pPr>
              <a:defRPr sz="2300" b="1">
                <a:solidFill>
                  <a:srgbClr val="111418"/>
                </a:solidFill>
                <a:latin typeface="Segoe UI"/>
              </a:defRPr>
            </a:pPr>
            <a:r>
              <a:t>Місце CargoDelivery.ApiGateway (:5000) в архітектурі 02-Microservices-Craftsman</a:t>
            </a:r>
          </a:p>
          <a:p>
            <a:pPr>
              <a:defRPr sz="1280">
                <a:solidFill>
                  <a:srgbClr val="5F666E"/>
                </a:solidFill>
                <a:latin typeface="Segoe UI"/>
              </a:defRPr>
            </a:pPr>
            <a:r>
              <a:t>Поєднання вхідного шлюзу Ocelot, виділеного HttpAggregator (:57390) та трьох доменних мікросервісів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ag_03_full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11183112" cy="465963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6217920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254496"/>
            <a:ext cx="9555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5F666E"/>
                </a:solidFill>
                <a:latin typeface="Segoe UI"/>
              </a:rPr>
              <a:t>Файл оркестратора: 02-Microservices-Craftsman/Aspire/CargoDelivery.AppHost/AppHost.cs#L1-L143</a:t>
            </a:r>
          </a:p>
          <a:p>
            <a:r>
              <a:rPr sz="1000" b="1">
                <a:solidFill>
                  <a:srgbClr val="2D3238"/>
                </a:solidFill>
                <a:latin typeface="Segoe UI"/>
              </a:rPr>
              <a:t>Офіційна документація: </a:t>
            </a:r>
            <a:r>
              <a:rPr sz="1000" b="1">
                <a:solidFill>
                  <a:srgbClr val="111418"/>
                </a:solidFill>
                <a:latin typeface="Segoe UI"/>
                <a:hlinkClick r:id="rId3"/>
              </a:rPr>
              <a:t>https://learn.microsoft.com/en-us/dotnet/aspire/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27648"/>
            <a:ext cx="1536192" cy="347472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50" b="1">
                <a:solidFill>
                  <a:srgbClr val="111418"/>
                </a:solidFill>
                <a:latin typeface="Segoe UI"/>
              </a:defRPr>
            </a:pPr>
            <a:r>
              <a:t>Слайд 5 з 36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11183112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rPr dirty="0"/>
              <a:t>ЧАСТИНА 1. КАРТА МАРШРУТІВ OCELOT У НАШОМУ ПРОЄКТІ</a:t>
            </a:r>
          </a:p>
          <a:p>
            <a:pPr>
              <a:defRPr sz="2300" b="1">
                <a:solidFill>
                  <a:srgbClr val="111418"/>
                </a:solidFill>
                <a:latin typeface="Segoe UI"/>
              </a:defRPr>
            </a:pPr>
            <a:r>
              <a:rPr dirty="0" err="1"/>
              <a:t>Таблиця</a:t>
            </a:r>
            <a:r>
              <a:rPr dirty="0"/>
              <a:t> </a:t>
            </a:r>
            <a:r>
              <a:rPr dirty="0" err="1"/>
              <a:t>маршрутів</a:t>
            </a:r>
            <a:r>
              <a:rPr dirty="0"/>
              <a:t> </a:t>
            </a:r>
            <a:r>
              <a:rPr dirty="0" err="1"/>
              <a:t>проксіювання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агрегації</a:t>
            </a:r>
            <a:r>
              <a:rPr dirty="0"/>
              <a:t> в </a:t>
            </a:r>
            <a:r>
              <a:rPr dirty="0" err="1"/>
              <a:t>CargoDelivery.ApiGateway</a:t>
            </a:r>
            <a:r>
              <a:rPr dirty="0"/>
              <a:t> (:5000)</a:t>
            </a:r>
          </a:p>
          <a:p>
            <a:pPr>
              <a:defRPr sz="1280">
                <a:solidFill>
                  <a:srgbClr val="5F666E"/>
                </a:solidFill>
                <a:latin typeface="Segoe UI"/>
              </a:defRPr>
            </a:pPr>
            <a:r>
              <a:rPr dirty="0" err="1"/>
              <a:t>Усі</a:t>
            </a:r>
            <a:r>
              <a:rPr dirty="0"/>
              <a:t> </a:t>
            </a:r>
            <a:r>
              <a:rPr dirty="0" err="1"/>
              <a:t>маршрути</a:t>
            </a:r>
            <a:r>
              <a:rPr dirty="0"/>
              <a:t>, </a:t>
            </a:r>
            <a:r>
              <a:rPr dirty="0" err="1"/>
              <a:t>налаштовані</a:t>
            </a:r>
            <a:r>
              <a:rPr dirty="0"/>
              <a:t> у </a:t>
            </a:r>
            <a:r>
              <a:rPr dirty="0" err="1"/>
              <a:t>файлі</a:t>
            </a:r>
            <a:r>
              <a:rPr dirty="0"/>
              <a:t> 02-Microservices-Craftsman/</a:t>
            </a:r>
            <a:r>
              <a:rPr dirty="0" err="1"/>
              <a:t>CargoDelivery.ApiGateway</a:t>
            </a:r>
            <a:r>
              <a:rPr dirty="0"/>
              <a:t>/</a:t>
            </a:r>
            <a:r>
              <a:rPr dirty="0" err="1"/>
              <a:t>ocelot.json</a:t>
            </a: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163839"/>
              </p:ext>
            </p:extLst>
          </p:nvPr>
        </p:nvGraphicFramePr>
        <p:xfrm>
          <a:off x="384464" y="1561960"/>
          <a:ext cx="11301568" cy="4527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02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69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3105">
                <a:tc>
                  <a:txBody>
                    <a:bodyPr/>
                    <a:lstStyle/>
                    <a:p>
                      <a:pPr>
                        <a:defRPr sz="123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Зовнішній маршрут Ocelot (Upstream :5000)</a:t>
                      </a:r>
                    </a:p>
                  </a:txBody>
                  <a:tcPr marL="100584" marR="100584" anchor="ctr"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3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rPr dirty="0" err="1"/>
                        <a:t>Цільовий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сервіс</a:t>
                      </a:r>
                      <a:r>
                        <a:rPr dirty="0"/>
                        <a:t> і </a:t>
                      </a:r>
                      <a:r>
                        <a:rPr dirty="0" err="1"/>
                        <a:t>порт</a:t>
                      </a:r>
                      <a:endParaRPr dirty="0"/>
                    </a:p>
                  </a:txBody>
                  <a:tcPr marL="100584" marR="100584" anchor="ctr"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3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Внутрішній шлях (Downstream)</a:t>
                      </a:r>
                    </a:p>
                  </a:txBody>
                  <a:tcPr marL="100584" marR="100584" anchor="ctr"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3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Налаштовані можливості Ocelot</a:t>
                      </a:r>
                    </a:p>
                  </a:txBody>
                  <a:tcPr marL="100584" marR="100584" anchor="ctr">
                    <a:solidFill>
                      <a:srgbClr val="DCE0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105">
                <a:tc>
                  <a:txBody>
                    <a:bodyPr/>
                    <a:lstStyle/>
                    <a:p>
                      <a:pPr>
                        <a:defRPr sz="118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GET / POST  /gateway/drivers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DriversManagement (:5001)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/api/drivers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RateLimiting (30 зап/хв), заголовок X-Forwarded-By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105">
                <a:tc>
                  <a:txBody>
                    <a:bodyPr/>
                    <a:lstStyle/>
                    <a:p>
                      <a:pPr>
                        <a:defRPr sz="118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GET / PUT / DELETE  /gateway/drivers/{everything}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DriversManagement (:5001)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/api/drivers/{everything}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Проксіювання параметрів шляху та QueryString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105">
                <a:tc>
                  <a:txBody>
                    <a:bodyPr/>
                    <a:lstStyle/>
                    <a:p>
                      <a:pPr>
                        <a:defRPr sz="118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GET / POST  /gateway/deliveries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CargoOrderingService (:5003)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/api/deliveries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LoadBalancerOptions: RoundRobin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105">
                <a:tc>
                  <a:txBody>
                    <a:bodyPr/>
                    <a:lstStyle/>
                    <a:p>
                      <a:pPr>
                        <a:defRPr sz="118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GET / POST  /gateway/blog/posts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DriversBlogManagement (:5002)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/api/postaboutdrivers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Приховування внутрішньої назви контролера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3105">
                <a:tc>
                  <a:txBody>
                    <a:bodyPr/>
                    <a:lstStyle/>
                    <a:p>
                      <a:pPr>
                        <a:defRPr sz="118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GET  /gateway/driver-dashboard/{driverId}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DriversManagement BFF (:5001)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/api/v1/driver-dashboard/{driverId}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Проксіювання до вбудованого BFF-агрегатора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3105">
                <a:tc>
                  <a:txBody>
                    <a:bodyPr/>
                    <a:lstStyle/>
                    <a:p>
                      <a:pPr>
                        <a:defRPr sz="118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GET  /gateway/shipment-summary/{driverId}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HttpAggregator (:57390)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/api/v1/shipment-summary/{driverId}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Проксіювання до виділеного C# агрегатора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3105">
                <a:tc>
                  <a:txBody>
                    <a:bodyPr/>
                    <a:lstStyle/>
                    <a:p>
                      <a:pPr>
                        <a:defRPr sz="118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GET  /gateway/ocelot-aggregate/{driverId}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3 сервіси (:5001, :5003, :5002)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/api/internal/* (паралельно)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Декларативна секція Aggregates (без C# коду)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3105">
                <a:tc>
                  <a:txBody>
                    <a:bodyPr/>
                    <a:lstStyle/>
                    <a:p>
                      <a:pPr>
                        <a:defRPr sz="118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GET  /gateway/custom-aggregate/{driverId}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3 сервіси (:5001, :5003, :5002)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/api/internal/* (паралельно)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rPr dirty="0" err="1"/>
                        <a:t>Кастомний</a:t>
                      </a:r>
                      <a:r>
                        <a:rPr dirty="0"/>
                        <a:t> C# </a:t>
                      </a:r>
                      <a:r>
                        <a:rPr dirty="0" err="1"/>
                        <a:t>клас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DriverSummaryDefinedAggregator</a:t>
                      </a:r>
                      <a:endParaRPr dirty="0"/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02920" y="6217920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254496"/>
            <a:ext cx="9555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5F666E"/>
                </a:solidFill>
                <a:latin typeface="Segoe UI"/>
              </a:rPr>
              <a:t>Файл конфігурації: 02-Microservices-Craftsman/CargoDelivery.ApiGateway/ocelot.json</a:t>
            </a:r>
          </a:p>
          <a:p>
            <a:r>
              <a:rPr sz="1000" b="1">
                <a:solidFill>
                  <a:srgbClr val="2D3238"/>
                </a:solidFill>
                <a:latin typeface="Segoe UI"/>
              </a:rPr>
              <a:t>Офіційна документація: </a:t>
            </a:r>
            <a:r>
              <a:rPr sz="1000" b="1">
                <a:solidFill>
                  <a:srgbClr val="111418"/>
                </a:solidFill>
                <a:latin typeface="Segoe UI"/>
                <a:hlinkClick r:id="rId2"/>
              </a:rPr>
              <a:t>https://ocelot.readthedocs.io/en/latest/features/routing.html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27648"/>
            <a:ext cx="1536192" cy="347472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50" b="1">
                <a:solidFill>
                  <a:srgbClr val="111418"/>
                </a:solidFill>
                <a:latin typeface="Segoe UI"/>
              </a:defRPr>
            </a:pPr>
            <a:r>
              <a:t>Слайд 6 з 36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11183112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ЧАСТИНА 1. СТВОРЕННЯ ПРОЄКТУ ШЛЮЗУ В РІШЕННІ</a:t>
            </a:r>
          </a:p>
          <a:p>
            <a:pPr>
              <a:defRPr sz="2300" b="1">
                <a:solidFill>
                  <a:srgbClr val="111418"/>
                </a:solidFill>
                <a:latin typeface="Segoe UI"/>
              </a:defRPr>
            </a:pPr>
            <a:r>
              <a:t>Файл проєкту CargoDelivery.ApiGateway.csproj та підключення пакетів</a:t>
            </a:r>
          </a:p>
          <a:p>
            <a:pPr>
              <a:defRPr sz="1280">
                <a:solidFill>
                  <a:srgbClr val="5F666E"/>
                </a:solidFill>
                <a:latin typeface="Segoe UI"/>
              </a:defRPr>
            </a:pPr>
            <a:r>
              <a:t>Шлях: 02-Microservices-Craftsman/CargoDelivery.ApiGateway/CargoDelivery.ApiGateway.csproj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5897880" cy="4864608"/>
          </a:xfrm>
          <a:prstGeom prst="rect">
            <a:avLst/>
          </a:prstGeom>
          <a:solidFill>
            <a:srgbClr val="EBEDF0"/>
          </a:solidFill>
          <a:ln w="15240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64592" bIns="109728" rtlCol="0" anchor="t"/>
          <a:lstStyle/>
          <a:p>
            <a:pPr algn="ctr">
              <a:spcAft>
                <a:spcPts val="600"/>
              </a:spcAft>
              <a:defRPr sz="1320" b="1">
                <a:solidFill>
                  <a:srgbClr val="111418"/>
                </a:solidFill>
                <a:latin typeface="Segoe UI"/>
              </a:defRPr>
            </a:pPr>
            <a:r>
              <a:rPr sz="1200" dirty="0" err="1"/>
              <a:t>Файл</a:t>
            </a:r>
            <a:r>
              <a:rPr sz="1200" dirty="0"/>
              <a:t>: </a:t>
            </a:r>
            <a:r>
              <a:rPr sz="1200" dirty="0" err="1"/>
              <a:t>CargoDelivery.ApiGateway.csproj</a:t>
            </a:r>
            <a:endParaRPr sz="1200" dirty="0"/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&lt;Project 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Sdk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="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Microsoft.NET.Sdk.Web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"&gt;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&lt;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PropertyGroup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&gt;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&lt;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TargetFramework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&gt;net10.0&lt;/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TargetFramework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&gt;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&lt;Nullable&gt;enable&lt;/Nullable&gt;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&lt;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ImplicitUsings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&gt;enable&lt;/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ImplicitUsings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&gt;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&lt;/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PropertyGroup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&gt;</a:t>
            </a:r>
          </a:p>
          <a:p>
            <a:pPr>
              <a:spcAft>
                <a:spcPts val="200"/>
              </a:spcAft>
            </a:pPr>
            <a:endParaRPr sz="1100" dirty="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&lt;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ItemGroup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&gt;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&lt;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ProjectReference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 Include="..\Aspire\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CargoDelivery.ServiceDefaults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\..." /&gt;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&lt;/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ItemGroup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&gt;</a:t>
            </a:r>
          </a:p>
          <a:p>
            <a:pPr>
              <a:spcAft>
                <a:spcPts val="200"/>
              </a:spcAft>
            </a:pPr>
            <a:endParaRPr sz="1100" dirty="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&lt;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ItemGroup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&gt;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&lt;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PackageReference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 Include="Ocelot" Version="23.4.3" /&gt;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&lt;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PackageReference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 Include="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Swashbuckle.AspNetCore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" Version="6.5.0" /&gt;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&lt;/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ItemGroup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&gt;</a:t>
            </a:r>
          </a:p>
          <a:p>
            <a:pPr>
              <a:spcAft>
                <a:spcPts val="200"/>
              </a:spcAft>
            </a:pPr>
            <a:endParaRPr sz="1100" dirty="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&lt;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ItemGroup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&gt;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&lt;Content Update="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ocelot.json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" 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CopyToOutputDirectory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="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PreserveNewest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" /&gt;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&lt;/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ItemGroup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&gt;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&lt;/Project&gt;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225296"/>
            <a:ext cx="5102352" cy="4864608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28016" rtlCol="0" anchor="t"/>
          <a:lstStyle/>
          <a:p>
            <a:pPr algn="ctr">
              <a:spcAft>
                <a:spcPts val="700"/>
              </a:spcAft>
              <a:defRPr sz="1600" b="1">
                <a:solidFill>
                  <a:srgbClr val="111418"/>
                </a:solidFill>
                <a:latin typeface="Segoe UI"/>
              </a:defRPr>
            </a:pPr>
            <a:r>
              <a:t>Призначення ключових залежностей шлюзу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111418"/>
                </a:solidFill>
                <a:latin typeface="Segoe UI"/>
              </a:rPr>
              <a:t>1. Пакет Ocelot (версія 23.4.3):
</a:t>
            </a:r>
            <a:r>
              <a:rPr sz="1400" b="0">
                <a:solidFill>
                  <a:srgbClr val="2D3238"/>
                </a:solidFill>
                <a:latin typeface="Segoe UI"/>
              </a:rPr>
              <a:t>містить конвеєр зворотного проксі, парсер ocelot.json, модуль Rate Limiting, балансувальник RoundRobin та мультиплексор агрегації відповідей.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111418"/>
                </a:solidFill>
                <a:latin typeface="Segoe UI"/>
              </a:rPr>
              <a:t>2. CargoDelivery.ServiceDefaults:
</a:t>
            </a:r>
            <a:r>
              <a:rPr sz="1400" b="0">
                <a:solidFill>
                  <a:srgbClr val="2D3238"/>
                </a:solidFill>
                <a:latin typeface="Segoe UI"/>
              </a:rPr>
              <a:t>підключає наш шлюз до екосистеми .NET 10 Aspire — налаштовує OpenTelemetry (трасування запитів через шлюз) та зонди /health і /alive.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11418"/>
                </a:solidFill>
                <a:latin typeface="Segoe UI"/>
              </a:rPr>
              <a:t>3. CopyToOutputDirectory для ocelot.json:
</a:t>
            </a:r>
            <a:r>
              <a:rPr sz="1400" b="0">
                <a:solidFill>
                  <a:srgbClr val="2D3238"/>
                </a:solidFill>
                <a:latin typeface="Segoe UI"/>
              </a:rPr>
              <a:t>гарантує, що файл конфігурації маршрутів копіюється у вихідну папку bin/Debug/net10.0 під час збірки та публікації.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217920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254496"/>
            <a:ext cx="9555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5F666E"/>
                </a:solidFill>
                <a:latin typeface="Segoe UI"/>
              </a:rPr>
              <a:t>Файл проєкту: 02-Microservices-Craftsman/CargoDelivery.ApiGateway/CargoDelivery.ApiGateway.csproj</a:t>
            </a:r>
          </a:p>
          <a:p>
            <a:r>
              <a:rPr sz="1000" b="1">
                <a:solidFill>
                  <a:srgbClr val="2D3238"/>
                </a:solidFill>
                <a:latin typeface="Segoe UI"/>
              </a:rPr>
              <a:t>Офіційна документація: </a:t>
            </a:r>
            <a:r>
              <a:rPr sz="1000" b="1">
                <a:solidFill>
                  <a:srgbClr val="111418"/>
                </a:solidFill>
                <a:latin typeface="Segoe UI"/>
                <a:hlinkClick r:id="rId2"/>
              </a:rPr>
              <a:t>https://www.nuget.org/packages/Ocelot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327648"/>
            <a:ext cx="1536192" cy="347472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50" b="1">
                <a:solidFill>
                  <a:srgbClr val="111418"/>
                </a:solidFill>
                <a:latin typeface="Segoe UI"/>
              </a:defRPr>
            </a:pPr>
            <a:r>
              <a:t>Слайд 7 з 36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11183112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ЧАСТИНА 1. ІНІЦІАЛІЗАЦІЯ OCELOT У ПРОГРАМНОМУ КОДІ</a:t>
            </a:r>
          </a:p>
          <a:p>
            <a:pPr>
              <a:defRPr sz="2300" b="1">
                <a:solidFill>
                  <a:srgbClr val="111418"/>
                </a:solidFill>
                <a:latin typeface="Segoe UI"/>
              </a:defRPr>
            </a:pPr>
            <a:r>
              <a:t>Розбір коду CargoDelivery.ApiGateway/Program.cs та конвеєра Middleware</a:t>
            </a:r>
          </a:p>
          <a:p>
            <a:pPr>
              <a:defRPr sz="1280">
                <a:solidFill>
                  <a:srgbClr val="5F666E"/>
                </a:solidFill>
                <a:latin typeface="Segoe UI"/>
              </a:defRPr>
            </a:pPr>
            <a:r>
              <a:t>Як поєднати термінальний конвеєр UseOcelot() зі стандартними маршрутами Swagger та Aspire /health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6492240" cy="4864608"/>
          </a:xfrm>
          <a:prstGeom prst="rect">
            <a:avLst/>
          </a:prstGeom>
          <a:solidFill>
            <a:srgbClr val="EBEDF0"/>
          </a:solidFill>
          <a:ln w="15240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64592" bIns="109728" rtlCol="0" anchor="t"/>
          <a:lstStyle/>
          <a:p>
            <a:pPr algn="ctr">
              <a:spcAft>
                <a:spcPts val="600"/>
              </a:spcAft>
              <a:defRPr sz="1320" b="1">
                <a:solidFill>
                  <a:srgbClr val="111418"/>
                </a:solidFill>
                <a:latin typeface="Segoe UI"/>
              </a:defRPr>
            </a:pPr>
            <a:r>
              <a:rPr sz="1200" dirty="0" err="1"/>
              <a:t>Файл</a:t>
            </a:r>
            <a:r>
              <a:rPr sz="1200" dirty="0"/>
              <a:t>: </a:t>
            </a:r>
            <a:r>
              <a:rPr sz="1200" dirty="0" err="1"/>
              <a:t>CargoDelivery.ApiGateway</a:t>
            </a:r>
            <a:r>
              <a:rPr sz="1200" dirty="0"/>
              <a:t>/</a:t>
            </a:r>
            <a:r>
              <a:rPr sz="1200" dirty="0" err="1"/>
              <a:t>Program.cs</a:t>
            </a:r>
            <a:endParaRPr sz="1200" dirty="0"/>
          </a:p>
          <a:p>
            <a:pPr>
              <a:spcAft>
                <a:spcPts val="200"/>
              </a:spcAft>
            </a:pPr>
            <a:r>
              <a:rPr sz="1050" dirty="0">
                <a:solidFill>
                  <a:srgbClr val="2D3238"/>
                </a:solidFill>
                <a:latin typeface="Consolas"/>
              </a:rPr>
              <a:t>var builder = </a:t>
            </a:r>
            <a:r>
              <a:rPr sz="1050" dirty="0" err="1">
                <a:solidFill>
                  <a:srgbClr val="2D3238"/>
                </a:solidFill>
                <a:latin typeface="Consolas"/>
              </a:rPr>
              <a:t>WebApplication.CreateBuilder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(</a:t>
            </a:r>
            <a:r>
              <a:rPr sz="1050" dirty="0" err="1">
                <a:solidFill>
                  <a:srgbClr val="2D3238"/>
                </a:solidFill>
                <a:latin typeface="Consolas"/>
              </a:rPr>
              <a:t>args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endParaRPr sz="1050" dirty="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050" dirty="0">
                <a:solidFill>
                  <a:srgbClr val="5F666E"/>
                </a:solidFill>
                <a:latin typeface="Consolas"/>
              </a:rPr>
              <a:t>// 1. </a:t>
            </a:r>
            <a:r>
              <a:rPr sz="1050" dirty="0" err="1">
                <a:solidFill>
                  <a:srgbClr val="5F666E"/>
                </a:solidFill>
                <a:latin typeface="Consolas"/>
              </a:rPr>
              <a:t>Підключаємо</a:t>
            </a:r>
            <a:r>
              <a:rPr sz="1050" dirty="0">
                <a:solidFill>
                  <a:srgbClr val="5F666E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5F666E"/>
                </a:solidFill>
                <a:latin typeface="Consolas"/>
              </a:rPr>
              <a:t>ocelot.json</a:t>
            </a:r>
            <a:r>
              <a:rPr sz="1050" dirty="0">
                <a:solidFill>
                  <a:srgbClr val="5F666E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5F666E"/>
                </a:solidFill>
                <a:latin typeface="Consolas"/>
              </a:rPr>
              <a:t>із</a:t>
            </a:r>
            <a:r>
              <a:rPr sz="1050" dirty="0">
                <a:solidFill>
                  <a:srgbClr val="5F666E"/>
                </a:solidFill>
                <a:latin typeface="Consolas"/>
              </a:rPr>
              <a:t> Hot Reload</a:t>
            </a:r>
          </a:p>
          <a:p>
            <a:pPr>
              <a:spcAft>
                <a:spcPts val="200"/>
              </a:spcAft>
            </a:pPr>
            <a:r>
              <a:rPr sz="1050" dirty="0" err="1">
                <a:solidFill>
                  <a:srgbClr val="2D3238"/>
                </a:solidFill>
                <a:latin typeface="Consolas"/>
              </a:rPr>
              <a:t>builder.Configuration.AddJsonFile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(</a:t>
            </a:r>
          </a:p>
          <a:p>
            <a:pPr>
              <a:spcAft>
                <a:spcPts val="200"/>
              </a:spcAft>
            </a:pPr>
            <a:r>
              <a:rPr sz="1050" dirty="0">
                <a:solidFill>
                  <a:srgbClr val="2D3238"/>
                </a:solidFill>
                <a:latin typeface="Consolas"/>
              </a:rPr>
              <a:t>    "</a:t>
            </a:r>
            <a:r>
              <a:rPr sz="1050" dirty="0" err="1">
                <a:solidFill>
                  <a:srgbClr val="2D3238"/>
                </a:solidFill>
                <a:latin typeface="Consolas"/>
              </a:rPr>
              <a:t>ocelot.json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", optional: false, </a:t>
            </a:r>
            <a:r>
              <a:rPr sz="1050" dirty="0" err="1">
                <a:solidFill>
                  <a:srgbClr val="2D3238"/>
                </a:solidFill>
                <a:latin typeface="Consolas"/>
              </a:rPr>
              <a:t>reloadOnChange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: true);</a:t>
            </a:r>
          </a:p>
          <a:p>
            <a:pPr>
              <a:spcAft>
                <a:spcPts val="200"/>
              </a:spcAft>
            </a:pPr>
            <a:endParaRPr sz="1050" dirty="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050" dirty="0">
                <a:solidFill>
                  <a:srgbClr val="5F666E"/>
                </a:solidFill>
                <a:latin typeface="Consolas"/>
              </a:rPr>
              <a:t>// 2. </a:t>
            </a:r>
            <a:r>
              <a:rPr sz="1050" dirty="0" err="1">
                <a:solidFill>
                  <a:srgbClr val="5F666E"/>
                </a:solidFill>
                <a:latin typeface="Consolas"/>
              </a:rPr>
              <a:t>Телеметрія</a:t>
            </a:r>
            <a:r>
              <a:rPr sz="1050" dirty="0">
                <a:solidFill>
                  <a:srgbClr val="5F666E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5F666E"/>
                </a:solidFill>
                <a:latin typeface="Consolas"/>
              </a:rPr>
              <a:t>OpenTelemetry</a:t>
            </a:r>
            <a:r>
              <a:rPr sz="1050" dirty="0">
                <a:solidFill>
                  <a:srgbClr val="5F666E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5F666E"/>
                </a:solidFill>
                <a:latin typeface="Consolas"/>
              </a:rPr>
              <a:t>та</a:t>
            </a:r>
            <a:r>
              <a:rPr sz="1050" dirty="0">
                <a:solidFill>
                  <a:srgbClr val="5F666E"/>
                </a:solidFill>
                <a:latin typeface="Consolas"/>
              </a:rPr>
              <a:t> /health (Aspire)</a:t>
            </a:r>
          </a:p>
          <a:p>
            <a:pPr>
              <a:spcAft>
                <a:spcPts val="200"/>
              </a:spcAft>
            </a:pPr>
            <a:r>
              <a:rPr sz="1050" dirty="0" err="1">
                <a:solidFill>
                  <a:srgbClr val="2D3238"/>
                </a:solidFill>
                <a:latin typeface="Consolas"/>
              </a:rPr>
              <a:t>builder.AddServiceDefaults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();</a:t>
            </a:r>
          </a:p>
          <a:p>
            <a:pPr>
              <a:spcAft>
                <a:spcPts val="200"/>
              </a:spcAft>
            </a:pPr>
            <a:r>
              <a:rPr sz="1050" dirty="0" err="1">
                <a:solidFill>
                  <a:srgbClr val="2D3238"/>
                </a:solidFill>
                <a:latin typeface="Consolas"/>
              </a:rPr>
              <a:t>builder.Services.AddControllers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();</a:t>
            </a:r>
          </a:p>
          <a:p>
            <a:pPr>
              <a:spcAft>
                <a:spcPts val="200"/>
              </a:spcAft>
            </a:pPr>
            <a:r>
              <a:rPr sz="1050" dirty="0" err="1">
                <a:solidFill>
                  <a:srgbClr val="2D3238"/>
                </a:solidFill>
                <a:latin typeface="Consolas"/>
              </a:rPr>
              <a:t>builder.Services.AddSwaggerGen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();</a:t>
            </a:r>
          </a:p>
          <a:p>
            <a:pPr>
              <a:spcAft>
                <a:spcPts val="200"/>
              </a:spcAft>
            </a:pPr>
            <a:endParaRPr sz="1050" dirty="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050" dirty="0">
                <a:solidFill>
                  <a:srgbClr val="5F666E"/>
                </a:solidFill>
                <a:latin typeface="Consolas"/>
              </a:rPr>
              <a:t>// 3. </a:t>
            </a:r>
            <a:r>
              <a:rPr sz="1050" dirty="0" err="1">
                <a:solidFill>
                  <a:srgbClr val="5F666E"/>
                </a:solidFill>
                <a:latin typeface="Consolas"/>
              </a:rPr>
              <a:t>Реєструємо</a:t>
            </a:r>
            <a:r>
              <a:rPr sz="1050" dirty="0">
                <a:solidFill>
                  <a:srgbClr val="5F666E"/>
                </a:solidFill>
                <a:latin typeface="Consolas"/>
              </a:rPr>
              <a:t> Ocelot </a:t>
            </a:r>
            <a:r>
              <a:rPr sz="1050" dirty="0" err="1">
                <a:solidFill>
                  <a:srgbClr val="5F666E"/>
                </a:solidFill>
                <a:latin typeface="Consolas"/>
              </a:rPr>
              <a:t>та</a:t>
            </a:r>
            <a:r>
              <a:rPr sz="1050" dirty="0">
                <a:solidFill>
                  <a:srgbClr val="5F666E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5F666E"/>
                </a:solidFill>
                <a:latin typeface="Consolas"/>
              </a:rPr>
              <a:t>кастомний</a:t>
            </a:r>
            <a:r>
              <a:rPr sz="1050" dirty="0">
                <a:solidFill>
                  <a:srgbClr val="5F666E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5F666E"/>
                </a:solidFill>
                <a:latin typeface="Consolas"/>
              </a:rPr>
              <a:t>агрегатор</a:t>
            </a:r>
            <a:endParaRPr sz="1050" dirty="0">
              <a:solidFill>
                <a:srgbClr val="5F666E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050" b="1" dirty="0" err="1">
                <a:solidFill>
                  <a:srgbClr val="111418"/>
                </a:solidFill>
                <a:latin typeface="Consolas"/>
              </a:rPr>
              <a:t>builder.Services.AddOcelot</a:t>
            </a:r>
            <a:r>
              <a:rPr sz="1050" b="1" dirty="0">
                <a:solidFill>
                  <a:srgbClr val="111418"/>
                </a:solidFill>
                <a:latin typeface="Consolas"/>
              </a:rPr>
              <a:t>(</a:t>
            </a:r>
            <a:r>
              <a:rPr sz="1050" b="1" dirty="0" err="1">
                <a:solidFill>
                  <a:srgbClr val="111418"/>
                </a:solidFill>
                <a:latin typeface="Consolas"/>
              </a:rPr>
              <a:t>builder.Configuration</a:t>
            </a:r>
            <a:r>
              <a:rPr sz="1050" b="1" dirty="0">
                <a:solidFill>
                  <a:srgbClr val="111418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111418"/>
                </a:solidFill>
                <a:latin typeface="Consolas"/>
              </a:rPr>
              <a:t>  .</a:t>
            </a:r>
            <a:r>
              <a:rPr sz="1050" b="1" dirty="0" err="1">
                <a:solidFill>
                  <a:srgbClr val="111418"/>
                </a:solidFill>
                <a:latin typeface="Consolas"/>
              </a:rPr>
              <a:t>AddSingletonDefinedAggregator</a:t>
            </a:r>
            <a:r>
              <a:rPr sz="1050" b="1" dirty="0">
                <a:solidFill>
                  <a:srgbClr val="111418"/>
                </a:solidFill>
                <a:latin typeface="Consolas"/>
              </a:rPr>
              <a:t>&lt;</a:t>
            </a:r>
            <a:r>
              <a:rPr sz="1050" b="1" dirty="0" err="1">
                <a:solidFill>
                  <a:srgbClr val="111418"/>
                </a:solidFill>
                <a:latin typeface="Consolas"/>
              </a:rPr>
              <a:t>DriverSummaryDefinedAggregator</a:t>
            </a:r>
            <a:r>
              <a:rPr sz="1050" b="1" dirty="0">
                <a:solidFill>
                  <a:srgbClr val="111418"/>
                </a:solidFill>
                <a:latin typeface="Consolas"/>
              </a:rPr>
              <a:t>&gt;();</a:t>
            </a:r>
          </a:p>
          <a:p>
            <a:pPr>
              <a:spcAft>
                <a:spcPts val="200"/>
              </a:spcAft>
            </a:pPr>
            <a:endParaRPr sz="1050" b="1" dirty="0">
              <a:solidFill>
                <a:srgbClr val="11141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050" dirty="0">
                <a:solidFill>
                  <a:srgbClr val="2D3238"/>
                </a:solidFill>
                <a:latin typeface="Consolas"/>
              </a:rPr>
              <a:t>var app = </a:t>
            </a:r>
            <a:r>
              <a:rPr sz="1050" dirty="0" err="1">
                <a:solidFill>
                  <a:srgbClr val="2D3238"/>
                </a:solidFill>
                <a:latin typeface="Consolas"/>
              </a:rPr>
              <a:t>builder.Build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();</a:t>
            </a:r>
          </a:p>
          <a:p>
            <a:pPr>
              <a:spcAft>
                <a:spcPts val="200"/>
              </a:spcAft>
            </a:pPr>
            <a:r>
              <a:rPr sz="1050" dirty="0" err="1">
                <a:solidFill>
                  <a:srgbClr val="2D3238"/>
                </a:solidFill>
                <a:latin typeface="Consolas"/>
              </a:rPr>
              <a:t>app.MapDefaultEndpoints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(); // /health </a:t>
            </a:r>
            <a:r>
              <a:rPr sz="1050" dirty="0" err="1">
                <a:solidFill>
                  <a:srgbClr val="2D3238"/>
                </a:solidFill>
                <a:latin typeface="Consolas"/>
              </a:rPr>
              <a:t>та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 /alive</a:t>
            </a:r>
          </a:p>
          <a:p>
            <a:pPr>
              <a:spcAft>
                <a:spcPts val="200"/>
              </a:spcAft>
            </a:pPr>
            <a:r>
              <a:rPr sz="1050" dirty="0" err="1">
                <a:solidFill>
                  <a:srgbClr val="2D3238"/>
                </a:solidFill>
                <a:latin typeface="Consolas"/>
              </a:rPr>
              <a:t>app.UseSwagger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(); </a:t>
            </a:r>
            <a:r>
              <a:rPr sz="1050" dirty="0" err="1">
                <a:solidFill>
                  <a:srgbClr val="2D3238"/>
                </a:solidFill>
                <a:latin typeface="Consolas"/>
              </a:rPr>
              <a:t>app.UseSwaggerUI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();</a:t>
            </a:r>
          </a:p>
          <a:p>
            <a:pPr>
              <a:spcAft>
                <a:spcPts val="200"/>
              </a:spcAft>
            </a:pPr>
            <a:r>
              <a:rPr sz="1050" dirty="0" err="1">
                <a:solidFill>
                  <a:srgbClr val="2D3238"/>
                </a:solidFill>
                <a:latin typeface="Consolas"/>
              </a:rPr>
              <a:t>app.MapControllers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();      // /</a:t>
            </a:r>
            <a:r>
              <a:rPr sz="1050" dirty="0" err="1">
                <a:solidFill>
                  <a:srgbClr val="2D3238"/>
                </a:solidFill>
                <a:latin typeface="Consolas"/>
              </a:rPr>
              <a:t>api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/gateway/routes</a:t>
            </a:r>
          </a:p>
          <a:p>
            <a:pPr>
              <a:spcAft>
                <a:spcPts val="200"/>
              </a:spcAft>
            </a:pPr>
            <a:endParaRPr sz="1050" dirty="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050" dirty="0">
                <a:solidFill>
                  <a:srgbClr val="5F666E"/>
                </a:solidFill>
                <a:latin typeface="Consolas"/>
              </a:rPr>
              <a:t>// 4. </a:t>
            </a:r>
            <a:r>
              <a:rPr sz="1050" dirty="0" err="1">
                <a:solidFill>
                  <a:srgbClr val="5F666E"/>
                </a:solidFill>
                <a:latin typeface="Consolas"/>
              </a:rPr>
              <a:t>Усі</a:t>
            </a:r>
            <a:r>
              <a:rPr sz="1050" dirty="0">
                <a:solidFill>
                  <a:srgbClr val="5F666E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5F666E"/>
                </a:solidFill>
                <a:latin typeface="Consolas"/>
              </a:rPr>
              <a:t>запити</a:t>
            </a:r>
            <a:r>
              <a:rPr sz="1050" dirty="0">
                <a:solidFill>
                  <a:srgbClr val="5F666E"/>
                </a:solidFill>
                <a:latin typeface="Consolas"/>
              </a:rPr>
              <a:t> /gateway/* </a:t>
            </a:r>
            <a:r>
              <a:rPr sz="1050" dirty="0" err="1">
                <a:solidFill>
                  <a:srgbClr val="5F666E"/>
                </a:solidFill>
                <a:latin typeface="Consolas"/>
              </a:rPr>
              <a:t>обробляє</a:t>
            </a:r>
            <a:r>
              <a:rPr sz="1050" dirty="0">
                <a:solidFill>
                  <a:srgbClr val="5F666E"/>
                </a:solidFill>
                <a:latin typeface="Consolas"/>
              </a:rPr>
              <a:t> Ocelot:</a:t>
            </a:r>
          </a:p>
          <a:p>
            <a:pPr>
              <a:spcAft>
                <a:spcPts val="200"/>
              </a:spcAft>
            </a:pPr>
            <a:r>
              <a:rPr sz="1050" dirty="0" err="1">
                <a:solidFill>
                  <a:srgbClr val="2D3238"/>
                </a:solidFill>
                <a:latin typeface="Consolas"/>
              </a:rPr>
              <a:t>app.MapWhen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(c =&gt; </a:t>
            </a:r>
            <a:r>
              <a:rPr sz="1050" dirty="0" err="1">
                <a:solidFill>
                  <a:srgbClr val="2D3238"/>
                </a:solidFill>
                <a:latin typeface="Consolas"/>
              </a:rPr>
              <a:t>c.Request.Path.StartsWithSegments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("/gateway"),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111418"/>
                </a:solidFill>
                <a:latin typeface="Consolas"/>
              </a:rPr>
              <a:t>            </a:t>
            </a:r>
            <a:r>
              <a:rPr sz="1050" b="1" dirty="0" err="1">
                <a:solidFill>
                  <a:srgbClr val="111418"/>
                </a:solidFill>
                <a:latin typeface="Consolas"/>
              </a:rPr>
              <a:t>ocelotApp</a:t>
            </a:r>
            <a:r>
              <a:rPr sz="1050" b="1" dirty="0">
                <a:solidFill>
                  <a:srgbClr val="111418"/>
                </a:solidFill>
                <a:latin typeface="Consolas"/>
              </a:rPr>
              <a:t> =&gt; </a:t>
            </a:r>
            <a:r>
              <a:rPr sz="1050" b="1" dirty="0" err="1">
                <a:solidFill>
                  <a:srgbClr val="111418"/>
                </a:solidFill>
                <a:latin typeface="Consolas"/>
              </a:rPr>
              <a:t>ocelotApp.UseOcelot</a:t>
            </a:r>
            <a:r>
              <a:rPr sz="1050" b="1" dirty="0">
                <a:solidFill>
                  <a:srgbClr val="111418"/>
                </a:solidFill>
                <a:latin typeface="Consolas"/>
              </a:rPr>
              <a:t>().Wait());</a:t>
            </a:r>
          </a:p>
          <a:p>
            <a:pPr>
              <a:spcAft>
                <a:spcPts val="200"/>
              </a:spcAft>
            </a:pPr>
            <a:r>
              <a:rPr sz="1050" dirty="0" err="1">
                <a:solidFill>
                  <a:srgbClr val="2D3238"/>
                </a:solidFill>
                <a:latin typeface="Consolas"/>
              </a:rPr>
              <a:t>app.Run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();</a:t>
            </a:r>
          </a:p>
        </p:txBody>
      </p:sp>
      <p:sp>
        <p:nvSpPr>
          <p:cNvPr id="5" name="Rectangle 4"/>
          <p:cNvSpPr/>
          <p:nvPr/>
        </p:nvSpPr>
        <p:spPr>
          <a:xfrm>
            <a:off x="7178040" y="1225296"/>
            <a:ext cx="4507992" cy="4864608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28016" rtlCol="0" anchor="t"/>
          <a:lstStyle/>
          <a:p>
            <a:pPr algn="ctr">
              <a:spcAft>
                <a:spcPts val="700"/>
              </a:spcAft>
              <a:defRPr sz="1600" b="1">
                <a:solidFill>
                  <a:srgbClr val="111418"/>
                </a:solidFill>
                <a:latin typeface="Segoe UI"/>
              </a:defRPr>
            </a:pPr>
            <a:r>
              <a:t>Покрокове пояснення коду Program.cs</a:t>
            </a:r>
          </a:p>
          <a:p>
            <a:pPr>
              <a:spcAft>
                <a:spcPts val="800"/>
              </a:spcAft>
            </a:pPr>
            <a:r>
              <a:rPr sz="1360" b="1">
                <a:solidFill>
                  <a:srgbClr val="111418"/>
                </a:solidFill>
                <a:latin typeface="Segoe UI"/>
              </a:rPr>
              <a:t>1. Гаряче перезавантаження (reloadOnChange: true):
</a:t>
            </a:r>
            <a:r>
              <a:rPr sz="1360" b="0">
                <a:solidFill>
                  <a:srgbClr val="2D3238"/>
                </a:solidFill>
                <a:latin typeface="Segoe UI"/>
              </a:rPr>
              <a:t>дозволяє змінювати маршрути, ліміти або правила агрегації у файлі ocelot.json на льоту без перезапуску процесу шлюзу.</a:t>
            </a:r>
          </a:p>
          <a:p>
            <a:pPr>
              <a:spcAft>
                <a:spcPts val="800"/>
              </a:spcAft>
            </a:pPr>
            <a:r>
              <a:rPr sz="1360" b="1">
                <a:solidFill>
                  <a:srgbClr val="111418"/>
                </a:solidFill>
                <a:latin typeface="Segoe UI"/>
              </a:rPr>
              <a:t>2. Реєстрація IDefinedAggregator:
</a:t>
            </a:r>
            <a:r>
              <a:rPr sz="1360" b="0">
                <a:solidFill>
                  <a:srgbClr val="2D3238"/>
                </a:solidFill>
                <a:latin typeface="Segoe UI"/>
              </a:rPr>
              <a:t>метод .AddSingletonDefinedAggregator&lt;T&gt;() реєструє наш C#-клас у DI, щоб на нього можна було послатися за ім'ям у полі "Aggregator" файлу ocelot.json.</a:t>
            </a:r>
          </a:p>
          <a:p>
            <a:pPr>
              <a:spcAft>
                <a:spcPts val="400"/>
              </a:spcAft>
            </a:pPr>
            <a:r>
              <a:rPr sz="1360" b="1">
                <a:solidFill>
                  <a:srgbClr val="111418"/>
                </a:solidFill>
                <a:latin typeface="Segoe UI"/>
              </a:rPr>
              <a:t>3. Чому використовується app.MapWhen(...):
</a:t>
            </a:r>
            <a:r>
              <a:rPr sz="1360" b="0">
                <a:solidFill>
                  <a:srgbClr val="2D3238"/>
                </a:solidFill>
                <a:latin typeface="Segoe UI"/>
              </a:rPr>
              <a:t>UseOcelot() є термінальним Middleware (перехоплює всі запити). Ізоляція за префіксом /gateway дозволяє залишити /swagger, /health та власні контролери шлюзу доступними!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217920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254496"/>
            <a:ext cx="9555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5F666E"/>
                </a:solidFill>
                <a:latin typeface="Segoe UI"/>
              </a:rPr>
              <a:t>Вихідний код: 02-Microservices-Craftsman/CargoDelivery.ApiGateway/Program.cs#L25-L110</a:t>
            </a:r>
          </a:p>
          <a:p>
            <a:r>
              <a:rPr sz="1000" b="1">
                <a:solidFill>
                  <a:srgbClr val="2D3238"/>
                </a:solidFill>
                <a:latin typeface="Segoe UI"/>
              </a:rPr>
              <a:t>Офіційна документація: </a:t>
            </a:r>
            <a:r>
              <a:rPr sz="1000" b="1">
                <a:solidFill>
                  <a:srgbClr val="111418"/>
                </a:solidFill>
                <a:latin typeface="Segoe UI"/>
                <a:hlinkClick r:id="rId2"/>
              </a:rPr>
              <a:t>https://ocelot.readthedocs.io/en/latest/introduction/gettingstarted.html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327648"/>
            <a:ext cx="1536192" cy="347472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50" b="1">
                <a:solidFill>
                  <a:srgbClr val="111418"/>
                </a:solidFill>
                <a:latin typeface="Segoe UI"/>
              </a:defRPr>
            </a:pPr>
            <a:r>
              <a:t>Слайд 8 з 36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11477798" cy="7458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rPr dirty="0"/>
              <a:t>ЧАСТИНА 1. КОНФІГУРАЦІЯ МАРШРУТІВ У OCELOT.JSON</a:t>
            </a:r>
          </a:p>
          <a:p>
            <a:pPr>
              <a:defRPr sz="2300" b="1">
                <a:solidFill>
                  <a:srgbClr val="111418"/>
                </a:solidFill>
                <a:latin typeface="Segoe UI"/>
              </a:defRPr>
            </a:pPr>
            <a:r>
              <a:rPr dirty="0" err="1"/>
              <a:t>Налаштування</a:t>
            </a:r>
            <a:r>
              <a:rPr dirty="0"/>
              <a:t> Reverse Proxy </a:t>
            </a:r>
            <a:r>
              <a:rPr dirty="0" err="1"/>
              <a:t>маршрутизації</a:t>
            </a:r>
            <a:r>
              <a:rPr dirty="0"/>
              <a:t> (</a:t>
            </a:r>
            <a:r>
              <a:rPr dirty="0" err="1"/>
              <a:t>секція</a:t>
            </a:r>
            <a:r>
              <a:rPr dirty="0"/>
              <a:t> Routes) у </a:t>
            </a:r>
            <a:r>
              <a:rPr dirty="0" err="1"/>
              <a:t>файлі</a:t>
            </a:r>
            <a:r>
              <a:rPr dirty="0"/>
              <a:t> </a:t>
            </a:r>
            <a:r>
              <a:rPr dirty="0" err="1"/>
              <a:t>ocelot.json</a:t>
            </a:r>
            <a:endParaRPr dirty="0"/>
          </a:p>
          <a:p>
            <a:pPr>
              <a:defRPr sz="1280">
                <a:solidFill>
                  <a:srgbClr val="5F666E"/>
                </a:solidFill>
                <a:latin typeface="Segoe UI"/>
              </a:defRPr>
            </a:pPr>
            <a:r>
              <a:rPr dirty="0" err="1"/>
              <a:t>Як</a:t>
            </a:r>
            <a:r>
              <a:rPr dirty="0"/>
              <a:t> Ocelot </a:t>
            </a:r>
            <a:r>
              <a:rPr dirty="0" err="1"/>
              <a:t>трансформує</a:t>
            </a:r>
            <a:r>
              <a:rPr dirty="0"/>
              <a:t> </a:t>
            </a:r>
            <a:r>
              <a:rPr dirty="0" err="1"/>
              <a:t>зовнішні</a:t>
            </a:r>
            <a:r>
              <a:rPr dirty="0"/>
              <a:t> URL /gateway/* у </a:t>
            </a:r>
            <a:r>
              <a:rPr dirty="0" err="1"/>
              <a:t>внутрішні</a:t>
            </a:r>
            <a:r>
              <a:rPr dirty="0"/>
              <a:t> </a:t>
            </a:r>
            <a:r>
              <a:rPr dirty="0" err="1"/>
              <a:t>ендпоінти</a:t>
            </a:r>
            <a:r>
              <a:rPr dirty="0"/>
              <a:t> мікросервісів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361208"/>
            <a:ext cx="5897880" cy="4728695"/>
          </a:xfrm>
          <a:prstGeom prst="rect">
            <a:avLst/>
          </a:prstGeom>
          <a:solidFill>
            <a:srgbClr val="EBEDF0"/>
          </a:solidFill>
          <a:ln w="15240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64592" bIns="109728" rtlCol="0" anchor="t"/>
          <a:lstStyle/>
          <a:p>
            <a:pPr algn="ctr">
              <a:spcAft>
                <a:spcPts val="600"/>
              </a:spcAft>
              <a:defRPr sz="1320" b="1">
                <a:solidFill>
                  <a:srgbClr val="111418"/>
                </a:solidFill>
                <a:latin typeface="Segoe UI"/>
              </a:defRPr>
            </a:pPr>
            <a:r>
              <a:rPr sz="1200" dirty="0" err="1"/>
              <a:t>Файл</a:t>
            </a:r>
            <a:r>
              <a:rPr sz="1200" dirty="0"/>
              <a:t>: </a:t>
            </a:r>
            <a:r>
              <a:rPr sz="1200" dirty="0" err="1"/>
              <a:t>CargoDelivery.ApiGateway</a:t>
            </a:r>
            <a:r>
              <a:rPr sz="1200" dirty="0"/>
              <a:t>/</a:t>
            </a:r>
            <a:r>
              <a:rPr sz="1200" dirty="0" err="1"/>
              <a:t>ocelot.json</a:t>
            </a:r>
            <a:r>
              <a:rPr sz="1200" dirty="0"/>
              <a:t> (</a:t>
            </a:r>
            <a:r>
              <a:rPr sz="1200" dirty="0" err="1"/>
              <a:t>секція</a:t>
            </a:r>
            <a:r>
              <a:rPr sz="1200" dirty="0"/>
              <a:t> Routes)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"Routes": [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{</a:t>
            </a:r>
          </a:p>
          <a:p>
            <a:pPr>
              <a:spcAft>
                <a:spcPts val="200"/>
              </a:spcAft>
            </a:pPr>
            <a:r>
              <a:rPr sz="1100" b="1" dirty="0">
                <a:solidFill>
                  <a:srgbClr val="111418"/>
                </a:solidFill>
                <a:latin typeface="Consolas"/>
              </a:rPr>
              <a:t>      "</a:t>
            </a:r>
            <a:r>
              <a:rPr sz="1100" b="1" dirty="0" err="1">
                <a:solidFill>
                  <a:srgbClr val="111418"/>
                </a:solidFill>
                <a:latin typeface="Consolas"/>
              </a:rPr>
              <a:t>UpstreamPathTemplate</a:t>
            </a:r>
            <a:r>
              <a:rPr sz="1100" b="1" dirty="0">
                <a:solidFill>
                  <a:srgbClr val="111418"/>
                </a:solidFill>
                <a:latin typeface="Consolas"/>
              </a:rPr>
              <a:t>": "/gateway/drivers/{everything}",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  "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UpstreamHttpMethod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": [ "GET", "PUT", "DELETE" ],</a:t>
            </a:r>
          </a:p>
          <a:p>
            <a:pPr>
              <a:spcAft>
                <a:spcPts val="200"/>
              </a:spcAft>
            </a:pPr>
            <a:r>
              <a:rPr sz="1100" b="1" dirty="0">
                <a:solidFill>
                  <a:srgbClr val="111418"/>
                </a:solidFill>
                <a:latin typeface="Consolas"/>
              </a:rPr>
              <a:t>      "</a:t>
            </a:r>
            <a:r>
              <a:rPr sz="1100" b="1" dirty="0" err="1">
                <a:solidFill>
                  <a:srgbClr val="111418"/>
                </a:solidFill>
                <a:latin typeface="Consolas"/>
              </a:rPr>
              <a:t>DownstreamPathTemplate</a:t>
            </a:r>
            <a:r>
              <a:rPr sz="1100" b="1" dirty="0">
                <a:solidFill>
                  <a:srgbClr val="111418"/>
                </a:solidFill>
                <a:latin typeface="Consolas"/>
              </a:rPr>
              <a:t>": "/</a:t>
            </a:r>
            <a:r>
              <a:rPr sz="1100" b="1" dirty="0" err="1">
                <a:solidFill>
                  <a:srgbClr val="111418"/>
                </a:solidFill>
                <a:latin typeface="Consolas"/>
              </a:rPr>
              <a:t>api</a:t>
            </a:r>
            <a:r>
              <a:rPr sz="1100" b="1" dirty="0">
                <a:solidFill>
                  <a:srgbClr val="111418"/>
                </a:solidFill>
                <a:latin typeface="Consolas"/>
              </a:rPr>
              <a:t>/drivers/{everything}",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  "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DownstreamScheme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": "https",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  "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DownstreamHostAndPorts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": [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    { "Host": "localhost", "Port": 5001 }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  ]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},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{</a:t>
            </a:r>
          </a:p>
          <a:p>
            <a:pPr>
              <a:spcAft>
                <a:spcPts val="200"/>
              </a:spcAft>
            </a:pPr>
            <a:r>
              <a:rPr sz="1100" b="1" dirty="0">
                <a:solidFill>
                  <a:srgbClr val="111418"/>
                </a:solidFill>
                <a:latin typeface="Consolas"/>
              </a:rPr>
              <a:t>      "</a:t>
            </a:r>
            <a:r>
              <a:rPr sz="1100" b="1" dirty="0" err="1">
                <a:solidFill>
                  <a:srgbClr val="111418"/>
                </a:solidFill>
                <a:latin typeface="Consolas"/>
              </a:rPr>
              <a:t>UpstreamPathTemplate</a:t>
            </a:r>
            <a:r>
              <a:rPr sz="1100" b="1" dirty="0">
                <a:solidFill>
                  <a:srgbClr val="111418"/>
                </a:solidFill>
                <a:latin typeface="Consolas"/>
              </a:rPr>
              <a:t>": "/gateway/blog/posts/{everything}",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  "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UpstreamHttpMethod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": [ "GET", "PUT", "DELETE" ],</a:t>
            </a:r>
          </a:p>
          <a:p>
            <a:pPr>
              <a:spcAft>
                <a:spcPts val="200"/>
              </a:spcAft>
            </a:pPr>
            <a:r>
              <a:rPr sz="1100" b="1" dirty="0">
                <a:solidFill>
                  <a:srgbClr val="111418"/>
                </a:solidFill>
                <a:latin typeface="Consolas"/>
              </a:rPr>
              <a:t>      "</a:t>
            </a:r>
            <a:r>
              <a:rPr sz="1100" b="1" dirty="0" err="1">
                <a:solidFill>
                  <a:srgbClr val="111418"/>
                </a:solidFill>
                <a:latin typeface="Consolas"/>
              </a:rPr>
              <a:t>DownstreamPathTemplate</a:t>
            </a:r>
            <a:r>
              <a:rPr sz="1100" b="1" dirty="0">
                <a:solidFill>
                  <a:srgbClr val="111418"/>
                </a:solidFill>
                <a:latin typeface="Consolas"/>
              </a:rPr>
              <a:t>": "/</a:t>
            </a:r>
            <a:r>
              <a:rPr sz="1100" b="1" dirty="0" err="1">
                <a:solidFill>
                  <a:srgbClr val="111418"/>
                </a:solidFill>
                <a:latin typeface="Consolas"/>
              </a:rPr>
              <a:t>api</a:t>
            </a:r>
            <a:r>
              <a:rPr sz="1100" b="1" dirty="0">
                <a:solidFill>
                  <a:srgbClr val="111418"/>
                </a:solidFill>
                <a:latin typeface="Consolas"/>
              </a:rPr>
              <a:t>/</a:t>
            </a:r>
            <a:r>
              <a:rPr sz="1100" b="1" dirty="0" err="1">
                <a:solidFill>
                  <a:srgbClr val="111418"/>
                </a:solidFill>
                <a:latin typeface="Consolas"/>
              </a:rPr>
              <a:t>postaboutdrivers</a:t>
            </a:r>
            <a:r>
              <a:rPr sz="1100" b="1" dirty="0">
                <a:solidFill>
                  <a:srgbClr val="111418"/>
                </a:solidFill>
                <a:latin typeface="Consolas"/>
              </a:rPr>
              <a:t>/{everything}",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  "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DownstreamScheme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": "https",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  "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DownstreamHostAndPorts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": [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    { "Host": "localhost", "Port": 5002 }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  ]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}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]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361208"/>
            <a:ext cx="5102352" cy="4728696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28016" rtlCol="0" anchor="t"/>
          <a:lstStyle/>
          <a:p>
            <a:pPr algn="ctr">
              <a:spcAft>
                <a:spcPts val="700"/>
              </a:spcAft>
              <a:defRPr sz="1600" b="1">
                <a:solidFill>
                  <a:srgbClr val="111418"/>
                </a:solidFill>
                <a:latin typeface="Segoe UI"/>
              </a:defRPr>
            </a:pPr>
            <a:r>
              <a:rPr dirty="0" err="1"/>
              <a:t>Ключові</a:t>
            </a:r>
            <a:r>
              <a:rPr dirty="0"/>
              <a:t> </a:t>
            </a:r>
            <a:r>
              <a:rPr dirty="0" err="1"/>
              <a:t>правила</a:t>
            </a:r>
            <a:r>
              <a:rPr dirty="0"/>
              <a:t> </a:t>
            </a:r>
            <a:r>
              <a:rPr dirty="0" err="1"/>
              <a:t>маршрутизації</a:t>
            </a:r>
            <a:r>
              <a:rPr dirty="0"/>
              <a:t> в Ocelot</a:t>
            </a:r>
          </a:p>
          <a:p>
            <a:pPr>
              <a:spcAft>
                <a:spcPts val="900"/>
              </a:spcAft>
            </a:pPr>
            <a:r>
              <a:rPr sz="1400" b="1" dirty="0">
                <a:solidFill>
                  <a:srgbClr val="111418"/>
                </a:solidFill>
                <a:latin typeface="Segoe UI"/>
              </a:rPr>
              <a:t>1. </a:t>
            </a:r>
            <a:r>
              <a:rPr sz="1400" b="1" dirty="0" err="1">
                <a:solidFill>
                  <a:srgbClr val="111418"/>
                </a:solidFill>
                <a:latin typeface="Segoe UI"/>
              </a:rPr>
              <a:t>Трансформація</a:t>
            </a:r>
            <a:r>
              <a:rPr sz="1400" b="1" dirty="0">
                <a:solidFill>
                  <a:srgbClr val="111418"/>
                </a:solidFill>
                <a:latin typeface="Segoe UI"/>
              </a:rPr>
              <a:t> URL-</a:t>
            </a:r>
            <a:r>
              <a:rPr sz="1400" b="1" dirty="0" err="1">
                <a:solidFill>
                  <a:srgbClr val="111418"/>
                </a:solidFill>
                <a:latin typeface="Segoe UI"/>
              </a:rPr>
              <a:t>шляхів</a:t>
            </a:r>
            <a:r>
              <a:rPr sz="1400" b="1" dirty="0">
                <a:solidFill>
                  <a:srgbClr val="111418"/>
                </a:solidFill>
                <a:latin typeface="Segoe UI"/>
              </a:rPr>
              <a:t> (Path Rewriting):
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зовнішній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клієнт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звертається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до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зрозумілого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маршруту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/gateway/blog/posts,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не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знаючи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,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що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всередині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сервісу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блогу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контролер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називається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/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api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/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postaboutdrivers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.</a:t>
            </a:r>
          </a:p>
          <a:p>
            <a:pPr>
              <a:spcAft>
                <a:spcPts val="900"/>
              </a:spcAft>
            </a:pPr>
            <a:r>
              <a:rPr sz="1400" b="1" dirty="0">
                <a:solidFill>
                  <a:srgbClr val="111418"/>
                </a:solidFill>
                <a:latin typeface="Segoe UI"/>
              </a:rPr>
              <a:t>2. Wildcard-плейсхолдер {everything}:
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фігурні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дужки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автоматично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переносять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суфікс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шляху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(ID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водія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,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вкладені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підресурси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та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QueryString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)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із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UpstreamPathTemplate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у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DownstreamPathTemplate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111418"/>
                </a:solidFill>
                <a:latin typeface="Segoe UI"/>
              </a:rPr>
              <a:t>3. </a:t>
            </a:r>
            <a:r>
              <a:rPr sz="1400" b="1" dirty="0" err="1">
                <a:solidFill>
                  <a:srgbClr val="111418"/>
                </a:solidFill>
                <a:latin typeface="Segoe UI"/>
              </a:rPr>
              <a:t>Фільтрація</a:t>
            </a:r>
            <a:r>
              <a:rPr sz="1400" b="1" dirty="0">
                <a:solidFill>
                  <a:srgbClr val="111418"/>
                </a:solidFill>
                <a:latin typeface="Segoe UI"/>
              </a:rPr>
              <a:t> </a:t>
            </a:r>
            <a:r>
              <a:rPr sz="1400" b="1" dirty="0" err="1">
                <a:solidFill>
                  <a:srgbClr val="111418"/>
                </a:solidFill>
                <a:latin typeface="Segoe UI"/>
              </a:rPr>
              <a:t>за</a:t>
            </a:r>
            <a:r>
              <a:rPr sz="1400" b="1" dirty="0">
                <a:solidFill>
                  <a:srgbClr val="111418"/>
                </a:solidFill>
                <a:latin typeface="Segoe UI"/>
              </a:rPr>
              <a:t> HTTP-</a:t>
            </a:r>
            <a:r>
              <a:rPr sz="1400" b="1" dirty="0" err="1">
                <a:solidFill>
                  <a:srgbClr val="111418"/>
                </a:solidFill>
                <a:latin typeface="Segoe UI"/>
              </a:rPr>
              <a:t>методами</a:t>
            </a:r>
            <a:r>
              <a:rPr sz="1400" b="1" dirty="0">
                <a:solidFill>
                  <a:srgbClr val="111418"/>
                </a:solidFill>
                <a:latin typeface="Segoe UI"/>
              </a:rPr>
              <a:t>:
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масив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UpstreamHttpMethod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дозволяє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відкрити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на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шлюзі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лише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потрібні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методи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,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відсікаючи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небажані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виклики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ще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до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мікросервісу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217920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254496"/>
            <a:ext cx="9555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5F666E"/>
                </a:solidFill>
                <a:latin typeface="Segoe UI"/>
              </a:rPr>
              <a:t>Конфігурація маршрутів: 02-Microservices-Craftsman/CargoDelivery.ApiGateway/ocelot.json#L72-L162</a:t>
            </a:r>
          </a:p>
          <a:p>
            <a:r>
              <a:rPr sz="1000" b="1">
                <a:solidFill>
                  <a:srgbClr val="2D3238"/>
                </a:solidFill>
                <a:latin typeface="Segoe UI"/>
              </a:rPr>
              <a:t>Офіційна документація: </a:t>
            </a:r>
            <a:r>
              <a:rPr sz="1000" b="1">
                <a:solidFill>
                  <a:srgbClr val="111418"/>
                </a:solidFill>
                <a:latin typeface="Segoe UI"/>
                <a:hlinkClick r:id="rId2"/>
              </a:rPr>
              <a:t>https://ocelot.readthedocs.io/en/latest/features/routing.html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327648"/>
            <a:ext cx="1536192" cy="347472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50" b="1">
                <a:solidFill>
                  <a:srgbClr val="111418"/>
                </a:solidFill>
                <a:latin typeface="Segoe UI"/>
              </a:defRPr>
            </a:pPr>
            <a:r>
              <a:t>Слайд 9 з 36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11183112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ЧАСТИНА 1. НАСКРІЗНА ФУНКЦІОНАЛЬНІСТЬ ШЛЮЗУ (CROSS-CUTTING CONCERNS)</a:t>
            </a:r>
          </a:p>
          <a:p>
            <a:pPr>
              <a:defRPr sz="2300" b="1">
                <a:solidFill>
                  <a:srgbClr val="111418"/>
                </a:solidFill>
                <a:latin typeface="Segoe UI"/>
              </a:defRPr>
            </a:pPr>
            <a:r>
              <a:t>Rate Limiting, трансформація заголовків та балансування у файлі ocelot.json</a:t>
            </a:r>
          </a:p>
          <a:p>
            <a:pPr>
              <a:defRPr sz="1280">
                <a:solidFill>
                  <a:srgbClr val="5F666E"/>
                </a:solidFill>
                <a:latin typeface="Segoe UI"/>
              </a:defRPr>
            </a:pPr>
            <a:r>
              <a:t>Як розвантажити доменні мікросервіси від інфраструктурних перевірок на рівні вхідного шлюзу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5897880" cy="4864608"/>
          </a:xfrm>
          <a:prstGeom prst="rect">
            <a:avLst/>
          </a:prstGeom>
          <a:solidFill>
            <a:srgbClr val="EBEDF0"/>
          </a:solidFill>
          <a:ln w="15240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64592" bIns="109728" rtlCol="0" anchor="t"/>
          <a:lstStyle/>
          <a:p>
            <a:pPr algn="ctr">
              <a:spcAft>
                <a:spcPts val="600"/>
              </a:spcAft>
              <a:defRPr sz="1320" b="1">
                <a:solidFill>
                  <a:srgbClr val="111418"/>
                </a:solidFill>
                <a:latin typeface="Segoe UI"/>
              </a:defRPr>
            </a:pPr>
            <a:r>
              <a:rPr sz="1200" dirty="0" err="1"/>
              <a:t>Файл</a:t>
            </a:r>
            <a:r>
              <a:rPr sz="1200" dirty="0"/>
              <a:t>: </a:t>
            </a:r>
            <a:r>
              <a:rPr sz="1200" dirty="0" err="1"/>
              <a:t>CargoDelivery.ApiGateway</a:t>
            </a:r>
            <a:r>
              <a:rPr sz="1200" dirty="0"/>
              <a:t>/</a:t>
            </a:r>
            <a:r>
              <a:rPr sz="1200" dirty="0" err="1"/>
              <a:t>ocelot.json</a:t>
            </a:r>
            <a:r>
              <a:rPr sz="1200" dirty="0"/>
              <a:t> (</a:t>
            </a:r>
            <a:r>
              <a:rPr sz="1200" dirty="0" err="1"/>
              <a:t>RateLimit</a:t>
            </a:r>
            <a:r>
              <a:rPr sz="1200" dirty="0"/>
              <a:t> &amp; </a:t>
            </a:r>
            <a:r>
              <a:rPr sz="1200" dirty="0" err="1"/>
              <a:t>GlobalConfig</a:t>
            </a:r>
            <a:r>
              <a:rPr sz="1200" dirty="0"/>
              <a:t>)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100" b="1" dirty="0">
                <a:solidFill>
                  <a:srgbClr val="111418"/>
                </a:solidFill>
                <a:latin typeface="Consolas"/>
              </a:rPr>
              <a:t>  "</a:t>
            </a:r>
            <a:r>
              <a:rPr sz="1100" b="1" dirty="0" err="1">
                <a:solidFill>
                  <a:srgbClr val="111418"/>
                </a:solidFill>
                <a:latin typeface="Consolas"/>
              </a:rPr>
              <a:t>UpstreamPathTemplate</a:t>
            </a:r>
            <a:r>
              <a:rPr sz="1100" b="1" dirty="0">
                <a:solidFill>
                  <a:srgbClr val="111418"/>
                </a:solidFill>
                <a:latin typeface="Consolas"/>
              </a:rPr>
              <a:t>": "/gateway/drivers",</a:t>
            </a:r>
          </a:p>
          <a:p>
            <a:pPr>
              <a:spcAft>
                <a:spcPts val="200"/>
              </a:spcAft>
            </a:pPr>
            <a:r>
              <a:rPr sz="1100" b="1" dirty="0">
                <a:solidFill>
                  <a:srgbClr val="111418"/>
                </a:solidFill>
                <a:latin typeface="Consolas"/>
              </a:rPr>
              <a:t>  "</a:t>
            </a:r>
            <a:r>
              <a:rPr sz="1100" b="1" dirty="0" err="1">
                <a:solidFill>
                  <a:srgbClr val="111418"/>
                </a:solidFill>
                <a:latin typeface="Consolas"/>
              </a:rPr>
              <a:t>DownstreamPathTemplate</a:t>
            </a:r>
            <a:r>
              <a:rPr sz="1100" b="1" dirty="0">
                <a:solidFill>
                  <a:srgbClr val="111418"/>
                </a:solidFill>
                <a:latin typeface="Consolas"/>
              </a:rPr>
              <a:t>": "/</a:t>
            </a:r>
            <a:r>
              <a:rPr sz="1100" b="1" dirty="0" err="1">
                <a:solidFill>
                  <a:srgbClr val="111418"/>
                </a:solidFill>
                <a:latin typeface="Consolas"/>
              </a:rPr>
              <a:t>api</a:t>
            </a:r>
            <a:r>
              <a:rPr sz="1100" b="1" dirty="0">
                <a:solidFill>
                  <a:srgbClr val="111418"/>
                </a:solidFill>
                <a:latin typeface="Consolas"/>
              </a:rPr>
              <a:t>/drivers",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"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AddHeadersToRequest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": {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"X-Forwarded-By": "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CargoDelivery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-Ocelot-Gateway"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},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"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LoadBalancerOptions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": { "Type": "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RoundRobin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" },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"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RateLimitOptions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": {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"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ClientWhitelist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": [],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"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EnableRateLimiting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": true,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"Period": "1m",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"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PeriodTimespan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": 10,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"Limit": 30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},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"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GlobalConfiguration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": {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"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BaseUrl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": "https://localhost:5000",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"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RequestIdKey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": "X-Correlation-Id",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"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RateLimitOptions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": {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"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HttpStatusCode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": 429,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"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QuotaExceededMessage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": "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Перевищено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ліміт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запитів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 (429)."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225296"/>
            <a:ext cx="5102352" cy="4864608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28016" rtlCol="0" anchor="t"/>
          <a:lstStyle/>
          <a:p>
            <a:pPr algn="ctr">
              <a:spcAft>
                <a:spcPts val="700"/>
              </a:spcAft>
              <a:defRPr sz="1600" b="1">
                <a:solidFill>
                  <a:srgbClr val="111418"/>
                </a:solidFill>
                <a:latin typeface="Segoe UI"/>
              </a:defRPr>
            </a:pPr>
            <a:r>
              <a:t>Інфраструктурні можливості шлюзу Ocelot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111418"/>
                </a:solidFill>
                <a:latin typeface="Segoe UI"/>
              </a:rPr>
              <a:t>1. Захист від перевантаження (RateLimitOptions):
</a:t>
            </a:r>
            <a:r>
              <a:rPr sz="1400" b="0">
                <a:solidFill>
                  <a:srgbClr val="2D3238"/>
                </a:solidFill>
                <a:latin typeface="Segoe UI"/>
              </a:rPr>
              <a:t>обмежує клієнта до 30 запитів за 1 хвилину (Period: "1m", Limit: 30). При перевищенні шлюз повертає HTTP 429 Too Many Requests та блокує клієнта на 10 секунд (PeriodTimespan: 10).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111418"/>
                </a:solidFill>
                <a:latin typeface="Segoe UI"/>
              </a:rPr>
              <a:t>2. Наскрізна кореляція та заголовки:
</a:t>
            </a:r>
            <a:r>
              <a:rPr sz="1400" b="0">
                <a:solidFill>
                  <a:srgbClr val="2D3238"/>
                </a:solidFill>
                <a:latin typeface="Segoe UI"/>
              </a:rPr>
              <a:t>параметр RequestIdKey: "X-Correlation-Id" та секція AddHeadersToRequest додають службові заголовки у кожен виклик до мікросервісів.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11418"/>
                </a:solidFill>
                <a:latin typeface="Segoe UI"/>
              </a:rPr>
              <a:t>3. Балансування навантаження (LoadBalancerOptions):
</a:t>
            </a:r>
            <a:r>
              <a:rPr sz="1400" b="0">
                <a:solidFill>
                  <a:srgbClr val="2D3238"/>
                </a:solidFill>
                <a:latin typeface="Segoe UI"/>
              </a:rPr>
              <a:t>якщо в масиві DownstreamHostAndPorts вказано кілька інстансів сервісу, Ocelot розподіляє трафік за алгоритмом RoundRobin або LeastConnection.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217920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254496"/>
            <a:ext cx="9555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5F666E"/>
                </a:solidFill>
                <a:latin typeface="Segoe UI"/>
              </a:rPr>
              <a:t>Конфігурація лімітів та заголовків: 02-Microservices-Craftsman/CargoDelivery.ApiGateway/ocelot.json#L25-L67</a:t>
            </a:r>
          </a:p>
          <a:p>
            <a:r>
              <a:rPr sz="1000" b="1">
                <a:solidFill>
                  <a:srgbClr val="2D3238"/>
                </a:solidFill>
                <a:latin typeface="Segoe UI"/>
              </a:rPr>
              <a:t>Офіційна документація: </a:t>
            </a:r>
            <a:r>
              <a:rPr sz="1000" b="1">
                <a:solidFill>
                  <a:srgbClr val="111418"/>
                </a:solidFill>
                <a:latin typeface="Segoe UI"/>
                <a:hlinkClick r:id="rId2"/>
              </a:rPr>
              <a:t>https://ocelot.readthedocs.io/en/latest/features/ratelimiting.html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327648"/>
            <a:ext cx="1536192" cy="347472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50" b="1">
                <a:solidFill>
                  <a:srgbClr val="111418"/>
                </a:solidFill>
                <a:latin typeface="Segoe UI"/>
              </a:defRPr>
            </a:pPr>
            <a:r>
              <a:t>Слайд 10 з 36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11183112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ЧАСТИНА 1. ВБУДОВАНА АГРЕГАЦІЯ ЗАПИТІВ В OCELOT</a:t>
            </a:r>
          </a:p>
          <a:p>
            <a:pPr>
              <a:defRPr sz="2300" b="1">
                <a:solidFill>
                  <a:srgbClr val="111418"/>
                </a:solidFill>
                <a:latin typeface="Segoe UI"/>
              </a:defRPr>
            </a:pPr>
            <a:r>
              <a:t>Два режими агрегації в Ocelot: декларативний JSON проти C# IDefinedAggregator</a:t>
            </a:r>
          </a:p>
          <a:p>
            <a:pPr>
              <a:defRPr sz="1280">
                <a:solidFill>
                  <a:srgbClr val="5F666E"/>
                </a:solidFill>
                <a:latin typeface="Segoe UI"/>
              </a:defRPr>
            </a:pPr>
            <a:r>
              <a:t>Архітектурна схема об'єднання відповідей трьох мікросервісів (:5001, :5003, :5002) на рівні шлюзу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ag_04_ocelot_aggre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41" y="1490056"/>
            <a:ext cx="10910870" cy="34551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4754880"/>
            <a:ext cx="11183112" cy="1353312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28016" rtlCol="0" anchor="t"/>
          <a:lstStyle/>
          <a:p>
            <a:pPr algn="ctr">
              <a:spcAft>
                <a:spcPts val="700"/>
              </a:spcAft>
              <a:defRPr sz="1600" b="1">
                <a:solidFill>
                  <a:srgbClr val="111418"/>
                </a:solidFill>
                <a:latin typeface="Segoe UI"/>
              </a:defRPr>
            </a:pPr>
            <a:r>
              <a:t>Як працює механізм Request Aggregation в Ocelot</a:t>
            </a:r>
          </a:p>
          <a:p>
            <a:pPr>
              <a:spcAft>
                <a:spcPts val="400"/>
              </a:spcAft>
            </a:pPr>
            <a:r>
              <a:rPr sz="1380" b="1">
                <a:solidFill>
                  <a:srgbClr val="111418"/>
                </a:solidFill>
                <a:latin typeface="Segoe UI"/>
              </a:rPr>
              <a:t>• Крок 1 (Іменовані маршрути): </a:t>
            </a:r>
            <a:r>
              <a:rPr sz="1380" b="0">
                <a:solidFill>
                  <a:srgbClr val="2D3238"/>
                </a:solidFill>
                <a:latin typeface="Segoe UI"/>
              </a:rPr>
              <a:t>у секції Routes кожному внутрішньому маршруту присвоюється унікальний ключ "Key" (DriverProfile, ActiveDeliveries, DriverBlogNotes).</a:t>
            </a:r>
          </a:p>
          <a:p>
            <a:pPr>
              <a:spcAft>
                <a:spcPts val="200"/>
              </a:spcAft>
            </a:pPr>
            <a:r>
              <a:rPr sz="1380" b="1">
                <a:solidFill>
                  <a:srgbClr val="111418"/>
                </a:solidFill>
                <a:latin typeface="Segoe UI"/>
              </a:rPr>
              <a:t>• Крок 2 (Секція Aggregates): </a:t>
            </a:r>
            <a:r>
              <a:rPr sz="1380" b="0">
                <a:solidFill>
                  <a:srgbClr val="2D3238"/>
                </a:solidFill>
                <a:latin typeface="Segoe UI"/>
              </a:rPr>
              <a:t>об'єднує масив RouteKeys під єдиним публічним шляхом UpstreamPathTemplate. Ocelot виконує всі підзапити паралельно!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217920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254496"/>
            <a:ext cx="9555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5F666E"/>
                </a:solidFill>
                <a:latin typeface="Segoe UI"/>
              </a:rPr>
              <a:t>Механізм Request Aggregation у CargoDelivery.ApiGateway (:5000)</a:t>
            </a:r>
          </a:p>
          <a:p>
            <a:r>
              <a:rPr sz="1000" b="1">
                <a:solidFill>
                  <a:srgbClr val="2D3238"/>
                </a:solidFill>
                <a:latin typeface="Segoe UI"/>
              </a:rPr>
              <a:t>Офіційна документація: </a:t>
            </a:r>
            <a:r>
              <a:rPr sz="1000" b="1">
                <a:solidFill>
                  <a:srgbClr val="111418"/>
                </a:solidFill>
                <a:latin typeface="Segoe UI"/>
                <a:hlinkClick r:id="rId3"/>
              </a:rPr>
              <a:t>https://ocelot.readthedocs.io/en/latest/features/aggregation.html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327648"/>
            <a:ext cx="1536192" cy="347472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50" b="1">
                <a:solidFill>
                  <a:srgbClr val="111418"/>
                </a:solidFill>
                <a:latin typeface="Segoe UI"/>
              </a:defRPr>
            </a:pPr>
            <a:r>
              <a:t>Слайд 11 з 36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11183112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ЧАСТИНА 1. КОНФІГУРАЦІЯ АГРЕГАЦІЇ У ФАЙЛІ OCELOT.JSON</a:t>
            </a:r>
          </a:p>
          <a:p>
            <a:pPr>
              <a:defRPr sz="2300" b="1">
                <a:solidFill>
                  <a:srgbClr val="111418"/>
                </a:solidFill>
                <a:latin typeface="Segoe UI"/>
              </a:defRPr>
            </a:pPr>
            <a:r>
              <a:t>Код налаштування RouteKeys та секції Aggregates у файлі ocelot.json</a:t>
            </a:r>
          </a:p>
          <a:p>
            <a:pPr>
              <a:defRPr sz="1280">
                <a:solidFill>
                  <a:srgbClr val="5F666E"/>
                </a:solidFill>
                <a:latin typeface="Segoe UI"/>
              </a:defRPr>
            </a:pPr>
            <a:r>
              <a:t>Як Ocelot пов'язує іменовані маршрути (Key) в один композитний ендпоінт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6080760" cy="3337560"/>
          </a:xfrm>
          <a:prstGeom prst="rect">
            <a:avLst/>
          </a:prstGeom>
          <a:solidFill>
            <a:srgbClr val="EBEDF0"/>
          </a:solidFill>
          <a:ln w="15240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64592" bIns="109728" rtlCol="0" anchor="t"/>
          <a:lstStyle/>
          <a:p>
            <a:pPr algn="ctr">
              <a:spcAft>
                <a:spcPts val="600"/>
              </a:spcAft>
              <a:defRPr sz="1320" b="1">
                <a:solidFill>
                  <a:srgbClr val="111418"/>
                </a:solidFill>
                <a:latin typeface="Segoe UI"/>
              </a:defRPr>
            </a:pPr>
            <a:r>
              <a:t>Файл: ocelot.json — Складові маршрути з ключами Key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F666E"/>
                </a:solidFill>
                <a:latin typeface="Consolas"/>
              </a:rPr>
              <a:t>// 1. Секція "Routes" — маршрути з полем "Key":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{ "Key": "DriverProfile",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111418"/>
                </a:solidFill>
                <a:latin typeface="Consolas"/>
              </a:rPr>
              <a:t>  "UpstreamPathTemplate": "/gateway/internal/driver-profile/{driverId}",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111418"/>
                </a:solidFill>
                <a:latin typeface="Consolas"/>
              </a:rPr>
              <a:t>  "DownstreamPathTemplate": "/api/internal/drivers/{driverId}",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  "DownstreamHostAndPorts": [ { "Host": "localhost", "Port": 5001 } ] },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{ "Key": "ActiveDeliveries",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111418"/>
                </a:solidFill>
                <a:latin typeface="Consolas"/>
              </a:rPr>
              <a:t>  "UpstreamPathTemplate": "/gateway/internal/driver-deliveries/{driverId}",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111418"/>
                </a:solidFill>
                <a:latin typeface="Consolas"/>
              </a:rPr>
              <a:t>  "DownstreamPathTemplate": "/api/internal/deliveries?driverId={driverId}",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  "DownstreamHostAndPorts": [ { "Host": "localhost", "Port": 5003 } ] },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{ "Key": "DriverBlogNotes",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111418"/>
                </a:solidFill>
                <a:latin typeface="Consolas"/>
              </a:rPr>
              <a:t>  "UpstreamPathTemplate": "/gateway/internal/driver-notes/{driverId}",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111418"/>
                </a:solidFill>
                <a:latin typeface="Consolas"/>
              </a:rPr>
              <a:t>  "DownstreamPathTemplate": "/api/internal/postaboutdrivers?driverId={driverId}",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  "DownstreamHostAndPorts": [ { "Host": "localhost", "Port": 5002 } ] }</a:t>
            </a:r>
          </a:p>
        </p:txBody>
      </p:sp>
      <p:sp>
        <p:nvSpPr>
          <p:cNvPr id="5" name="Rectangle 4"/>
          <p:cNvSpPr/>
          <p:nvPr/>
        </p:nvSpPr>
        <p:spPr>
          <a:xfrm>
            <a:off x="6748272" y="1225296"/>
            <a:ext cx="4937760" cy="3337560"/>
          </a:xfrm>
          <a:prstGeom prst="rect">
            <a:avLst/>
          </a:prstGeom>
          <a:solidFill>
            <a:srgbClr val="EBEDF0"/>
          </a:solidFill>
          <a:ln w="15240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64592" bIns="109728" rtlCol="0" anchor="t"/>
          <a:lstStyle/>
          <a:p>
            <a:pPr algn="ctr">
              <a:spcAft>
                <a:spcPts val="600"/>
              </a:spcAft>
              <a:defRPr sz="1320" b="1">
                <a:solidFill>
                  <a:srgbClr val="111418"/>
                </a:solidFill>
                <a:latin typeface="Segoe UI"/>
              </a:defRPr>
            </a:pPr>
            <a:r>
              <a:t>Файл: ocelot.json — Секція Aggregates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F666E"/>
                </a:solidFill>
                <a:latin typeface="Consolas"/>
              </a:rPr>
              <a:t>// 2. Секція "Aggregates" — об'єднання за RouteKeys: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"Aggregates": [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  {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111418"/>
                </a:solidFill>
                <a:latin typeface="Consolas"/>
              </a:rPr>
              <a:t>    "UpstreamPathTemplate": "/gateway/ocelot-aggregate/{driverId}",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111418"/>
                </a:solidFill>
                <a:latin typeface="Consolas"/>
              </a:rPr>
              <a:t>    "RouteKeys": [ "DriverProfile", "ActiveDeliveries", "DriverBlogNotes" ]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  },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  {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111418"/>
                </a:solidFill>
                <a:latin typeface="Consolas"/>
              </a:rPr>
              <a:t>    "UpstreamPathTemplate": "/gateway/custom-aggregate/{driverId}",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111418"/>
                </a:solidFill>
                <a:latin typeface="Consolas"/>
              </a:rPr>
              <a:t>    "RouteKeys": [ "DriverProfile", "ActiveDeliveries", "DriverBlogNotes" ],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111418"/>
                </a:solidFill>
                <a:latin typeface="Consolas"/>
              </a:rPr>
              <a:t>    "Aggregator": "DriverSummaryDefinedAggregator"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]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663440"/>
            <a:ext cx="11183112" cy="1426464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28016" rtlCol="0" anchor="t"/>
          <a:lstStyle/>
          <a:p>
            <a:pPr algn="ctr">
              <a:spcAft>
                <a:spcPts val="700"/>
              </a:spcAft>
              <a:defRPr sz="1600" b="1">
                <a:solidFill>
                  <a:srgbClr val="111418"/>
                </a:solidFill>
                <a:latin typeface="Segoe UI"/>
              </a:defRPr>
            </a:pPr>
            <a:r>
              <a:t>Детальне пояснення механізму підстановки параметрів та агрегації</a:t>
            </a:r>
          </a:p>
          <a:p>
            <a:pPr>
              <a:spcAft>
                <a:spcPts val="300"/>
              </a:spcAft>
            </a:pPr>
            <a:r>
              <a:rPr sz="1360" b="1">
                <a:solidFill>
                  <a:srgbClr val="111418"/>
                </a:solidFill>
                <a:latin typeface="Segoe UI"/>
              </a:rPr>
              <a:t>• Наскрізний плейсхолдер {driverId}: </a:t>
            </a:r>
            <a:r>
              <a:rPr sz="1360" b="0">
                <a:solidFill>
                  <a:srgbClr val="2D3238"/>
                </a:solidFill>
                <a:latin typeface="Segoe UI"/>
              </a:rPr>
              <a:t>коли клієнт викликає /gateway/ocelot-aggregate/2dc25740..., Ocelot автоматично підставляє цей самий GUID і в шлях /api/internal/drivers/{driverId} (:5001), і в QueryString ?driverId={driverId} (:5003 та :5002).</a:t>
            </a:r>
          </a:p>
          <a:p>
            <a:pPr>
              <a:spcAft>
                <a:spcPts val="200"/>
              </a:spcAft>
            </a:pPr>
            <a:r>
              <a:rPr sz="1360" b="1">
                <a:solidFill>
                  <a:srgbClr val="111418"/>
                </a:solidFill>
                <a:latin typeface="Segoe UI"/>
              </a:rPr>
              <a:t>• Різниця між двома маршрутами в Aggregates: </a:t>
            </a:r>
            <a:r>
              <a:rPr sz="1360" b="0">
                <a:solidFill>
                  <a:srgbClr val="2D3238"/>
                </a:solidFill>
                <a:latin typeface="Segoe UI"/>
              </a:rPr>
              <a:t>перший маршрут склеює сирі JSON-відповіді автоматично, а другий передає керування у наш C#-клас DriverSummaryDefinedAggregator.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17920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254496"/>
            <a:ext cx="9555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5F666E"/>
                </a:solidFill>
                <a:latin typeface="Segoe UI"/>
              </a:rPr>
              <a:t>Конфігурація агрегатів: 02-Microservices-Craftsman/CargoDelivery.ApiGateway/ocelot.json#L197-L288</a:t>
            </a:r>
          </a:p>
          <a:p>
            <a:r>
              <a:rPr sz="1000" b="1">
                <a:solidFill>
                  <a:srgbClr val="2D3238"/>
                </a:solidFill>
                <a:latin typeface="Segoe UI"/>
              </a:rPr>
              <a:t>Офіційна документація: </a:t>
            </a:r>
            <a:r>
              <a:rPr sz="1000" b="1">
                <a:solidFill>
                  <a:srgbClr val="111418"/>
                </a:solidFill>
                <a:latin typeface="Segoe UI"/>
                <a:hlinkClick r:id="rId2"/>
              </a:rPr>
              <a:t>https://ocelot.readthedocs.io/en/latest/features/aggregation.html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327648"/>
            <a:ext cx="1536192" cy="347472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50" b="1">
                <a:solidFill>
                  <a:srgbClr val="111418"/>
                </a:solidFill>
                <a:latin typeface="Segoe UI"/>
              </a:defRPr>
            </a:pPr>
            <a:r>
              <a:t>Слайд 12 з 36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11183112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ЧАСТИНА 1. КАСТОМНИЙ C#-АГРЕГАТОР В OCELOT (ЧАСТИНА 1 З 2)</a:t>
            </a:r>
          </a:p>
          <a:p>
            <a:pPr>
              <a:defRPr sz="2300" b="1">
                <a:solidFill>
                  <a:srgbClr val="111418"/>
                </a:solidFill>
                <a:latin typeface="Segoe UI"/>
              </a:defRPr>
            </a:pPr>
            <a:r>
              <a:t>Клас DriverSummaryDefinedAggregator.cs: розбір відповідей та перевірка 404</a:t>
            </a:r>
          </a:p>
          <a:p>
            <a:pPr>
              <a:defRPr sz="1280">
                <a:solidFill>
                  <a:srgbClr val="5F666E"/>
                </a:solidFill>
                <a:latin typeface="Segoe UI"/>
              </a:defRPr>
            </a:pPr>
            <a:r>
              <a:t>Шлях: 02-Microservices-Craftsman/CargoDelivery.ApiGateway/Aggregators/DriverSummaryDefinedAggregator.cs#L39-L90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6537960" cy="4864608"/>
          </a:xfrm>
          <a:prstGeom prst="rect">
            <a:avLst/>
          </a:prstGeom>
          <a:solidFill>
            <a:srgbClr val="EBEDF0"/>
          </a:solidFill>
          <a:ln w="15240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64592" bIns="109728" rtlCol="0" anchor="t"/>
          <a:lstStyle/>
          <a:p>
            <a:pPr algn="ctr">
              <a:spcAft>
                <a:spcPts val="600"/>
              </a:spcAft>
              <a:defRPr sz="1320" b="1">
                <a:solidFill>
                  <a:srgbClr val="111418"/>
                </a:solidFill>
                <a:latin typeface="Segoe UI"/>
              </a:defRPr>
            </a:pPr>
            <a:r>
              <a:t>Файл: DriverSummaryDefinedAggregator.cs — Частина 1 (рядки 39–90)</a:t>
            </a:r>
          </a:p>
          <a:p>
            <a:pPr>
              <a:spcAft>
                <a:spcPts val="200"/>
              </a:spcAft>
            </a:pPr>
            <a:r>
              <a:rPr sz="1120" b="1">
                <a:solidFill>
                  <a:srgbClr val="111418"/>
                </a:solidFill>
                <a:latin typeface="Consolas"/>
              </a:rPr>
              <a:t>public sealed class DriverSummaryDefinedAggregator : IDefinedAggregator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public async Task&lt;DownstreamResponse&gt; Aggregate(List&lt;HttpContext&gt; responses)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{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5F666E"/>
                </a:solidFill>
                <a:latin typeface="Consolas"/>
              </a:rPr>
              <a:t>        // 1. Витягуємо відповідь кожного сервісу за його ключем Route.Key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    var responseMap = new Dictionary&lt;string, DownstreamResponse&gt;();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    foreach (var ctx in responses)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    {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        var route = ctx.Items.DownstreamRoute();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        var downstreamResp = ctx.Items.DownstreamResponse();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        if (route?.Key != null &amp;&amp; downstreamResp != null)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            responseMap[route.Key] = downstreamResp;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    }</a:t>
            </a:r>
          </a:p>
          <a:p>
            <a:pPr>
              <a:spcAft>
                <a:spcPts val="200"/>
              </a:spcAft>
            </a:pPr>
            <a:endParaRPr sz="112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5F666E"/>
                </a:solidFill>
                <a:latin typeface="Consolas"/>
              </a:rPr>
              <a:t>        // 2. Якщо водія не знайдено (:5001) -&gt; повертаємо 404 NotFound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    if (!responseMap.TryGetValue("DriverProfile", out var driverResp) ||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        driverResp.StatusCode == HttpStatusCode.NotFound)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    {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        return CreateJsonResponse(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            "{"status":404,"message":"Водія не знайдено"}",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            HttpStatusCode.NotFound);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    }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0" y="1225296"/>
            <a:ext cx="4462272" cy="4864608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28016" rtlCol="0" anchor="t"/>
          <a:lstStyle/>
          <a:p>
            <a:pPr algn="ctr">
              <a:spcAft>
                <a:spcPts val="700"/>
              </a:spcAft>
              <a:defRPr sz="1600" b="1">
                <a:solidFill>
                  <a:srgbClr val="111418"/>
                </a:solidFill>
                <a:latin typeface="Segoe UI"/>
              </a:defRPr>
            </a:pPr>
            <a:r>
              <a:t>Пояснення: як працює мультиплексор Ocelot</a:t>
            </a:r>
          </a:p>
          <a:p>
            <a:pPr>
              <a:spcAft>
                <a:spcPts val="800"/>
              </a:spcAft>
            </a:pPr>
            <a:r>
              <a:rPr sz="1360" b="1">
                <a:solidFill>
                  <a:srgbClr val="111418"/>
                </a:solidFill>
                <a:latin typeface="Segoe UI"/>
              </a:rPr>
              <a:t>1. Список List&lt;HttpContext&gt; responses:
</a:t>
            </a:r>
            <a:r>
              <a:rPr sz="1360" b="0">
                <a:solidFill>
                  <a:srgbClr val="2D3238"/>
                </a:solidFill>
                <a:latin typeface="Segoe UI"/>
              </a:rPr>
              <a:t>Ocelot створює окремий внутрішній HttpContext для кожного підзапиту з масиву RouteKeys і виконує їх паралельно.</a:t>
            </a:r>
          </a:p>
          <a:p>
            <a:pPr>
              <a:spcAft>
                <a:spcPts val="800"/>
              </a:spcAft>
            </a:pPr>
            <a:r>
              <a:rPr sz="1360" b="1">
                <a:solidFill>
                  <a:srgbClr val="111418"/>
                </a:solidFill>
                <a:latin typeface="Segoe UI"/>
              </a:rPr>
              <a:t>2. Методи розширення ctx.Items:
</a:t>
            </a:r>
            <a:r>
              <a:rPr sz="1360" b="0">
                <a:solidFill>
                  <a:srgbClr val="2D3238"/>
                </a:solidFill>
                <a:latin typeface="Segoe UI"/>
              </a:rPr>
              <a:t>через ctx.Items.DownstreamRoute().Key ми дізнаємося, якому саме маршруту (DriverProfile, ActiveDeliveries чи DriverBlogNotes) належить відповідь.</a:t>
            </a:r>
          </a:p>
          <a:p>
            <a:pPr>
              <a:spcAft>
                <a:spcPts val="400"/>
              </a:spcAft>
            </a:pPr>
            <a:r>
              <a:rPr sz="1360" b="1">
                <a:solidFill>
                  <a:srgbClr val="111418"/>
                </a:solidFill>
                <a:latin typeface="Segoe UI"/>
              </a:rPr>
              <a:t>3. Виправлення вади стандартного Ocelot:
</a:t>
            </a:r>
            <a:r>
              <a:rPr sz="1360" b="0">
                <a:solidFill>
                  <a:srgbClr val="2D3238"/>
                </a:solidFill>
                <a:latin typeface="Segoe UI"/>
              </a:rPr>
              <a:t>стандартний JSON-агрегатор завжди повертає HTTP 200 OK, навіть якщо всі сервіси повернули 404. Наш код перевіряє StatusCode і повертає чесний 404 NotFound!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217920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254496"/>
            <a:ext cx="9555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5F666E"/>
                </a:solidFill>
                <a:latin typeface="Segoe UI"/>
              </a:rPr>
              <a:t>Вихідний код: 02-Microservices-Craftsman/CargoDelivery.ApiGateway/Aggregators/DriverSummaryDefinedAggregator.cs#L39-L90</a:t>
            </a:r>
          </a:p>
          <a:p>
            <a:r>
              <a:rPr sz="1000" b="1">
                <a:solidFill>
                  <a:srgbClr val="2D3238"/>
                </a:solidFill>
                <a:latin typeface="Segoe UI"/>
              </a:rPr>
              <a:t>Офіційна документація: </a:t>
            </a:r>
            <a:r>
              <a:rPr sz="1000" b="1">
                <a:solidFill>
                  <a:srgbClr val="111418"/>
                </a:solidFill>
                <a:latin typeface="Segoe UI"/>
                <a:hlinkClick r:id="rId2"/>
              </a:rPr>
              <a:t>https://ocelot.readthedocs.io/en/latest/features/aggregation.html#custom-aggregators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327648"/>
            <a:ext cx="1536192" cy="347472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50" b="1">
                <a:solidFill>
                  <a:srgbClr val="111418"/>
                </a:solidFill>
                <a:latin typeface="Segoe UI"/>
              </a:defRPr>
            </a:pPr>
            <a:r>
              <a:t>Слайд 13 з 36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11183112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ЧАСТИНА 1. КАСТОМНИЙ C#-АГРЕГАТОР В OCELOT (ЧАСТИНА 2 З 2)</a:t>
            </a:r>
          </a:p>
          <a:p>
            <a:pPr>
              <a:defRPr sz="2300" b="1">
                <a:solidFill>
                  <a:srgbClr val="111418"/>
                </a:solidFill>
                <a:latin typeface="Segoe UI"/>
              </a:defRPr>
            </a:pPr>
            <a:r>
              <a:t>Клас DriverSummaryDefinedAggregator.cs: Graceful Degradation та злиття JSON</a:t>
            </a:r>
          </a:p>
          <a:p>
            <a:pPr>
              <a:defRPr sz="1280">
                <a:solidFill>
                  <a:srgbClr val="5F666E"/>
                </a:solidFill>
                <a:latin typeface="Segoe UI"/>
              </a:defRPr>
            </a:pPr>
            <a:r>
              <a:t>Як IDefinedAggregator захищає клієнта від падіння некритичного сервісу блогу (:5002)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289304"/>
            <a:ext cx="6537960" cy="4864608"/>
          </a:xfrm>
          <a:prstGeom prst="rect">
            <a:avLst/>
          </a:prstGeom>
          <a:solidFill>
            <a:srgbClr val="EBEDF0"/>
          </a:solidFill>
          <a:ln w="15240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64592" bIns="109728" rtlCol="0" anchor="t"/>
          <a:lstStyle/>
          <a:p>
            <a:pPr algn="ctr">
              <a:spcAft>
                <a:spcPts val="600"/>
              </a:spcAft>
              <a:defRPr sz="1320" b="1">
                <a:solidFill>
                  <a:srgbClr val="111418"/>
                </a:solidFill>
                <a:latin typeface="Segoe UI"/>
              </a:defRPr>
            </a:pPr>
            <a:r>
              <a:rPr sz="1200" dirty="0" err="1"/>
              <a:t>Файл</a:t>
            </a:r>
            <a:r>
              <a:rPr sz="1200" dirty="0"/>
              <a:t>: </a:t>
            </a:r>
            <a:r>
              <a:rPr sz="1200" dirty="0" err="1"/>
              <a:t>DriverSummaryDefinedAggregator.cs</a:t>
            </a:r>
            <a:r>
              <a:rPr sz="1200" dirty="0"/>
              <a:t> — </a:t>
            </a:r>
            <a:r>
              <a:rPr sz="1200" dirty="0" err="1"/>
              <a:t>Частина</a:t>
            </a:r>
            <a:r>
              <a:rPr sz="1200" dirty="0"/>
              <a:t> 2 (</a:t>
            </a:r>
            <a:r>
              <a:rPr sz="1200" dirty="0" err="1"/>
              <a:t>рядки</a:t>
            </a:r>
            <a:r>
              <a:rPr sz="1200" dirty="0"/>
              <a:t> 115–175)</a:t>
            </a:r>
          </a:p>
          <a:p>
            <a:pPr>
              <a:spcAft>
                <a:spcPts val="200"/>
              </a:spcAft>
            </a:pPr>
            <a:r>
              <a:rPr sz="1050" dirty="0">
                <a:solidFill>
                  <a:srgbClr val="5F666E"/>
                </a:solidFill>
                <a:latin typeface="Consolas"/>
              </a:rPr>
              <a:t>// 3. </a:t>
            </a:r>
            <a:r>
              <a:rPr sz="1050" dirty="0" err="1">
                <a:solidFill>
                  <a:srgbClr val="5F666E"/>
                </a:solidFill>
                <a:latin typeface="Consolas"/>
              </a:rPr>
              <a:t>Обробка</a:t>
            </a:r>
            <a:r>
              <a:rPr sz="1050" dirty="0">
                <a:solidFill>
                  <a:srgbClr val="5F666E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5F666E"/>
                </a:solidFill>
                <a:latin typeface="Consolas"/>
              </a:rPr>
              <a:t>некритичного</a:t>
            </a:r>
            <a:r>
              <a:rPr sz="1050" dirty="0">
                <a:solidFill>
                  <a:srgbClr val="5F666E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5F666E"/>
                </a:solidFill>
                <a:latin typeface="Consolas"/>
              </a:rPr>
              <a:t>сервісу</a:t>
            </a:r>
            <a:r>
              <a:rPr sz="1050" dirty="0">
                <a:solidFill>
                  <a:srgbClr val="5F666E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5F666E"/>
                </a:solidFill>
                <a:latin typeface="Consolas"/>
              </a:rPr>
              <a:t>блогу</a:t>
            </a:r>
            <a:r>
              <a:rPr sz="1050" dirty="0">
                <a:solidFill>
                  <a:srgbClr val="5F666E"/>
                </a:solidFill>
                <a:latin typeface="Consolas"/>
              </a:rPr>
              <a:t> (:5002) — Graceful Degradation</a:t>
            </a:r>
          </a:p>
          <a:p>
            <a:pPr>
              <a:spcAft>
                <a:spcPts val="200"/>
              </a:spcAft>
            </a:pPr>
            <a:r>
              <a:rPr sz="1050" dirty="0">
                <a:solidFill>
                  <a:srgbClr val="2D3238"/>
                </a:solidFill>
                <a:latin typeface="Consolas"/>
              </a:rPr>
              <a:t>bool </a:t>
            </a:r>
            <a:r>
              <a:rPr sz="1050" dirty="0" err="1">
                <a:solidFill>
                  <a:srgbClr val="2D3238"/>
                </a:solidFill>
                <a:latin typeface="Consolas"/>
              </a:rPr>
              <a:t>isBlogDegraded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 = false;</a:t>
            </a:r>
          </a:p>
          <a:p>
            <a:pPr>
              <a:spcAft>
                <a:spcPts val="200"/>
              </a:spcAft>
            </a:pPr>
            <a:r>
              <a:rPr sz="1050" dirty="0" err="1">
                <a:solidFill>
                  <a:srgbClr val="2D3238"/>
                </a:solidFill>
                <a:latin typeface="Consolas"/>
              </a:rPr>
              <a:t>JsonElement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2D3238"/>
                </a:solidFill>
                <a:latin typeface="Consolas"/>
              </a:rPr>
              <a:t>blogElement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 = default;</a:t>
            </a:r>
          </a:p>
          <a:p>
            <a:pPr>
              <a:spcAft>
                <a:spcPts val="200"/>
              </a:spcAft>
            </a:pPr>
            <a:r>
              <a:rPr sz="1050" dirty="0">
                <a:solidFill>
                  <a:srgbClr val="2D3238"/>
                </a:solidFill>
                <a:latin typeface="Consolas"/>
              </a:rPr>
              <a:t>if (</a:t>
            </a:r>
            <a:r>
              <a:rPr sz="1050" dirty="0" err="1">
                <a:solidFill>
                  <a:srgbClr val="2D3238"/>
                </a:solidFill>
                <a:latin typeface="Consolas"/>
              </a:rPr>
              <a:t>responseMap.TryGetValue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("</a:t>
            </a:r>
            <a:r>
              <a:rPr sz="1050" dirty="0" err="1">
                <a:solidFill>
                  <a:srgbClr val="2D3238"/>
                </a:solidFill>
                <a:latin typeface="Consolas"/>
              </a:rPr>
              <a:t>DriverBlogNotes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", out var </a:t>
            </a:r>
            <a:r>
              <a:rPr sz="1050" dirty="0" err="1">
                <a:solidFill>
                  <a:srgbClr val="2D3238"/>
                </a:solidFill>
                <a:latin typeface="Consolas"/>
              </a:rPr>
              <a:t>blogResp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) &amp;&amp;</a:t>
            </a:r>
          </a:p>
          <a:p>
            <a:pPr>
              <a:spcAft>
                <a:spcPts val="200"/>
              </a:spcAft>
            </a:pPr>
            <a:r>
              <a:rPr sz="1050" dirty="0">
                <a:solidFill>
                  <a:srgbClr val="2D3238"/>
                </a:solidFill>
                <a:latin typeface="Consolas"/>
              </a:rPr>
              <a:t>    </a:t>
            </a:r>
            <a:r>
              <a:rPr sz="1050" dirty="0" err="1">
                <a:solidFill>
                  <a:srgbClr val="2D3238"/>
                </a:solidFill>
                <a:latin typeface="Consolas"/>
              </a:rPr>
              <a:t>blogResp.StatusCode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 == </a:t>
            </a:r>
            <a:r>
              <a:rPr sz="1050" dirty="0" err="1">
                <a:solidFill>
                  <a:srgbClr val="2D3238"/>
                </a:solidFill>
                <a:latin typeface="Consolas"/>
              </a:rPr>
              <a:t>HttpStatusCode.OK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050" dirty="0">
                <a:solidFill>
                  <a:srgbClr val="2D3238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050" dirty="0">
                <a:solidFill>
                  <a:srgbClr val="2D3238"/>
                </a:solidFill>
                <a:latin typeface="Consolas"/>
              </a:rPr>
              <a:t>    </a:t>
            </a:r>
            <a:r>
              <a:rPr sz="1050" dirty="0" err="1">
                <a:solidFill>
                  <a:srgbClr val="2D3238"/>
                </a:solidFill>
                <a:latin typeface="Consolas"/>
              </a:rPr>
              <a:t>blogElement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 = await </a:t>
            </a:r>
            <a:r>
              <a:rPr sz="1050" dirty="0" err="1">
                <a:solidFill>
                  <a:srgbClr val="2D3238"/>
                </a:solidFill>
                <a:latin typeface="Consolas"/>
              </a:rPr>
              <a:t>ParseJsonOrDefaultAsync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(</a:t>
            </a:r>
            <a:r>
              <a:rPr sz="1050" dirty="0" err="1">
                <a:solidFill>
                  <a:srgbClr val="2D3238"/>
                </a:solidFill>
                <a:latin typeface="Consolas"/>
              </a:rPr>
              <a:t>blogResp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1050" dirty="0">
                <a:solidFill>
                  <a:srgbClr val="2D3238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050" dirty="0">
                <a:solidFill>
                  <a:srgbClr val="2D3238"/>
                </a:solidFill>
                <a:latin typeface="Consolas"/>
              </a:rPr>
              <a:t>else</a:t>
            </a:r>
          </a:p>
          <a:p>
            <a:pPr>
              <a:spcAft>
                <a:spcPts val="200"/>
              </a:spcAft>
            </a:pPr>
            <a:r>
              <a:rPr sz="1050" dirty="0">
                <a:solidFill>
                  <a:srgbClr val="2D3238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050" dirty="0">
                <a:solidFill>
                  <a:srgbClr val="2D3238"/>
                </a:solidFill>
                <a:latin typeface="Consolas"/>
              </a:rPr>
              <a:t>    </a:t>
            </a:r>
            <a:r>
              <a:rPr sz="1050" dirty="0" err="1">
                <a:solidFill>
                  <a:srgbClr val="2D3238"/>
                </a:solidFill>
                <a:latin typeface="Consolas"/>
              </a:rPr>
              <a:t>isBlogDegraded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 = true; // </a:t>
            </a:r>
            <a:r>
              <a:rPr sz="1050" dirty="0" err="1">
                <a:solidFill>
                  <a:srgbClr val="2D3238"/>
                </a:solidFill>
                <a:latin typeface="Consolas"/>
              </a:rPr>
              <a:t>Блог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2D3238"/>
                </a:solidFill>
                <a:latin typeface="Consolas"/>
              </a:rPr>
              <a:t>впав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, </a:t>
            </a:r>
            <a:r>
              <a:rPr sz="1050" dirty="0" err="1">
                <a:solidFill>
                  <a:srgbClr val="2D3238"/>
                </a:solidFill>
                <a:latin typeface="Consolas"/>
              </a:rPr>
              <a:t>але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2D3238"/>
                </a:solidFill>
                <a:latin typeface="Consolas"/>
              </a:rPr>
              <a:t>не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2D3238"/>
                </a:solidFill>
                <a:latin typeface="Consolas"/>
              </a:rPr>
              <a:t>валимо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2D3238"/>
                </a:solidFill>
                <a:latin typeface="Consolas"/>
              </a:rPr>
              <a:t>весь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2D3238"/>
                </a:solidFill>
                <a:latin typeface="Consolas"/>
              </a:rPr>
              <a:t>запит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!</a:t>
            </a:r>
          </a:p>
          <a:p>
            <a:pPr>
              <a:spcAft>
                <a:spcPts val="200"/>
              </a:spcAft>
            </a:pPr>
            <a:r>
              <a:rPr sz="1050" dirty="0">
                <a:solidFill>
                  <a:srgbClr val="2D3238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endParaRPr sz="1050" dirty="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050" dirty="0">
                <a:solidFill>
                  <a:srgbClr val="5F666E"/>
                </a:solidFill>
                <a:latin typeface="Consolas"/>
              </a:rPr>
              <a:t>// 4. </a:t>
            </a:r>
            <a:r>
              <a:rPr sz="1050" dirty="0" err="1">
                <a:solidFill>
                  <a:srgbClr val="5F666E"/>
                </a:solidFill>
                <a:latin typeface="Consolas"/>
              </a:rPr>
              <a:t>Формуємо</a:t>
            </a:r>
            <a:r>
              <a:rPr sz="1050" dirty="0">
                <a:solidFill>
                  <a:srgbClr val="5F666E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5F666E"/>
                </a:solidFill>
                <a:latin typeface="Consolas"/>
              </a:rPr>
              <a:t>збагачений</a:t>
            </a:r>
            <a:r>
              <a:rPr sz="1050" dirty="0">
                <a:solidFill>
                  <a:srgbClr val="5F666E"/>
                </a:solidFill>
                <a:latin typeface="Consolas"/>
              </a:rPr>
              <a:t> JSON-</a:t>
            </a:r>
            <a:r>
              <a:rPr sz="1050" dirty="0" err="1">
                <a:solidFill>
                  <a:srgbClr val="5F666E"/>
                </a:solidFill>
                <a:latin typeface="Consolas"/>
              </a:rPr>
              <a:t>конверт</a:t>
            </a:r>
            <a:r>
              <a:rPr sz="1050" dirty="0">
                <a:solidFill>
                  <a:srgbClr val="5F666E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5F666E"/>
                </a:solidFill>
                <a:latin typeface="Consolas"/>
              </a:rPr>
              <a:t>із</a:t>
            </a:r>
            <a:r>
              <a:rPr sz="1050" dirty="0">
                <a:solidFill>
                  <a:srgbClr val="5F666E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5F666E"/>
                </a:solidFill>
                <a:latin typeface="Consolas"/>
              </a:rPr>
              <a:t>метриками</a:t>
            </a:r>
            <a:r>
              <a:rPr sz="1050" dirty="0">
                <a:solidFill>
                  <a:srgbClr val="5F666E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050" dirty="0">
                <a:solidFill>
                  <a:srgbClr val="2D3238"/>
                </a:solidFill>
                <a:latin typeface="Consolas"/>
              </a:rPr>
              <a:t>var payload = new {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111418"/>
                </a:solidFill>
                <a:latin typeface="Consolas"/>
              </a:rPr>
              <a:t>    </a:t>
            </a:r>
            <a:r>
              <a:rPr sz="1050" b="1" dirty="0" err="1">
                <a:solidFill>
                  <a:srgbClr val="111418"/>
                </a:solidFill>
                <a:latin typeface="Consolas"/>
              </a:rPr>
              <a:t>gatewayEngine</a:t>
            </a:r>
            <a:r>
              <a:rPr sz="1050" b="1" dirty="0">
                <a:solidFill>
                  <a:srgbClr val="111418"/>
                </a:solidFill>
                <a:latin typeface="Consolas"/>
              </a:rPr>
              <a:t> = "Ocelot </a:t>
            </a:r>
            <a:r>
              <a:rPr sz="1050" b="1" dirty="0" err="1">
                <a:solidFill>
                  <a:srgbClr val="111418"/>
                </a:solidFill>
                <a:latin typeface="Consolas"/>
              </a:rPr>
              <a:t>IDefinedAggregator</a:t>
            </a:r>
            <a:r>
              <a:rPr sz="1050" b="1" dirty="0">
                <a:solidFill>
                  <a:srgbClr val="111418"/>
                </a:solidFill>
                <a:latin typeface="Consolas"/>
              </a:rPr>
              <a:t>",</a:t>
            </a:r>
          </a:p>
          <a:p>
            <a:pPr>
              <a:spcAft>
                <a:spcPts val="200"/>
              </a:spcAft>
            </a:pPr>
            <a:r>
              <a:rPr sz="1050" dirty="0">
                <a:solidFill>
                  <a:srgbClr val="2D3238"/>
                </a:solidFill>
                <a:latin typeface="Consolas"/>
              </a:rPr>
              <a:t>    </a:t>
            </a:r>
            <a:r>
              <a:rPr sz="1050" dirty="0" err="1">
                <a:solidFill>
                  <a:srgbClr val="2D3238"/>
                </a:solidFill>
                <a:latin typeface="Consolas"/>
              </a:rPr>
              <a:t>isDegraded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 = </a:t>
            </a:r>
            <a:r>
              <a:rPr sz="1050" dirty="0" err="1">
                <a:solidFill>
                  <a:srgbClr val="2D3238"/>
                </a:solidFill>
                <a:latin typeface="Consolas"/>
              </a:rPr>
              <a:t>isBlogDegraded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,</a:t>
            </a:r>
          </a:p>
          <a:p>
            <a:pPr>
              <a:spcAft>
                <a:spcPts val="200"/>
              </a:spcAft>
            </a:pPr>
            <a:r>
              <a:rPr sz="1050" dirty="0">
                <a:solidFill>
                  <a:srgbClr val="2D3238"/>
                </a:solidFill>
                <a:latin typeface="Consolas"/>
              </a:rPr>
              <a:t>    </a:t>
            </a:r>
            <a:r>
              <a:rPr sz="1050" dirty="0" err="1">
                <a:solidFill>
                  <a:srgbClr val="2D3238"/>
                </a:solidFill>
                <a:latin typeface="Consolas"/>
              </a:rPr>
              <a:t>aggregationStatus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 = </a:t>
            </a:r>
            <a:r>
              <a:rPr sz="1050" dirty="0" err="1">
                <a:solidFill>
                  <a:srgbClr val="2D3238"/>
                </a:solidFill>
                <a:latin typeface="Consolas"/>
              </a:rPr>
              <a:t>isBlogDegraded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 ? "Partial (Degraded)" : "Complete",</a:t>
            </a:r>
          </a:p>
          <a:p>
            <a:pPr>
              <a:spcAft>
                <a:spcPts val="200"/>
              </a:spcAft>
            </a:pPr>
            <a:r>
              <a:rPr sz="1050" dirty="0">
                <a:solidFill>
                  <a:srgbClr val="2D3238"/>
                </a:solidFill>
                <a:latin typeface="Consolas"/>
              </a:rPr>
              <a:t>    metrics = new { </a:t>
            </a:r>
            <a:r>
              <a:rPr sz="1050" dirty="0" err="1">
                <a:solidFill>
                  <a:srgbClr val="2D3238"/>
                </a:solidFill>
                <a:latin typeface="Consolas"/>
              </a:rPr>
              <a:t>totalActiveDeliveries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 = </a:t>
            </a:r>
            <a:r>
              <a:rPr sz="1050" dirty="0" err="1">
                <a:solidFill>
                  <a:srgbClr val="2D3238"/>
                </a:solidFill>
                <a:latin typeface="Consolas"/>
              </a:rPr>
              <a:t>delivCount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, </a:t>
            </a:r>
            <a:r>
              <a:rPr sz="1050" dirty="0" err="1">
                <a:solidFill>
                  <a:srgbClr val="2D3238"/>
                </a:solidFill>
                <a:latin typeface="Consolas"/>
              </a:rPr>
              <a:t>totalBlogNotes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 = </a:t>
            </a:r>
            <a:r>
              <a:rPr sz="1050" dirty="0" err="1">
                <a:solidFill>
                  <a:srgbClr val="2D3238"/>
                </a:solidFill>
                <a:latin typeface="Consolas"/>
              </a:rPr>
              <a:t>blogCount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 },</a:t>
            </a:r>
          </a:p>
          <a:p>
            <a:pPr>
              <a:spcAft>
                <a:spcPts val="200"/>
              </a:spcAft>
            </a:pPr>
            <a:r>
              <a:rPr sz="1050" dirty="0">
                <a:solidFill>
                  <a:srgbClr val="2D3238"/>
                </a:solidFill>
                <a:latin typeface="Consolas"/>
              </a:rPr>
              <a:t>    driver = </a:t>
            </a:r>
            <a:r>
              <a:rPr sz="1050" dirty="0" err="1">
                <a:solidFill>
                  <a:srgbClr val="2D3238"/>
                </a:solidFill>
                <a:latin typeface="Consolas"/>
              </a:rPr>
              <a:t>driverElement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, </a:t>
            </a:r>
            <a:r>
              <a:rPr sz="1050" dirty="0" err="1">
                <a:solidFill>
                  <a:srgbClr val="2D3238"/>
                </a:solidFill>
                <a:latin typeface="Consolas"/>
              </a:rPr>
              <a:t>activeDeliveries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 = </a:t>
            </a:r>
            <a:r>
              <a:rPr sz="1050" dirty="0" err="1">
                <a:solidFill>
                  <a:srgbClr val="2D3238"/>
                </a:solidFill>
                <a:latin typeface="Consolas"/>
              </a:rPr>
              <a:t>deliveriesElement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,</a:t>
            </a:r>
          </a:p>
          <a:p>
            <a:pPr>
              <a:spcAft>
                <a:spcPts val="200"/>
              </a:spcAft>
            </a:pPr>
            <a:r>
              <a:rPr sz="1050" dirty="0">
                <a:solidFill>
                  <a:srgbClr val="2D3238"/>
                </a:solidFill>
                <a:latin typeface="Consolas"/>
              </a:rPr>
              <a:t>    </a:t>
            </a:r>
            <a:r>
              <a:rPr sz="1050" dirty="0" err="1">
                <a:solidFill>
                  <a:srgbClr val="2D3238"/>
                </a:solidFill>
                <a:latin typeface="Consolas"/>
              </a:rPr>
              <a:t>blogNotes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 = !</a:t>
            </a:r>
            <a:r>
              <a:rPr sz="1050" dirty="0" err="1">
                <a:solidFill>
                  <a:srgbClr val="2D3238"/>
                </a:solidFill>
                <a:latin typeface="Consolas"/>
              </a:rPr>
              <a:t>isBlogDegraded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 ? </a:t>
            </a:r>
            <a:r>
              <a:rPr sz="1050" dirty="0" err="1">
                <a:solidFill>
                  <a:srgbClr val="2D3238"/>
                </a:solidFill>
                <a:latin typeface="Consolas"/>
              </a:rPr>
              <a:t>blogElement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 : (object)</a:t>
            </a:r>
            <a:r>
              <a:rPr sz="1050" dirty="0" err="1">
                <a:solidFill>
                  <a:srgbClr val="2D3238"/>
                </a:solidFill>
                <a:latin typeface="Consolas"/>
              </a:rPr>
              <a:t>Array.Empty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&lt;object&gt;()</a:t>
            </a:r>
          </a:p>
          <a:p>
            <a:pPr>
              <a:spcAft>
                <a:spcPts val="200"/>
              </a:spcAft>
            </a:pPr>
            <a:r>
              <a:rPr sz="1050" dirty="0">
                <a:solidFill>
                  <a:srgbClr val="2D3238"/>
                </a:solidFill>
                <a:latin typeface="Consolas"/>
              </a:rPr>
              <a:t>};</a:t>
            </a:r>
          </a:p>
          <a:p>
            <a:pPr>
              <a:spcAft>
                <a:spcPts val="200"/>
              </a:spcAft>
            </a:pPr>
            <a:r>
              <a:rPr sz="1050" dirty="0">
                <a:solidFill>
                  <a:srgbClr val="2D3238"/>
                </a:solidFill>
                <a:latin typeface="Consolas"/>
              </a:rPr>
              <a:t>return </a:t>
            </a:r>
            <a:r>
              <a:rPr sz="1050" dirty="0" err="1">
                <a:solidFill>
                  <a:srgbClr val="2D3238"/>
                </a:solidFill>
                <a:latin typeface="Consolas"/>
              </a:rPr>
              <a:t>CreateJsonResponse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(</a:t>
            </a:r>
            <a:r>
              <a:rPr sz="1050" dirty="0" err="1">
                <a:solidFill>
                  <a:srgbClr val="2D3238"/>
                </a:solidFill>
                <a:latin typeface="Consolas"/>
              </a:rPr>
              <a:t>JsonSerializer.Serialize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(payload), </a:t>
            </a:r>
            <a:r>
              <a:rPr sz="1050" dirty="0" err="1">
                <a:solidFill>
                  <a:srgbClr val="2D3238"/>
                </a:solidFill>
                <a:latin typeface="Consolas"/>
              </a:rPr>
              <a:t>HttpStatusCode.OK</a:t>
            </a:r>
            <a:r>
              <a:rPr sz="1050" dirty="0">
                <a:solidFill>
                  <a:srgbClr val="2D3238"/>
                </a:solidFill>
                <a:latin typeface="Consolas"/>
              </a:rPr>
              <a:t>);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0" y="1225296"/>
            <a:ext cx="4462272" cy="4864608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28016" rtlCol="0" anchor="t"/>
          <a:lstStyle/>
          <a:p>
            <a:pPr algn="ctr">
              <a:spcAft>
                <a:spcPts val="700"/>
              </a:spcAft>
              <a:defRPr sz="1600" b="1">
                <a:solidFill>
                  <a:srgbClr val="111418"/>
                </a:solidFill>
                <a:latin typeface="Segoe UI"/>
              </a:defRPr>
            </a:pPr>
            <a:r>
              <a:t>Пояснення логіки злиття (Fan-In)</a:t>
            </a:r>
          </a:p>
          <a:p>
            <a:pPr>
              <a:spcAft>
                <a:spcPts val="800"/>
              </a:spcAft>
            </a:pPr>
            <a:r>
              <a:rPr sz="1360" b="1">
                <a:solidFill>
                  <a:srgbClr val="111418"/>
                </a:solidFill>
                <a:latin typeface="Segoe UI"/>
              </a:rPr>
              <a:t>1. Ізоляція падіння блогу:
</a:t>
            </a:r>
            <a:r>
              <a:rPr sz="1360" b="0">
                <a:solidFill>
                  <a:srgbClr val="2D3238"/>
                </a:solidFill>
                <a:latin typeface="Segoe UI"/>
              </a:rPr>
              <a:t>якщо DriversBlogManagement (:5002) вимкнений або повернув 500, агрегатор не викидає помилку, а виставляє прапорець isDegraded = true і повертає порожній масив нотаток [].</a:t>
            </a:r>
          </a:p>
          <a:p>
            <a:pPr>
              <a:spcAft>
                <a:spcPts val="800"/>
              </a:spcAft>
            </a:pPr>
            <a:r>
              <a:rPr sz="1360" b="1">
                <a:solidFill>
                  <a:srgbClr val="111418"/>
                </a:solidFill>
                <a:latin typeface="Segoe UI"/>
              </a:rPr>
              <a:t>2. Обчислення агрегованих метрик:
</a:t>
            </a:r>
            <a:r>
              <a:rPr sz="1360" b="0">
                <a:solidFill>
                  <a:srgbClr val="2D3238"/>
                </a:solidFill>
                <a:latin typeface="Segoe UI"/>
              </a:rPr>
              <a:t>на льоту підраховується кількість активних доставок (totalActiveDeliveries) та нотаток (totalBlogNotes), щоб клієнтському UI не потрібно було рахувати їх вручну.</a:t>
            </a:r>
          </a:p>
          <a:p>
            <a:pPr>
              <a:spcAft>
                <a:spcPts val="400"/>
              </a:spcAft>
            </a:pPr>
            <a:r>
              <a:rPr sz="1360" b="1">
                <a:solidFill>
                  <a:srgbClr val="111418"/>
                </a:solidFill>
                <a:latin typeface="Segoe UI"/>
              </a:rPr>
              <a:t>3. Діагностичний заголовок:
</a:t>
            </a:r>
            <a:r>
              <a:rPr sz="1360" b="0">
                <a:solidFill>
                  <a:srgbClr val="2D3238"/>
                </a:solidFill>
                <a:latin typeface="Segoe UI"/>
              </a:rPr>
              <a:t>метод CreateJsonResponse додає заголовок X-Aggregated-By: Ocelot-DriverSummaryDefinedAggregator.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217920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254496"/>
            <a:ext cx="9555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5F666E"/>
                </a:solidFill>
                <a:latin typeface="Segoe UI"/>
              </a:rPr>
              <a:t>Вихідний код: 02-Microservices-Craftsman/CargoDelivery.ApiGateway/Aggregators/DriverSummaryDefinedAggregator.cs#L115-L175</a:t>
            </a:r>
          </a:p>
          <a:p>
            <a:r>
              <a:rPr sz="1000" b="1">
                <a:solidFill>
                  <a:srgbClr val="2D3238"/>
                </a:solidFill>
                <a:latin typeface="Segoe UI"/>
              </a:rPr>
              <a:t>Офіційна документація: </a:t>
            </a:r>
            <a:r>
              <a:rPr sz="1000" b="1">
                <a:solidFill>
                  <a:srgbClr val="111418"/>
                </a:solidFill>
                <a:latin typeface="Segoe UI"/>
                <a:hlinkClick r:id="rId2"/>
              </a:rPr>
              <a:t>https://ocelot.readthedocs.io/en/latest/features/aggregation.html#custom-aggregators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327648"/>
            <a:ext cx="1536192" cy="347472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50" b="1">
                <a:solidFill>
                  <a:srgbClr val="111418"/>
                </a:solidFill>
                <a:latin typeface="Segoe UI"/>
              </a:defRPr>
            </a:pPr>
            <a:r>
              <a:t>Слайд 14 з 36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11183112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ЧАСТИНА 1. ПОРІВНЯННЯ ТРЬОХ СПОСОБІВ АГРЕГАЦІЇ В ПРОЄКТІ</a:t>
            </a:r>
          </a:p>
          <a:p>
            <a:pPr>
              <a:defRPr sz="2300" b="1">
                <a:solidFill>
                  <a:srgbClr val="111418"/>
                </a:solidFill>
                <a:latin typeface="Segoe UI"/>
              </a:defRPr>
            </a:pPr>
            <a:r>
              <a:t>Декларативний Ocelot проти Ocelot IDefinedAggregator проти Виділеного HttpAggregator</a:t>
            </a:r>
          </a:p>
          <a:p>
            <a:pPr>
              <a:defRPr sz="1280">
                <a:solidFill>
                  <a:srgbClr val="5F666E"/>
                </a:solidFill>
                <a:latin typeface="Segoe UI"/>
              </a:defRPr>
            </a:pPr>
            <a:r>
              <a:t>У нашому репозиторії реалізовано всі три підходи — порівняємо їхні інженерні можливості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25296"/>
          <a:ext cx="11183112" cy="4864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4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8076">
                <a:tc>
                  <a:txBody>
                    <a:bodyPr/>
                    <a:lstStyle/>
                    <a:p>
                      <a:pPr>
                        <a:defRPr sz="123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Критерій</a:t>
                      </a:r>
                    </a:p>
                  </a:txBody>
                  <a:tcPr marL="100584" marR="100584" anchor="ctr"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3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1. Ocelot Declarative Aggregates</a:t>
                      </a:r>
                    </a:p>
                  </a:txBody>
                  <a:tcPr marL="100584" marR="100584" anchor="ctr"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3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2. Ocelot IDefinedAggregator</a:t>
                      </a:r>
                    </a:p>
                  </a:txBody>
                  <a:tcPr marL="100584" marR="100584" anchor="ctr"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3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3. Виділений CargoDelivery.HttpAggregator</a:t>
                      </a:r>
                    </a:p>
                  </a:txBody>
                  <a:tcPr marL="100584" marR="100584" anchor="ctr">
                    <a:solidFill>
                      <a:srgbClr val="DCE0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076">
                <a:tc>
                  <a:txBody>
                    <a:bodyPr/>
                    <a:lstStyle/>
                    <a:p>
                      <a:pPr>
                        <a:defRPr sz="118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Ендпоінт у проєкті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GET :5000/gateway/ocelot-aggregate/{id}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GET :5000/gateway/custom-aggregate/{id}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GET :57390/api/v1/shipment-summary/{id}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076">
                <a:tc>
                  <a:txBody>
                    <a:bodyPr/>
                    <a:lstStyle/>
                    <a:p>
                      <a:pPr>
                        <a:defRPr sz="118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Де описана логіка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Лише у файлі ocelot.json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ocelot.json + DriverSummaryDefinedAggregator.cs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ShipmentAggregatorService.cs + Typed Clients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076">
                <a:tc>
                  <a:txBody>
                    <a:bodyPr/>
                    <a:lstStyle/>
                    <a:p>
                      <a:pPr>
                        <a:defRPr sz="118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Послідовний Guard Check водія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Ні (завжди б'є по всіх 3 сервісах одразу)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Ні (всі 3 запити летять одночасно)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Так! Якщо водій 404 — інші сервіси НЕ смикаються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8076">
                <a:tc>
                  <a:txBody>
                    <a:bodyPr/>
                    <a:lstStyle/>
                    <a:p>
                      <a:pPr>
                        <a:defRPr sz="118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Строга типізація C# DTO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Ні (склеювання сирих рядків JSON)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Часткова (робота з HttpContext / JsonElement)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Повна (AggregatedDriverDto, ShipmentSummaryDto)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8076">
                <a:tc>
                  <a:txBody>
                    <a:bodyPr/>
                    <a:lstStyle/>
                    <a:p>
                      <a:pPr>
                        <a:defRPr sz="118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Індивідуальні бюджети Polly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Обмежені глобальним QoS маршруту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Обмежені конвеєром Ocelot Requester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Повні: 30 с для критичних, 3 с для м'яких (Blog)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8076">
                <a:tc>
                  <a:txBody>
                    <a:bodyPr/>
                    <a:lstStyle/>
                    <a:p>
                      <a:pPr>
                        <a:defRPr sz="118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Покриття Unit-тестами (xUnit)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Неможливо протестувати без підняття хоста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Складно (потрібно мокати List&lt;HttpContext&gt;)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Ідеально (ShipmentAggregatorServiceTests з Moq)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8076">
                <a:tc>
                  <a:txBody>
                    <a:bodyPr/>
                    <a:lstStyle/>
                    <a:p>
                      <a:pPr>
                        <a:defRPr sz="118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Коли використовувати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Просте склеювання 2–3 незалежних JSON для UI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Легка трансформація відповіді прямо на шлюзі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Складна бізнес-агрегація з правилами та деградацією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02920" y="6217920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254496"/>
            <a:ext cx="9555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5F666E"/>
                </a:solidFill>
                <a:latin typeface="Segoe UI"/>
              </a:rPr>
              <a:t>Порівняння реалізацій у CargoDelivery.ApiGateway (:5000) та CargoDelivery.HttpAggregator (:57390)</a:t>
            </a:r>
          </a:p>
          <a:p>
            <a:r>
              <a:rPr sz="1000" b="1">
                <a:solidFill>
                  <a:srgbClr val="2D3238"/>
                </a:solidFill>
                <a:latin typeface="Segoe UI"/>
              </a:rPr>
              <a:t>Офіційна документація: </a:t>
            </a:r>
            <a:r>
              <a:rPr sz="1000" b="1">
                <a:solidFill>
                  <a:srgbClr val="111418"/>
                </a:solidFill>
                <a:latin typeface="Segoe UI"/>
                <a:hlinkClick r:id="rId2"/>
              </a:rPr>
              <a:t>https://learn.microsoft.com/en-us/azure/architecture/patterns/gateway-aggregation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27648"/>
            <a:ext cx="1536192" cy="347472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50" b="1">
                <a:solidFill>
                  <a:srgbClr val="111418"/>
                </a:solidFill>
                <a:latin typeface="Segoe UI"/>
              </a:defRPr>
            </a:pPr>
            <a:r>
              <a:t>Слайд 15 з 36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11183112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ЧАСТИНА 1. ОРКЕСТРАЦІЯ ШЛЮЗУ В .NET 10 ASPIRE</a:t>
            </a:r>
          </a:p>
          <a:p>
            <a:pPr>
              <a:defRPr sz="2300" b="1">
                <a:solidFill>
                  <a:srgbClr val="111418"/>
                </a:solidFill>
                <a:latin typeface="Segoe UI"/>
              </a:defRPr>
            </a:pPr>
            <a:r>
              <a:t>Трирівнева ієрархія шлюзів та реєстрація CargoDelivery.ApiGateway в AppHost.cs</a:t>
            </a:r>
          </a:p>
          <a:p>
            <a:pPr>
              <a:defRPr sz="1280">
                <a:solidFill>
                  <a:srgbClr val="5F666E"/>
                </a:solidFill>
                <a:latin typeface="Segoe UI"/>
              </a:defRPr>
            </a:pPr>
            <a:r>
              <a:t>Шлях: 02-Microservices-Craftsman/Aspire/CargoDelivery.AppHost/AppHost.cs#L116-L143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ag_05_three_t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11183112" cy="363451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4773168"/>
            <a:ext cx="11183112" cy="1325880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28016" rtlCol="0" anchor="t"/>
          <a:lstStyle/>
          <a:p>
            <a:pPr algn="ctr">
              <a:spcAft>
                <a:spcPts val="700"/>
              </a:spcAft>
              <a:defRPr sz="1600" b="1">
                <a:solidFill>
                  <a:srgbClr val="111418"/>
                </a:solidFill>
                <a:latin typeface="Segoe UI"/>
              </a:defRPr>
            </a:pPr>
            <a:r>
              <a:t>Як .NET 10 Aspire координує запуск шлюзу та агрегатора (AppHost.cs)</a:t>
            </a:r>
          </a:p>
          <a:p>
            <a:pPr>
              <a:spcAft>
                <a:spcPts val="300"/>
              </a:spcAft>
            </a:pPr>
            <a:r>
              <a:rPr sz="1380" b="1">
                <a:solidFill>
                  <a:srgbClr val="111418"/>
                </a:solidFill>
                <a:latin typeface="Segoe UI"/>
              </a:rPr>
              <a:t>• Метод .WithReference(...): </a:t>
            </a:r>
            <a:r>
              <a:rPr sz="1380" b="0">
                <a:solidFill>
                  <a:srgbClr val="2D3238"/>
                </a:solidFill>
                <a:latin typeface="Segoe UI"/>
              </a:rPr>
              <a:t>автоматично передає адреси мікросервісів (driversApi, cargoApi, blogApi, httpAggregator) у змінні оточення шлюзу.</a:t>
            </a:r>
          </a:p>
          <a:p>
            <a:pPr>
              <a:spcAft>
                <a:spcPts val="200"/>
              </a:spcAft>
            </a:pPr>
            <a:r>
              <a:rPr sz="1380" b="1">
                <a:solidFill>
                  <a:srgbClr val="111418"/>
                </a:solidFill>
                <a:latin typeface="Segoe UI"/>
              </a:rPr>
              <a:t>• Метод .WaitFor(...): </a:t>
            </a:r>
            <a:r>
              <a:rPr sz="1380" b="0">
                <a:solidFill>
                  <a:srgbClr val="2D3238"/>
                </a:solidFill>
                <a:latin typeface="Segoe UI"/>
              </a:rPr>
              <a:t>гарантує, що Ocelot API Gateway (:5000) стартує лише після того, як усі внутрішні мікросервіси пройдуть перевірку /health.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217920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254496"/>
            <a:ext cx="9555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5F666E"/>
                </a:solidFill>
                <a:latin typeface="Segoe UI"/>
              </a:rPr>
              <a:t>Файл оркестратора: 02-Microservices-Craftsman/Aspire/CargoDelivery.AppHost/AppHost.cs#L116-L143</a:t>
            </a:r>
          </a:p>
          <a:p>
            <a:r>
              <a:rPr sz="1000" b="1">
                <a:solidFill>
                  <a:srgbClr val="2D3238"/>
                </a:solidFill>
                <a:latin typeface="Segoe UI"/>
              </a:rPr>
              <a:t>Офіційна документація: </a:t>
            </a:r>
            <a:r>
              <a:rPr sz="1000" b="1">
                <a:solidFill>
                  <a:srgbClr val="111418"/>
                </a:solidFill>
                <a:latin typeface="Segoe UI"/>
                <a:hlinkClick r:id="rId3"/>
              </a:rPr>
              <a:t>https://learn.microsoft.com/en-us/dotnet/aspire/get-started/aspire-overview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327648"/>
            <a:ext cx="1536192" cy="347472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50" b="1">
                <a:solidFill>
                  <a:srgbClr val="111418"/>
                </a:solidFill>
                <a:latin typeface="Segoe UI"/>
              </a:defRPr>
            </a:pPr>
            <a:r>
              <a:t>Слайд 16 з 36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11183112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ЧАСТИНА 1. КОД РЕЄСТРАЦІЇ В APPHOST.CS ТА ТЕСТУВАННЯ OCELOT У .HTTP</a:t>
            </a:r>
          </a:p>
          <a:p>
            <a:pPr>
              <a:defRPr sz="2300" b="1">
                <a:solidFill>
                  <a:srgbClr val="111418"/>
                </a:solidFill>
                <a:latin typeface="Segoe UI"/>
              </a:defRPr>
            </a:pPr>
            <a:r>
              <a:t>Як запустити та протестувати всі маршрути CargoDelivery.ApiGateway (:5000)</a:t>
            </a:r>
          </a:p>
          <a:p>
            <a:pPr>
              <a:defRPr sz="1280">
                <a:solidFill>
                  <a:srgbClr val="5F666E"/>
                </a:solidFill>
                <a:latin typeface="Segoe UI"/>
              </a:defRPr>
            </a:pPr>
            <a:r>
              <a:t>Файли: Aspire/CargoDelivery.AppHost/AppHost.cs та CargoDelivery.HttpAggregator.http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5577840" cy="3337560"/>
          </a:xfrm>
          <a:prstGeom prst="rect">
            <a:avLst/>
          </a:prstGeom>
          <a:solidFill>
            <a:srgbClr val="EBEDF0"/>
          </a:solidFill>
          <a:ln w="15240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64592" bIns="109728" rtlCol="0" anchor="t"/>
          <a:lstStyle/>
          <a:p>
            <a:pPr algn="ctr">
              <a:spcAft>
                <a:spcPts val="600"/>
              </a:spcAft>
              <a:defRPr sz="1320" b="1">
                <a:solidFill>
                  <a:srgbClr val="111418"/>
                </a:solidFill>
                <a:latin typeface="Segoe UI"/>
              </a:defRPr>
            </a:pPr>
            <a:r>
              <a:t>Файл: CargoDelivery.AppHost/AppHost.cs (рядки 116–143)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F666E"/>
                </a:solidFill>
                <a:latin typeface="Consolas"/>
              </a:rPr>
              <a:t>// Aspire/CargoDelivery.AppHost/AppHost.cs (#L116–143):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111418"/>
                </a:solidFill>
                <a:latin typeface="Consolas"/>
              </a:rPr>
              <a:t>var httpAggregator = builder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111418"/>
                </a:solidFill>
                <a:latin typeface="Consolas"/>
              </a:rPr>
              <a:t>    .AddProject&lt;Projects.CargoDelivery_HttpAggregator&gt;("httpaggregator")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    .WithReference(driversApi).WithReference(cargoApi).WithReference(blogApi)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    .WithHttpHealthCheck("/health")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    .WaitFor(driversApi).WaitFor(cargoApi).WaitFor(blogApi);</a:t>
            </a:r>
          </a:p>
          <a:p>
            <a:pPr>
              <a:spcAft>
                <a:spcPts val="200"/>
              </a:spcAft>
            </a:pPr>
            <a:endParaRPr sz="110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var apiGateway = builder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    .AddProject&lt;Projects.CargoDelivery_ApiGateway&gt;("apigateway")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    .WithReference(driversApi).WithReference(cargoApi)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111418"/>
                </a:solidFill>
                <a:latin typeface="Consolas"/>
              </a:rPr>
              <a:t>    .WithReference(blogApi).WithReference(httpAggregator)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111418"/>
                </a:solidFill>
                <a:latin typeface="Consolas"/>
              </a:rPr>
              <a:t>    .WithHttpHealthCheck("/health").WaitFor(httpAggregator);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3640" y="1225296"/>
            <a:ext cx="5422392" cy="3337560"/>
          </a:xfrm>
          <a:prstGeom prst="rect">
            <a:avLst/>
          </a:prstGeom>
          <a:solidFill>
            <a:srgbClr val="EBEDF0"/>
          </a:solidFill>
          <a:ln w="15240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64592" bIns="109728" rtlCol="0" anchor="t"/>
          <a:lstStyle/>
          <a:p>
            <a:pPr algn="ctr">
              <a:spcAft>
                <a:spcPts val="600"/>
              </a:spcAft>
              <a:defRPr sz="1320" b="1">
                <a:solidFill>
                  <a:srgbClr val="111418"/>
                </a:solidFill>
                <a:latin typeface="Segoe UI"/>
              </a:defRPr>
            </a:pPr>
            <a:r>
              <a:t>Файл: CargoDelivery.HttpAggregator.http (рядки 88–103)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F666E"/>
                </a:solidFill>
                <a:latin typeface="Consolas"/>
              </a:rPr>
              <a:t>### CargoDelivery.HttpAggregator.http (рядки 88–103):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@gateway = https://localhost:5000</a:t>
            </a:r>
          </a:p>
          <a:p>
            <a:pPr>
              <a:spcAft>
                <a:spcPts val="200"/>
              </a:spcAft>
            </a:pPr>
            <a:endParaRPr sz="110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F666E"/>
                </a:solidFill>
                <a:latin typeface="Consolas"/>
              </a:rPr>
              <a:t>### 1. Карта всіх маршрутів шлюзу Ocelot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GET {{gateway}}/api/gateway/routes</a:t>
            </a:r>
          </a:p>
          <a:p>
            <a:pPr>
              <a:spcAft>
                <a:spcPts val="200"/>
              </a:spcAft>
            </a:pPr>
            <a:endParaRPr sz="110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F666E"/>
                </a:solidFill>
                <a:latin typeface="Consolas"/>
              </a:rPr>
              <a:t>### 2. Reverse Proxy -&gt; DriversManagement (:5001)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GET {{gateway}}/gateway/drivers/{{driverId}}</a:t>
            </a:r>
          </a:p>
          <a:p>
            <a:pPr>
              <a:spcAft>
                <a:spcPts val="200"/>
              </a:spcAft>
            </a:pPr>
            <a:endParaRPr sz="110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F666E"/>
                </a:solidFill>
                <a:latin typeface="Consolas"/>
              </a:rPr>
              <a:t>### 3. Декларативна JSON-агрегація Ocelot (без C# коду)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GET {{gateway}}/gateway/ocelot-aggregate/{{driverId}}</a:t>
            </a:r>
          </a:p>
          <a:p>
            <a:pPr>
              <a:spcAft>
                <a:spcPts val="200"/>
              </a:spcAft>
            </a:pPr>
            <a:endParaRPr sz="110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F666E"/>
                </a:solidFill>
                <a:latin typeface="Consolas"/>
              </a:rPr>
              <a:t>### 4. Кастомна агрегація DriverSummaryDefinedAggregator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GET {{gateway}}/gateway/custom-aggregate/{{driverId}}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663440"/>
            <a:ext cx="11183112" cy="1426464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28016" rtlCol="0" anchor="t"/>
          <a:lstStyle/>
          <a:p>
            <a:pPr algn="ctr">
              <a:spcAft>
                <a:spcPts val="700"/>
              </a:spcAft>
              <a:defRPr sz="1600" b="1">
                <a:solidFill>
                  <a:srgbClr val="111418"/>
                </a:solidFill>
                <a:latin typeface="Segoe UI"/>
              </a:defRPr>
            </a:pPr>
            <a:r>
              <a:t>Пояснення: що перевіряє кожен тестовий запит до шлюзу (:5000)</a:t>
            </a:r>
          </a:p>
          <a:p>
            <a:pPr>
              <a:spcAft>
                <a:spcPts val="300"/>
              </a:spcAft>
            </a:pPr>
            <a:r>
              <a:rPr sz="1360" b="1">
                <a:solidFill>
                  <a:srgbClr val="111418"/>
                </a:solidFill>
                <a:latin typeface="Segoe UI"/>
              </a:rPr>
              <a:t>• Запит #1 (/api/gateway/routes): </a:t>
            </a:r>
            <a:r>
              <a:rPr sz="1360" b="0">
                <a:solidFill>
                  <a:srgbClr val="2D3238"/>
                </a:solidFill>
                <a:latin typeface="Segoe UI"/>
              </a:rPr>
              <a:t>викликає власний контролер GatewayInfoController і повертає інтерактивну JSON-карту всіх маршрутів проксіювання та агрегації.</a:t>
            </a:r>
          </a:p>
          <a:p>
            <a:pPr>
              <a:spcAft>
                <a:spcPts val="200"/>
              </a:spcAft>
            </a:pPr>
            <a:r>
              <a:rPr sz="1360" b="1">
                <a:solidFill>
                  <a:srgbClr val="111418"/>
                </a:solidFill>
                <a:latin typeface="Segoe UI"/>
              </a:rPr>
              <a:t>• Запити #2–#4 (/gateway/*): </a:t>
            </a:r>
            <a:r>
              <a:rPr sz="1360" b="0">
                <a:solidFill>
                  <a:srgbClr val="2D3238"/>
                </a:solidFill>
                <a:latin typeface="Segoe UI"/>
              </a:rPr>
              <a:t>демонструють прозоре проксіювання із заголовком X-Forwarded-By, декларативну склейку 3 сервісів та роботу C#-класу DriverSummaryDefinedAggregator.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17920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254496"/>
            <a:ext cx="9555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5F666E"/>
                </a:solidFill>
                <a:latin typeface="Segoe UI"/>
              </a:rPr>
              <a:t>Тестові запити: 02-Microservices-Craftsman/CargoDelivery.HttpAggregator/CargoDelivery.HttpAggregator.http#L88-L103</a:t>
            </a:r>
          </a:p>
          <a:p>
            <a:r>
              <a:rPr sz="1000" b="1">
                <a:solidFill>
                  <a:srgbClr val="2D3238"/>
                </a:solidFill>
                <a:latin typeface="Segoe UI"/>
              </a:rPr>
              <a:t>Офіційна документація: </a:t>
            </a:r>
            <a:r>
              <a:rPr sz="1000" b="1">
                <a:solidFill>
                  <a:srgbClr val="111418"/>
                </a:solidFill>
                <a:latin typeface="Segoe UI"/>
                <a:hlinkClick r:id="rId2"/>
              </a:rPr>
              <a:t>https://ocelot.readthedocs.io/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327648"/>
            <a:ext cx="1536192" cy="347472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50" b="1">
                <a:solidFill>
                  <a:srgbClr val="111418"/>
                </a:solidFill>
                <a:latin typeface="Segoe UI"/>
              </a:defRPr>
            </a:pPr>
            <a:r>
              <a:t>Слайд 17 з 36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0292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5F666E"/>
                </a:solidFill>
                <a:latin typeface="Segoe UI"/>
              </a:defRPr>
            </a:pPr>
            <a:r>
              <a:t>ЧАСТИНА 2 ПРЕЗЕНТАЦІЇ (СЛАЙДИ 18–36)</a:t>
            </a:r>
          </a:p>
          <a:p>
            <a:pPr>
              <a:spcAft>
                <a:spcPts val="800"/>
              </a:spcAft>
              <a:defRPr sz="3050" b="1">
                <a:solidFill>
                  <a:srgbClr val="111418"/>
                </a:solidFill>
                <a:latin typeface="Segoe UI"/>
              </a:defRPr>
            </a:pPr>
            <a:r>
              <a:t>Патерни HTTP Gateway Aggregator (Scatter-Gather)</a:t>
            </a:r>
            <a:br/>
            <a:r>
              <a:t>та Backend for Frontend (BFF) у CargoDeliveryService</a:t>
            </a:r>
          </a:p>
          <a:p>
            <a:pPr>
              <a:defRPr sz="1500">
                <a:solidFill>
                  <a:srgbClr val="2D3238"/>
                </a:solidFill>
                <a:latin typeface="Segoe UI"/>
              </a:defRPr>
            </a:pPr>
            <a:r>
              <a:t>Поглиблений інженерний розбір проєкту CargoDelivery.HttpAggregator (:57390) та вбудованого BFF у DriversManagement (:5001)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2514600"/>
            <a:ext cx="10972800" cy="27432"/>
          </a:xfrm>
          <a:prstGeom prst="rect">
            <a:avLst/>
          </a:prstGeom>
          <a:solidFill>
            <a:srgbClr val="11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4360" y="2761488"/>
            <a:ext cx="5349240" cy="3246120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28016" rtlCol="0" anchor="t"/>
          <a:lstStyle/>
          <a:p>
            <a:pPr algn="ctr">
              <a:spcAft>
                <a:spcPts val="700"/>
              </a:spcAft>
              <a:defRPr sz="1600" b="1">
                <a:solidFill>
                  <a:srgbClr val="111418"/>
                </a:solidFill>
                <a:latin typeface="Segoe UI"/>
              </a:defRPr>
            </a:pPr>
            <a:r>
              <a:t>1. Виділений CargoDelivery.HttpAggregator (:57390)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11418"/>
                </a:solidFill>
                <a:latin typeface="Segoe UI"/>
              </a:rPr>
              <a:t>• Ендпоінт: </a:t>
            </a:r>
            <a:r>
              <a:rPr sz="1400" b="0">
                <a:solidFill>
                  <a:srgbClr val="2D3238"/>
                </a:solidFill>
                <a:latin typeface="Segoe UI"/>
              </a:rPr>
              <a:t>GET /api/v1/shipment-summary/{driverId}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11418"/>
                </a:solidFill>
                <a:latin typeface="Segoe UI"/>
              </a:rPr>
              <a:t>• Оркестратор: </a:t>
            </a:r>
            <a:r>
              <a:rPr sz="1400" b="0">
                <a:solidFill>
                  <a:srgbClr val="2D3238"/>
                </a:solidFill>
                <a:latin typeface="Segoe UI"/>
              </a:rPr>
              <a:t>ShipmentAggregatorService.cs — спочатку валідує водія (Guard Check), потім паралельно запускає опитування замовлень і блогу.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11418"/>
                </a:solidFill>
                <a:latin typeface="Segoe UI"/>
              </a:rPr>
              <a:t>• Стійкість: </a:t>
            </a:r>
            <a:r>
              <a:rPr sz="1400" b="0">
                <a:solidFill>
                  <a:srgbClr val="2D3238"/>
                </a:solidFill>
                <a:latin typeface="Segoe UI"/>
              </a:rPr>
              <a:t>жорстка залежність від замовлень (503 при збої) та м'яка залежність від блогу (200 OK + isDegraded: true за 2.2 с).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11418"/>
                </a:solidFill>
                <a:latin typeface="Segoe UI"/>
              </a:rPr>
              <a:t>• Лабораторія Polly: </a:t>
            </a:r>
            <a:r>
              <a:rPr sz="1400" b="0">
                <a:solidFill>
                  <a:srgbClr val="2D3238"/>
                </a:solidFill>
                <a:latin typeface="Segoe UI"/>
              </a:rPr>
              <a:t>ResilienceDemoController + SimulationController (/retry, /timeout, /circuit-breaker).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2761488"/>
            <a:ext cx="5349240" cy="3246120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28016" rtlCol="0" anchor="t"/>
          <a:lstStyle/>
          <a:p>
            <a:pPr algn="ctr">
              <a:spcAft>
                <a:spcPts val="700"/>
              </a:spcAft>
              <a:defRPr sz="1600" b="1">
                <a:solidFill>
                  <a:srgbClr val="111418"/>
                </a:solidFill>
                <a:latin typeface="Segoe UI"/>
              </a:defRPr>
            </a:pPr>
            <a:r>
              <a:t>2. Вбудований BFF у DriversManagement (:5001)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11418"/>
                </a:solidFill>
                <a:latin typeface="Segoe UI"/>
              </a:rPr>
              <a:t>• Ендпоінт: </a:t>
            </a:r>
            <a:r>
              <a:rPr sz="1400" b="0">
                <a:solidFill>
                  <a:srgbClr val="2D3238"/>
                </a:solidFill>
                <a:latin typeface="Segoe UI"/>
              </a:rPr>
              <a:t>GET /api/v1/driver-dashboard/{driverId}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11418"/>
                </a:solidFill>
                <a:latin typeface="Segoe UI"/>
              </a:rPr>
              <a:t>• Оркестратор: </a:t>
            </a:r>
            <a:r>
              <a:rPr sz="1400" b="0">
                <a:solidFill>
                  <a:srgbClr val="2D3238"/>
                </a:solidFill>
                <a:latin typeface="Segoe UI"/>
              </a:rPr>
              <a:t>GetDriverDashboard.Handler (MediatR CQRS) — читає водія та вантажівку з локальної БД (:1434) і паралельно опитує 2 сусідні сервіси.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11418"/>
                </a:solidFill>
                <a:latin typeface="Segoe UI"/>
              </a:rPr>
              <a:t>• Патерн Tolerant Reader: </a:t>
            </a:r>
            <a:r>
              <a:rPr sz="1400" b="0">
                <a:solidFill>
                  <a:srgbClr val="2D3238"/>
                </a:solidFill>
                <a:latin typeface="Segoe UI"/>
              </a:rPr>
              <a:t>CargoOrderingApiClient розбирає лише потрібні поля через JsonElement.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11418"/>
                </a:solidFill>
                <a:latin typeface="Segoe UI"/>
              </a:rPr>
              <a:t>• Потокобезпека EF Core: </a:t>
            </a:r>
            <a:r>
              <a:rPr sz="1400" b="0">
                <a:solidFill>
                  <a:srgbClr val="2D3238"/>
                </a:solidFill>
                <a:latin typeface="Segoe UI"/>
              </a:rPr>
              <a:t>чому не можна запускати два паралельні запити на одному екземплярі DbContext.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217920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254496"/>
            <a:ext cx="9555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5F666E"/>
                </a:solidFill>
                <a:latin typeface="Segoe UI"/>
              </a:rPr>
              <a:t>Гайди в репозиторії: 02-01/03_HttpAggregator_Gateway_Architecture_And_Design.md та 02-02/02_Patterns_Synchronous_HttpClient_Aggregator_BFF.md</a:t>
            </a:r>
          </a:p>
          <a:p>
            <a:r>
              <a:rPr sz="1000" b="1">
                <a:solidFill>
                  <a:srgbClr val="2D3238"/>
                </a:solidFill>
                <a:latin typeface="Segoe UI"/>
              </a:rPr>
              <a:t>Офіційна документація: </a:t>
            </a:r>
            <a:r>
              <a:rPr sz="1000" b="1">
                <a:solidFill>
                  <a:srgbClr val="111418"/>
                </a:solidFill>
                <a:latin typeface="Segoe UI"/>
                <a:hlinkClick r:id="rId2"/>
              </a:rPr>
              <a:t>https://www.enterpriseintegrationpatterns.com/patterns/messaging/BroadcastAggregate.html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327648"/>
            <a:ext cx="1536192" cy="347472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50" b="1">
                <a:solidFill>
                  <a:srgbClr val="111418"/>
                </a:solidFill>
                <a:latin typeface="Segoe UI"/>
              </a:defRPr>
            </a:pPr>
            <a:r>
              <a:t>Слайд 18 з 36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11183112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ЧАСТИНА 2. МАТЕМАТИЧНЕ ОБҐРУНТУВАННЯ ПАТЕРНУ AGGREGATOR</a:t>
            </a:r>
          </a:p>
          <a:p>
            <a:pPr>
              <a:defRPr sz="2300" b="1">
                <a:solidFill>
                  <a:srgbClr val="111418"/>
                </a:solidFill>
                <a:latin typeface="Segoe UI"/>
              </a:defRPr>
            </a:pPr>
            <a:r>
              <a:t>Економіка затримок (RTT Latency Budget): послідовні виклики проти Task.WhenAll</a:t>
            </a:r>
          </a:p>
          <a:p>
            <a:pPr>
              <a:defRPr sz="1280">
                <a:solidFill>
                  <a:srgbClr val="5F666E"/>
                </a:solidFill>
                <a:latin typeface="Segoe UI"/>
              </a:defRPr>
            </a:pPr>
            <a:r>
              <a:t>Розрахунковий приклад для трьох сервісів: t1 = 45 мс, t2 = 65 мс, t3 = 40 мс, WAN RTT = 100 мс, LAN RTT = 2 мс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ag_06_latency_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11183112" cy="382089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4983480"/>
            <a:ext cx="11183112" cy="1143000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28016" rtlCol="0" anchor="t"/>
          <a:lstStyle/>
          <a:p>
            <a:pPr algn="ctr">
              <a:spcAft>
                <a:spcPts val="300"/>
              </a:spcAft>
            </a:pPr>
            <a:r>
              <a:rPr sz="1380" b="1">
                <a:solidFill>
                  <a:srgbClr val="111418"/>
                </a:solidFill>
                <a:latin typeface="Segoe UI"/>
              </a:rPr>
              <a:t>• Формула паралельного Fan-Out: </a:t>
            </a:r>
            <a:r>
              <a:rPr sz="1380" b="0">
                <a:solidFill>
                  <a:srgbClr val="2D3238"/>
                </a:solidFill>
                <a:latin typeface="Segoe UI"/>
              </a:rPr>
              <a:t>T_agg = t_wan + (t_lan + t_driver) + max(t_lan + t_orders, t_lan + t_blog) = 100 + 47 + max(67, 42) = 216 мс (прискорення у 2.1 раза!).</a:t>
            </a:r>
          </a:p>
          <a:p>
            <a:pPr>
              <a:spcAft>
                <a:spcPts val="200"/>
              </a:spcAft>
            </a:pPr>
            <a:r>
              <a:rPr sz="1380" b="1">
                <a:solidFill>
                  <a:srgbClr val="111418"/>
                </a:solidFill>
                <a:latin typeface="Segoe UI"/>
              </a:rPr>
              <a:t>• Закон хвостової латентності (Tail Latency): </a:t>
            </a:r>
            <a:r>
              <a:rPr sz="1380" b="0">
                <a:solidFill>
                  <a:srgbClr val="2D3238"/>
                </a:solidFill>
                <a:latin typeface="Segoe UI"/>
              </a:rPr>
              <a:t>при паралельному опитуванні N сервісів час дорівнює найповільнішій гілці. Тому для некритичних гілок необхідний жорсткий AttemptTimeout!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217920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254496"/>
            <a:ext cx="9555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5F666E"/>
                </a:solidFill>
                <a:latin typeface="Segoe UI"/>
              </a:rPr>
              <a:t>Математичний аналіз затримок: 02-01-Aspire-Documentation/03_HttpAggregator_Gateway_Architecture_And_Design.md (§4)</a:t>
            </a:r>
          </a:p>
          <a:p>
            <a:r>
              <a:rPr sz="1000" b="1">
                <a:solidFill>
                  <a:srgbClr val="2D3238"/>
                </a:solidFill>
                <a:latin typeface="Segoe UI"/>
              </a:rPr>
              <a:t>Офіційна документація: </a:t>
            </a:r>
            <a:r>
              <a:rPr sz="1000" b="1">
                <a:solidFill>
                  <a:srgbClr val="111418"/>
                </a:solidFill>
                <a:latin typeface="Segoe UI"/>
                <a:hlinkClick r:id="rId3"/>
              </a:rPr>
              <a:t>https://learn.microsoft.com/en-us/azure/architecture/patterns/gateway-aggregation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327648"/>
            <a:ext cx="1536192" cy="347472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50" b="1">
                <a:solidFill>
                  <a:srgbClr val="111418"/>
                </a:solidFill>
                <a:latin typeface="Segoe UI"/>
              </a:defRPr>
            </a:pPr>
            <a:r>
              <a:t>Слайд 19 з 36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11183112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ЧАСТИНА 2. АРХІТЕКТУРНЕ ПОРІВНЯННЯ ДВОХ РЕАЛІЗАЦІЙ У РЕПОЗИТОРІЇ</a:t>
            </a:r>
          </a:p>
          <a:p>
            <a:pPr>
              <a:defRPr sz="2300" b="1">
                <a:solidFill>
                  <a:srgbClr val="111418"/>
                </a:solidFill>
                <a:latin typeface="Segoe UI"/>
              </a:defRPr>
            </a:pPr>
            <a:r>
              <a:t>Вбудований BFF (DriversManagement) проти Виділеного CargoDelivery.HttpAggregator</a:t>
            </a:r>
          </a:p>
          <a:p>
            <a:pPr>
              <a:defRPr sz="1280">
                <a:solidFill>
                  <a:srgbClr val="5F666E"/>
                </a:solidFill>
                <a:latin typeface="Segoe UI"/>
              </a:defRPr>
            </a:pPr>
            <a:r>
              <a:t>Як бізнес-вимоги екрана визначають архітектуру агрегації та політику відмовостійкості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127125"/>
              </p:ext>
            </p:extLst>
          </p:nvPr>
        </p:nvGraphicFramePr>
        <p:xfrm>
          <a:off x="502920" y="1330452"/>
          <a:ext cx="11183112" cy="4864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87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512">
                <a:tc>
                  <a:txBody>
                    <a:bodyPr/>
                    <a:lstStyle/>
                    <a:p>
                      <a:pPr>
                        <a:defRPr sz="123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rPr dirty="0" err="1"/>
                        <a:t>Критерій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порівняння</a:t>
                      </a:r>
                      <a:endParaRPr dirty="0"/>
                    </a:p>
                  </a:txBody>
                  <a:tcPr marL="100584" marR="100584" anchor="ctr"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3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Вбудований BFF у DriversManagement (:5001)</a:t>
                      </a:r>
                    </a:p>
                  </a:txBody>
                  <a:tcPr marL="100584" marR="100584" anchor="ctr"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3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Виділений CargoDelivery.HttpAggregator (:57390)</a:t>
                      </a:r>
                    </a:p>
                  </a:txBody>
                  <a:tcPr marL="100584" marR="100584" anchor="ctr">
                    <a:solidFill>
                      <a:srgbClr val="DCE0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512">
                <a:tc>
                  <a:txBody>
                    <a:bodyPr/>
                    <a:lstStyle/>
                    <a:p>
                      <a:pPr>
                        <a:defRPr sz="118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Публічний маршрут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GET /api/v1/driver-dashboard/{id}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GET /api/v1/shipment-summary/{id}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512">
                <a:tc>
                  <a:txBody>
                    <a:bodyPr/>
                    <a:lstStyle/>
                    <a:p>
                      <a:pPr>
                        <a:defRPr sz="118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Головні класи в коді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DriverDashboardController.cs -&gt; GetDriverDashboard.cs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ShipmentSummaryController.cs -&gt; ShipmentAggregatorService.cs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512">
                <a:tc>
                  <a:txBody>
                    <a:bodyPr/>
                    <a:lstStyle/>
                    <a:p>
                      <a:pPr>
                        <a:defRPr sz="118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Звідки беруться дані водія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Із власної локальної БД (EF Core :1434) — 0 мережевих викликів!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Через внутрішній HTTP-виклик GET /api/internal/drivers/{id} (:5001)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512">
                <a:tc>
                  <a:txBody>
                    <a:bodyPr/>
                    <a:lstStyle/>
                    <a:p>
                      <a:pPr>
                        <a:defRPr sz="118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Звідки беруться замовлення та блог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HTTP до CargoOrdering (:5003) та DriversBlog (:5002)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HTTP до CargoOrdering (:5003) та DriversBlog (:5002)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512">
                <a:tc>
                  <a:txBody>
                    <a:bodyPr/>
                    <a:lstStyle/>
                    <a:p>
                      <a:pPr>
                        <a:defRPr sz="118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Десеріалізація відповіді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Ручний розбір JsonElement (патерн Tolerant Reader)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Строга потокова десеріалізація ReadFromJsonAsync&lt;TDto&gt;()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512">
                <a:tc>
                  <a:txBody>
                    <a:bodyPr/>
                    <a:lstStyle/>
                    <a:p>
                      <a:pPr>
                        <a:defRPr sz="118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Поведінка при падінні блогу (:5002)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HTTP 200 OK + isPartialData: true (через ~2.2 с)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HTTP 200 OK + isDegraded: true (через ~2.2 с)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0512">
                <a:tc>
                  <a:txBody>
                    <a:bodyPr/>
                    <a:lstStyle/>
                    <a:p>
                      <a:pPr>
                        <a:defRPr sz="118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Поведінка при падінні замовлень (:5003)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HTTP 200 OK + isPartialData: true (замовлення тут м'яка залежність)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HTTP 503 Service Unavailable (замовлення — жорстка залежність рейсу!)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0512">
                <a:tc>
                  <a:txBody>
                    <a:bodyPr/>
                    <a:lstStyle/>
                    <a:p>
                      <a:pPr>
                        <a:defRPr sz="118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rPr dirty="0" err="1"/>
                        <a:t>Головна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перевага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підходу</a:t>
                      </a:r>
                      <a:endParaRPr dirty="0"/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rPr dirty="0" err="1"/>
                        <a:t>Менше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мережевих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хопів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не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потрібен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окремий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процес</a:t>
                      </a:r>
                      <a:endParaRPr dirty="0"/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rPr dirty="0" err="1"/>
                        <a:t>Чиста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ізоляція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домену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незалежне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масштабування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та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тестування</a:t>
                      </a:r>
                      <a:endParaRPr dirty="0"/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02920" y="6217920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254496"/>
            <a:ext cx="9555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5F666E"/>
                </a:solidFill>
                <a:latin typeface="Segoe UI"/>
              </a:rPr>
              <a:t>Порівняльна таблиця: 02-02-Communication-Documentation/02_Patterns_Synchronous_HttpClient_Aggregator_BFF.md (§2)</a:t>
            </a:r>
          </a:p>
          <a:p>
            <a:r>
              <a:rPr sz="1000" b="1">
                <a:solidFill>
                  <a:srgbClr val="2D3238"/>
                </a:solidFill>
                <a:latin typeface="Segoe UI"/>
              </a:rPr>
              <a:t>Офіційна документація: </a:t>
            </a:r>
            <a:r>
              <a:rPr sz="1000" b="1">
                <a:solidFill>
                  <a:srgbClr val="111418"/>
                </a:solidFill>
                <a:latin typeface="Segoe UI"/>
                <a:hlinkClick r:id="rId2"/>
              </a:rPr>
              <a:t>https://samnewman.io/patterns/architectural/bff/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27648"/>
            <a:ext cx="1536192" cy="347472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50" b="1">
                <a:solidFill>
                  <a:srgbClr val="111418"/>
                </a:solidFill>
                <a:latin typeface="Segoe UI"/>
              </a:defRPr>
            </a:pPr>
            <a:r>
              <a:t>Слайд 20 з 36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11183112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ЧАСТИНА 2. УПРАВЛІННЯ МЕРЕЖЕВИМИ З'ЄДНАННЯМИ В .NET 10</a:t>
            </a:r>
          </a:p>
          <a:p>
            <a:pPr>
              <a:defRPr sz="2300" b="1">
                <a:solidFill>
                  <a:srgbClr val="111418"/>
                </a:solidFill>
                <a:latin typeface="Segoe UI"/>
              </a:defRPr>
            </a:pPr>
            <a:r>
              <a:t>Проблема Socket Exhaustion та архітектура конвеєра IHttpClientFactory</a:t>
            </a:r>
          </a:p>
          <a:p>
            <a:pPr>
              <a:defRPr sz="1280">
                <a:solidFill>
                  <a:srgbClr val="5F666E"/>
                </a:solidFill>
                <a:latin typeface="Segoe UI"/>
              </a:defRPr>
            </a:pPr>
            <a:r>
              <a:t>Чому категорично заборонено створювати new HttpClient() у кожному запиті агрегатора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ag_07_httpclient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578" y="1211580"/>
            <a:ext cx="10740044" cy="28640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73578" y="3954364"/>
            <a:ext cx="5440680" cy="2167544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28016" rtlCol="0" anchor="t"/>
          <a:lstStyle/>
          <a:p>
            <a:pPr algn="ctr">
              <a:spcAft>
                <a:spcPts val="700"/>
              </a:spcAft>
              <a:defRPr sz="1600" b="1">
                <a:solidFill>
                  <a:srgbClr val="111418"/>
                </a:solidFill>
                <a:latin typeface="Segoe UI"/>
              </a:defRPr>
            </a:pPr>
            <a:r>
              <a:rPr dirty="0" err="1"/>
              <a:t>Дві</a:t>
            </a:r>
            <a:r>
              <a:rPr dirty="0"/>
              <a:t> </a:t>
            </a:r>
            <a:r>
              <a:rPr dirty="0" err="1"/>
              <a:t>класичні</a:t>
            </a:r>
            <a:r>
              <a:rPr dirty="0"/>
              <a:t> </a:t>
            </a:r>
            <a:r>
              <a:rPr dirty="0" err="1"/>
              <a:t>пастки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роботі</a:t>
            </a:r>
            <a:r>
              <a:rPr dirty="0"/>
              <a:t> з </a:t>
            </a:r>
            <a:r>
              <a:rPr dirty="0" err="1"/>
              <a:t>HttpClient</a:t>
            </a:r>
            <a:endParaRPr dirty="0"/>
          </a:p>
          <a:p>
            <a:pPr>
              <a:spcAft>
                <a:spcPts val="500"/>
              </a:spcAft>
            </a:pPr>
            <a:r>
              <a:rPr sz="1360" b="1" dirty="0">
                <a:solidFill>
                  <a:srgbClr val="111418"/>
                </a:solidFill>
                <a:latin typeface="Segoe UI"/>
              </a:rPr>
              <a:t>1. </a:t>
            </a:r>
            <a:r>
              <a:rPr sz="1360" b="1" dirty="0" err="1">
                <a:solidFill>
                  <a:srgbClr val="111418"/>
                </a:solidFill>
                <a:latin typeface="Segoe UI"/>
              </a:rPr>
              <a:t>Антипатерн</a:t>
            </a:r>
            <a:r>
              <a:rPr sz="1360" b="1" dirty="0">
                <a:solidFill>
                  <a:srgbClr val="111418"/>
                </a:solidFill>
                <a:latin typeface="Segoe UI"/>
              </a:rPr>
              <a:t> using (var c = new </a:t>
            </a:r>
            <a:r>
              <a:rPr sz="1360" b="1" dirty="0" err="1">
                <a:solidFill>
                  <a:srgbClr val="111418"/>
                </a:solidFill>
                <a:latin typeface="Segoe UI"/>
              </a:rPr>
              <a:t>HttpClient</a:t>
            </a:r>
            <a:r>
              <a:rPr sz="1360" b="1" dirty="0">
                <a:solidFill>
                  <a:srgbClr val="111418"/>
                </a:solidFill>
                <a:latin typeface="Segoe UI"/>
              </a:rPr>
              <a:t>()):
</a:t>
            </a:r>
            <a:r>
              <a:rPr sz="1360" b="0" dirty="0" err="1">
                <a:solidFill>
                  <a:srgbClr val="2D3238"/>
                </a:solidFill>
                <a:latin typeface="Segoe UI"/>
              </a:rPr>
              <a:t>при</a:t>
            </a:r>
            <a:r>
              <a:rPr sz="136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60" b="0" dirty="0" err="1">
                <a:solidFill>
                  <a:srgbClr val="2D3238"/>
                </a:solidFill>
                <a:latin typeface="Segoe UI"/>
              </a:rPr>
              <a:t>закритті</a:t>
            </a:r>
            <a:r>
              <a:rPr sz="136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60" b="0" dirty="0" err="1">
                <a:solidFill>
                  <a:srgbClr val="2D3238"/>
                </a:solidFill>
                <a:latin typeface="Segoe UI"/>
              </a:rPr>
              <a:t>сокет</a:t>
            </a:r>
            <a:r>
              <a:rPr sz="136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60" b="0" dirty="0" err="1">
                <a:solidFill>
                  <a:srgbClr val="2D3238"/>
                </a:solidFill>
                <a:latin typeface="Segoe UI"/>
              </a:rPr>
              <a:t>залишається</a:t>
            </a:r>
            <a:r>
              <a:rPr sz="1360" b="0" dirty="0">
                <a:solidFill>
                  <a:srgbClr val="2D3238"/>
                </a:solidFill>
                <a:latin typeface="Segoe UI"/>
              </a:rPr>
              <a:t> у </a:t>
            </a:r>
            <a:r>
              <a:rPr sz="1360" b="0" dirty="0" err="1">
                <a:solidFill>
                  <a:srgbClr val="2D3238"/>
                </a:solidFill>
                <a:latin typeface="Segoe UI"/>
              </a:rPr>
              <a:t>стані</a:t>
            </a:r>
            <a:r>
              <a:rPr sz="1360" b="0" dirty="0">
                <a:solidFill>
                  <a:srgbClr val="2D3238"/>
                </a:solidFill>
                <a:latin typeface="Segoe UI"/>
              </a:rPr>
              <a:t> TIME_WAIT </a:t>
            </a:r>
            <a:r>
              <a:rPr sz="1360" b="0" dirty="0" err="1">
                <a:solidFill>
                  <a:srgbClr val="2D3238"/>
                </a:solidFill>
                <a:latin typeface="Segoe UI"/>
              </a:rPr>
              <a:t>до</a:t>
            </a:r>
            <a:r>
              <a:rPr sz="1360" b="0" dirty="0">
                <a:solidFill>
                  <a:srgbClr val="2D3238"/>
                </a:solidFill>
                <a:latin typeface="Segoe UI"/>
              </a:rPr>
              <a:t> 240 </a:t>
            </a:r>
            <a:r>
              <a:rPr sz="1360" b="0" dirty="0" err="1">
                <a:solidFill>
                  <a:srgbClr val="2D3238"/>
                </a:solidFill>
                <a:latin typeface="Segoe UI"/>
              </a:rPr>
              <a:t>секунд</a:t>
            </a:r>
            <a:r>
              <a:rPr sz="1360" b="0" dirty="0">
                <a:solidFill>
                  <a:srgbClr val="2D3238"/>
                </a:solidFill>
                <a:latin typeface="Segoe UI"/>
              </a:rPr>
              <a:t> в ОС Windows, </a:t>
            </a:r>
            <a:r>
              <a:rPr sz="1360" b="0" dirty="0" err="1">
                <a:solidFill>
                  <a:srgbClr val="2D3238"/>
                </a:solidFill>
                <a:latin typeface="Segoe UI"/>
              </a:rPr>
              <a:t>миттєво</a:t>
            </a:r>
            <a:r>
              <a:rPr sz="136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60" b="0" dirty="0" err="1">
                <a:solidFill>
                  <a:srgbClr val="2D3238"/>
                </a:solidFill>
                <a:latin typeface="Segoe UI"/>
              </a:rPr>
              <a:t>вичерпуючи</a:t>
            </a:r>
            <a:r>
              <a:rPr sz="136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60" b="0" dirty="0" err="1">
                <a:solidFill>
                  <a:srgbClr val="2D3238"/>
                </a:solidFill>
                <a:latin typeface="Segoe UI"/>
              </a:rPr>
              <a:t>ліміт</a:t>
            </a:r>
            <a:r>
              <a:rPr sz="136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60" b="0" dirty="0" err="1">
                <a:solidFill>
                  <a:srgbClr val="2D3238"/>
                </a:solidFill>
                <a:latin typeface="Segoe UI"/>
              </a:rPr>
              <a:t>ефемерних</a:t>
            </a:r>
            <a:r>
              <a:rPr sz="136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60" b="0" dirty="0" err="1">
                <a:solidFill>
                  <a:srgbClr val="2D3238"/>
                </a:solidFill>
                <a:latin typeface="Segoe UI"/>
              </a:rPr>
              <a:t>портів</a:t>
            </a:r>
            <a:r>
              <a:rPr sz="136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60" b="0" dirty="0" err="1">
                <a:solidFill>
                  <a:srgbClr val="2D3238"/>
                </a:solidFill>
                <a:latin typeface="Segoe UI"/>
              </a:rPr>
              <a:t>під</a:t>
            </a:r>
            <a:r>
              <a:rPr sz="136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60" b="0" dirty="0" err="1">
                <a:solidFill>
                  <a:srgbClr val="2D3238"/>
                </a:solidFill>
                <a:latin typeface="Segoe UI"/>
              </a:rPr>
              <a:t>навантаженням</a:t>
            </a:r>
            <a:r>
              <a:rPr sz="1360" b="0" dirty="0">
                <a:solidFill>
                  <a:srgbClr val="2D3238"/>
                </a:solidFill>
                <a:latin typeface="Segoe UI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360" b="1" dirty="0">
                <a:solidFill>
                  <a:srgbClr val="111418"/>
                </a:solidFill>
                <a:latin typeface="Segoe UI"/>
              </a:rPr>
              <a:t>2. </a:t>
            </a:r>
            <a:r>
              <a:rPr sz="1360" b="1" dirty="0" err="1">
                <a:solidFill>
                  <a:srgbClr val="111418"/>
                </a:solidFill>
                <a:latin typeface="Segoe UI"/>
              </a:rPr>
              <a:t>Антипатерн</a:t>
            </a:r>
            <a:r>
              <a:rPr sz="1360" b="1" dirty="0">
                <a:solidFill>
                  <a:srgbClr val="111418"/>
                </a:solidFill>
                <a:latin typeface="Segoe UI"/>
              </a:rPr>
              <a:t> static </a:t>
            </a:r>
            <a:r>
              <a:rPr sz="1360" b="1" dirty="0" err="1">
                <a:solidFill>
                  <a:srgbClr val="111418"/>
                </a:solidFill>
                <a:latin typeface="Segoe UI"/>
              </a:rPr>
              <a:t>readonly</a:t>
            </a:r>
            <a:r>
              <a:rPr sz="1360" b="1" dirty="0">
                <a:solidFill>
                  <a:srgbClr val="111418"/>
                </a:solidFill>
                <a:latin typeface="Segoe UI"/>
              </a:rPr>
              <a:t> </a:t>
            </a:r>
            <a:r>
              <a:rPr sz="1360" b="1" dirty="0" err="1">
                <a:solidFill>
                  <a:srgbClr val="111418"/>
                </a:solidFill>
                <a:latin typeface="Segoe UI"/>
              </a:rPr>
              <a:t>HttpClient</a:t>
            </a:r>
            <a:r>
              <a:rPr sz="1360" b="1" dirty="0">
                <a:solidFill>
                  <a:srgbClr val="111418"/>
                </a:solidFill>
                <a:latin typeface="Segoe UI"/>
              </a:rPr>
              <a:t>:
</a:t>
            </a:r>
            <a:r>
              <a:rPr sz="1360" b="0" dirty="0" err="1">
                <a:solidFill>
                  <a:srgbClr val="2D3238"/>
                </a:solidFill>
                <a:latin typeface="Segoe UI"/>
              </a:rPr>
              <a:t>постійний</a:t>
            </a:r>
            <a:r>
              <a:rPr sz="136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60" b="0" dirty="0" err="1">
                <a:solidFill>
                  <a:srgbClr val="2D3238"/>
                </a:solidFill>
                <a:latin typeface="Segoe UI"/>
              </a:rPr>
              <a:t>сокет</a:t>
            </a:r>
            <a:r>
              <a:rPr sz="136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60" b="0" dirty="0" err="1">
                <a:solidFill>
                  <a:srgbClr val="2D3238"/>
                </a:solidFill>
                <a:latin typeface="Segoe UI"/>
              </a:rPr>
              <a:t>ніколи</a:t>
            </a:r>
            <a:r>
              <a:rPr sz="136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60" b="0" dirty="0" err="1">
                <a:solidFill>
                  <a:srgbClr val="2D3238"/>
                </a:solidFill>
                <a:latin typeface="Segoe UI"/>
              </a:rPr>
              <a:t>не</a:t>
            </a:r>
            <a:r>
              <a:rPr sz="136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60" b="0" dirty="0" err="1">
                <a:solidFill>
                  <a:srgbClr val="2D3238"/>
                </a:solidFill>
                <a:latin typeface="Segoe UI"/>
              </a:rPr>
              <a:t>перевідкривається</a:t>
            </a:r>
            <a:r>
              <a:rPr sz="1360" b="0" dirty="0">
                <a:solidFill>
                  <a:srgbClr val="2D3238"/>
                </a:solidFill>
                <a:latin typeface="Segoe UI"/>
              </a:rPr>
              <a:t> і </a:t>
            </a:r>
            <a:r>
              <a:rPr sz="1360" b="0" dirty="0" err="1">
                <a:solidFill>
                  <a:srgbClr val="2D3238"/>
                </a:solidFill>
                <a:latin typeface="Segoe UI"/>
              </a:rPr>
              <a:t>не</a:t>
            </a:r>
            <a:r>
              <a:rPr sz="136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60" b="0" dirty="0" err="1">
                <a:solidFill>
                  <a:srgbClr val="2D3238"/>
                </a:solidFill>
                <a:latin typeface="Segoe UI"/>
              </a:rPr>
              <a:t>помічає</a:t>
            </a:r>
            <a:r>
              <a:rPr sz="136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60" b="0" dirty="0" err="1">
                <a:solidFill>
                  <a:srgbClr val="2D3238"/>
                </a:solidFill>
                <a:latin typeface="Segoe UI"/>
              </a:rPr>
              <a:t>зміни</a:t>
            </a:r>
            <a:r>
              <a:rPr sz="1360" b="0" dirty="0">
                <a:solidFill>
                  <a:srgbClr val="2D3238"/>
                </a:solidFill>
                <a:latin typeface="Segoe UI"/>
              </a:rPr>
              <a:t> IP-</a:t>
            </a:r>
            <a:r>
              <a:rPr sz="1360" b="0" dirty="0" err="1">
                <a:solidFill>
                  <a:srgbClr val="2D3238"/>
                </a:solidFill>
                <a:latin typeface="Segoe UI"/>
              </a:rPr>
              <a:t>адрес</a:t>
            </a:r>
            <a:r>
              <a:rPr sz="1360" b="0" dirty="0">
                <a:solidFill>
                  <a:srgbClr val="2D3238"/>
                </a:solidFill>
                <a:latin typeface="Segoe UI"/>
              </a:rPr>
              <a:t> у DNS </a:t>
            </a:r>
            <a:r>
              <a:rPr sz="1360" b="0" dirty="0" err="1">
                <a:solidFill>
                  <a:srgbClr val="2D3238"/>
                </a:solidFill>
                <a:latin typeface="Segoe UI"/>
              </a:rPr>
              <a:t>при</a:t>
            </a:r>
            <a:r>
              <a:rPr sz="136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60" b="0" dirty="0" err="1">
                <a:solidFill>
                  <a:srgbClr val="2D3238"/>
                </a:solidFill>
                <a:latin typeface="Segoe UI"/>
              </a:rPr>
              <a:t>перезапуску</a:t>
            </a:r>
            <a:r>
              <a:rPr sz="136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60" b="0" dirty="0" err="1">
                <a:solidFill>
                  <a:srgbClr val="2D3238"/>
                </a:solidFill>
                <a:latin typeface="Segoe UI"/>
              </a:rPr>
              <a:t>контейнерів</a:t>
            </a:r>
            <a:r>
              <a:rPr sz="1360" b="0" dirty="0">
                <a:solidFill>
                  <a:srgbClr val="2D3238"/>
                </a:solidFill>
                <a:latin typeface="Segoe UI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5352" y="3954364"/>
            <a:ext cx="5440680" cy="2190404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28016" rtlCol="0" anchor="t"/>
          <a:lstStyle/>
          <a:p>
            <a:pPr algn="ctr">
              <a:spcAft>
                <a:spcPts val="700"/>
              </a:spcAft>
              <a:defRPr sz="1600" b="1">
                <a:solidFill>
                  <a:srgbClr val="111418"/>
                </a:solidFill>
                <a:latin typeface="Segoe UI"/>
              </a:defRPr>
            </a:pPr>
            <a:r>
              <a:t>Як це вирішує IHttpClientFactory у нашому проєкті</a:t>
            </a:r>
          </a:p>
          <a:p>
            <a:pPr>
              <a:spcAft>
                <a:spcPts val="500"/>
              </a:spcAft>
            </a:pPr>
            <a:r>
              <a:rPr sz="1360" b="1">
                <a:solidFill>
                  <a:srgbClr val="111418"/>
                </a:solidFill>
                <a:latin typeface="Segoe UI"/>
              </a:rPr>
              <a:t>• Пулінг SocketsHttpHandler: </a:t>
            </a:r>
            <a:r>
              <a:rPr sz="1360" b="0">
                <a:solidFill>
                  <a:srgbClr val="2D3238"/>
                </a:solidFill>
                <a:latin typeface="Segoe UI"/>
              </a:rPr>
              <a:t>фабрика перевикористовує відкриті TCP/TLS-з'єднання для всіх викликів агрегатора, але ротує хендлери кожні 2 хвилини для оновлення DNS.</a:t>
            </a:r>
          </a:p>
          <a:p>
            <a:pPr>
              <a:spcAft>
                <a:spcPts val="400"/>
              </a:spcAft>
            </a:pPr>
            <a:r>
              <a:rPr sz="1360" b="1">
                <a:solidFill>
                  <a:srgbClr val="111418"/>
                </a:solidFill>
                <a:latin typeface="Segoe UI"/>
              </a:rPr>
              <a:t>• Конвеєр DelegatingHandler: </a:t>
            </a:r>
            <a:r>
              <a:rPr sz="1360" b="0">
                <a:solidFill>
                  <a:srgbClr val="2D3238"/>
                </a:solidFill>
                <a:latin typeface="Segoe UI"/>
              </a:rPr>
              <a:t>кожен запит автоматично проходить через Service Discovery, Polly v8 та OpenTelemetry.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17920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254496"/>
            <a:ext cx="9555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5F666E"/>
                </a:solidFill>
                <a:latin typeface="Segoe UI"/>
              </a:rPr>
              <a:t>Конвеєр IHttpClientFactory у CargoDelivery.HttpAggregator та DriversManagement</a:t>
            </a:r>
          </a:p>
          <a:p>
            <a:r>
              <a:rPr sz="1000" b="1">
                <a:solidFill>
                  <a:srgbClr val="2D3238"/>
                </a:solidFill>
                <a:latin typeface="Segoe UI"/>
              </a:rPr>
              <a:t>Офіційна документація: </a:t>
            </a:r>
            <a:r>
              <a:rPr sz="1000" b="1">
                <a:solidFill>
                  <a:srgbClr val="111418"/>
                </a:solidFill>
                <a:latin typeface="Segoe UI"/>
                <a:hlinkClick r:id="rId3"/>
              </a:rPr>
              <a:t>https://learn.microsoft.com/en-us/aspnet/core/fundamentals/http-requests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327648"/>
            <a:ext cx="1536192" cy="347472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50" b="1">
                <a:solidFill>
                  <a:srgbClr val="111418"/>
                </a:solidFill>
                <a:latin typeface="Segoe UI"/>
              </a:defRPr>
            </a:pPr>
            <a:r>
              <a:t>Слайд 21 з 36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11183112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ЧАСТИНА 2. РЕЄСТРАЦІЯ КЛІЄНТІВ ТА ASPIRE SERVICE DISCOVERY</a:t>
            </a:r>
          </a:p>
          <a:p>
            <a:pPr>
              <a:defRPr sz="2300" b="1">
                <a:solidFill>
                  <a:srgbClr val="111418"/>
                </a:solidFill>
                <a:latin typeface="Segoe UI"/>
              </a:defRPr>
            </a:pPr>
            <a:r>
              <a:t>Код налаштування типізованих HTTP-клієнтів у CargoDelivery.HttpAggregator/Program.cs</a:t>
            </a:r>
          </a:p>
          <a:p>
            <a:pPr>
              <a:defRPr sz="1280">
                <a:solidFill>
                  <a:srgbClr val="5F666E"/>
                </a:solidFill>
                <a:latin typeface="Segoe UI"/>
              </a:defRPr>
            </a:pPr>
            <a:r>
              <a:t>Поділ залежностей на критичні (30 с) та некритичні (3 с) із викликом .RemoveAllResilienceHandlers()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5440680" cy="3337560"/>
          </a:xfrm>
          <a:prstGeom prst="rect">
            <a:avLst/>
          </a:prstGeom>
          <a:solidFill>
            <a:srgbClr val="EBEDF0"/>
          </a:solidFill>
          <a:ln w="15240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64592" bIns="109728" rtlCol="0" anchor="t"/>
          <a:lstStyle/>
          <a:p>
            <a:pPr algn="ctr">
              <a:spcAft>
                <a:spcPts val="600"/>
              </a:spcAft>
              <a:defRPr sz="1320" b="1">
                <a:solidFill>
                  <a:srgbClr val="111418"/>
                </a:solidFill>
                <a:latin typeface="Segoe UI"/>
              </a:defRPr>
            </a:pPr>
            <a:r>
              <a:rPr dirty="0" err="1"/>
              <a:t>Файл</a:t>
            </a:r>
            <a:r>
              <a:rPr dirty="0"/>
              <a:t>: </a:t>
            </a:r>
            <a:r>
              <a:rPr dirty="0" err="1"/>
              <a:t>Program.cs</a:t>
            </a:r>
            <a:r>
              <a:rPr dirty="0"/>
              <a:t> — </a:t>
            </a:r>
            <a:r>
              <a:rPr dirty="0" err="1"/>
              <a:t>Критичні</a:t>
            </a:r>
            <a:r>
              <a:rPr dirty="0"/>
              <a:t> </a:t>
            </a:r>
            <a:r>
              <a:rPr dirty="0" err="1"/>
              <a:t>клієнти</a:t>
            </a:r>
            <a:r>
              <a:rPr dirty="0"/>
              <a:t> (</a:t>
            </a:r>
            <a:r>
              <a:rPr dirty="0" err="1"/>
              <a:t>рядки</a:t>
            </a:r>
            <a:r>
              <a:rPr dirty="0"/>
              <a:t> 30, 68–76)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5F666E"/>
                </a:solidFill>
                <a:latin typeface="Consolas"/>
              </a:rPr>
              <a:t>// 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CargoDelivery.HttpAggregator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/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Program.cs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 (#L30, #L68–76)</a:t>
            </a:r>
          </a:p>
          <a:p>
            <a:pPr>
              <a:spcAft>
                <a:spcPts val="200"/>
              </a:spcAft>
            </a:pPr>
            <a:r>
              <a:rPr sz="1100" dirty="0" err="1">
                <a:solidFill>
                  <a:srgbClr val="2D3238"/>
                </a:solidFill>
                <a:latin typeface="Consolas"/>
              </a:rPr>
              <a:t>builder.AddServiceDefaults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(); // 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Глобальний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 Polly (30 с)</a:t>
            </a:r>
          </a:p>
          <a:p>
            <a:pPr>
              <a:spcAft>
                <a:spcPts val="200"/>
              </a:spcAft>
            </a:pPr>
            <a:endParaRPr sz="1100" dirty="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5F666E"/>
                </a:solidFill>
                <a:latin typeface="Consolas"/>
              </a:rPr>
              <a:t>// КРИТИЧНІ ЗАЛЕЖНОСТІ (Hard Dependencies):</a:t>
            </a:r>
          </a:p>
          <a:p>
            <a:pPr>
              <a:spcAft>
                <a:spcPts val="200"/>
              </a:spcAft>
            </a:pPr>
            <a:r>
              <a:rPr sz="1100" b="1" dirty="0" err="1">
                <a:solidFill>
                  <a:srgbClr val="111418"/>
                </a:solidFill>
                <a:latin typeface="Consolas"/>
              </a:rPr>
              <a:t>builder.Services.AddHttpClient</a:t>
            </a:r>
            <a:r>
              <a:rPr sz="1100" b="1" dirty="0">
                <a:solidFill>
                  <a:srgbClr val="111418"/>
                </a:solidFill>
                <a:latin typeface="Consolas"/>
              </a:rPr>
              <a:t>&lt;</a:t>
            </a:r>
            <a:r>
              <a:rPr sz="1100" b="1" dirty="0" err="1">
                <a:solidFill>
                  <a:srgbClr val="111418"/>
                </a:solidFill>
                <a:latin typeface="Consolas"/>
              </a:rPr>
              <a:t>IDriverApiClient</a:t>
            </a:r>
            <a:r>
              <a:rPr sz="1100" b="1" dirty="0">
                <a:solidFill>
                  <a:srgbClr val="111418"/>
                </a:solidFill>
                <a:latin typeface="Consolas"/>
              </a:rPr>
              <a:t>, </a:t>
            </a:r>
            <a:r>
              <a:rPr sz="1100" b="1" dirty="0" err="1">
                <a:solidFill>
                  <a:srgbClr val="111418"/>
                </a:solidFill>
                <a:latin typeface="Consolas"/>
              </a:rPr>
              <a:t>DriverApiClient</a:t>
            </a:r>
            <a:r>
              <a:rPr sz="1100" b="1" dirty="0">
                <a:solidFill>
                  <a:srgbClr val="111418"/>
                </a:solidFill>
                <a:latin typeface="Consolas"/>
              </a:rPr>
              <a:t>&gt;(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client =&gt; 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client.BaseAddress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 =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    new Uri("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https+http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://driversmanagement"));</a:t>
            </a:r>
          </a:p>
          <a:p>
            <a:pPr>
              <a:spcAft>
                <a:spcPts val="200"/>
              </a:spcAft>
            </a:pPr>
            <a:endParaRPr sz="1100" dirty="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00" b="1" dirty="0" err="1">
                <a:solidFill>
                  <a:srgbClr val="111418"/>
                </a:solidFill>
                <a:latin typeface="Consolas"/>
              </a:rPr>
              <a:t>builder.Services.AddHttpClient</a:t>
            </a:r>
            <a:r>
              <a:rPr sz="1100" b="1" dirty="0">
                <a:solidFill>
                  <a:srgbClr val="111418"/>
                </a:solidFill>
                <a:latin typeface="Consolas"/>
              </a:rPr>
              <a:t>&lt;</a:t>
            </a:r>
            <a:r>
              <a:rPr sz="1100" b="1" dirty="0" err="1">
                <a:solidFill>
                  <a:srgbClr val="111418"/>
                </a:solidFill>
                <a:latin typeface="Consolas"/>
              </a:rPr>
              <a:t>ICargoOrderApiClient</a:t>
            </a:r>
            <a:r>
              <a:rPr sz="1100" b="1" dirty="0">
                <a:solidFill>
                  <a:srgbClr val="111418"/>
                </a:solidFill>
                <a:latin typeface="Consolas"/>
              </a:rPr>
              <a:t>, </a:t>
            </a:r>
            <a:r>
              <a:rPr sz="1100" b="1" dirty="0" err="1">
                <a:solidFill>
                  <a:srgbClr val="111418"/>
                </a:solidFill>
                <a:latin typeface="Consolas"/>
              </a:rPr>
              <a:t>CargoOrderApiClient</a:t>
            </a:r>
            <a:r>
              <a:rPr sz="1100" b="1" dirty="0">
                <a:solidFill>
                  <a:srgbClr val="111418"/>
                </a:solidFill>
                <a:latin typeface="Consolas"/>
              </a:rPr>
              <a:t>&gt;(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client =&gt; 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client.BaseAddress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 =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    new Uri("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https+http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://cargoorderingservice"));</a:t>
            </a:r>
          </a:p>
        </p:txBody>
      </p:sp>
      <p:sp>
        <p:nvSpPr>
          <p:cNvPr id="5" name="Rectangle 4"/>
          <p:cNvSpPr/>
          <p:nvPr/>
        </p:nvSpPr>
        <p:spPr>
          <a:xfrm>
            <a:off x="6245352" y="1225296"/>
            <a:ext cx="5440680" cy="3337560"/>
          </a:xfrm>
          <a:prstGeom prst="rect">
            <a:avLst/>
          </a:prstGeom>
          <a:solidFill>
            <a:srgbClr val="EBEDF0"/>
          </a:solidFill>
          <a:ln w="15240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64592" bIns="109728" rtlCol="0" anchor="t"/>
          <a:lstStyle/>
          <a:p>
            <a:pPr algn="ctr">
              <a:spcAft>
                <a:spcPts val="600"/>
              </a:spcAft>
              <a:defRPr sz="1320" b="1">
                <a:solidFill>
                  <a:srgbClr val="111418"/>
                </a:solidFill>
                <a:latin typeface="Segoe UI"/>
              </a:defRPr>
            </a:pPr>
            <a:r>
              <a:t>Файл: Program.cs — М'яка залежність блогу (рядки 78–92)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F666E"/>
                </a:solidFill>
                <a:latin typeface="Consolas"/>
              </a:rPr>
              <a:t>// НЕКРИТИЧНА ЗАЛЕЖНІСТЬ (Soft Dependency — Блог):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111418"/>
                </a:solidFill>
                <a:latin typeface="Consolas"/>
              </a:rPr>
              <a:t>builder.Services.AddHttpClient&lt;IDriverBlogApiClient, DriverBlogApiClient&gt;(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    client =&gt; client.BaseAddress =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        new Uri("https+http://driversblogmanagement"))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111418"/>
                </a:solidFill>
                <a:latin typeface="Consolas"/>
              </a:rPr>
              <a:t>  .RemoveAllResilienceHandlers() // Захист від вкладеності!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  .AddStandardResilienceHandler(options =&gt;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      options.AttemptTimeout.Timeout = TimeSpan.FromSeconds(1);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      options.Retry.MaxRetryAttempts = 1;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      options.Retry.Delay = TimeSpan.FromMilliseconds(200);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      options.TotalRequestTimeout.Timeout = TimeSpan.FromSeconds(3);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  });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663440"/>
            <a:ext cx="11183112" cy="1426464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28016" rtlCol="0" anchor="t"/>
          <a:lstStyle/>
          <a:p>
            <a:pPr algn="ctr">
              <a:spcAft>
                <a:spcPts val="700"/>
              </a:spcAft>
              <a:defRPr sz="1600" b="1">
                <a:solidFill>
                  <a:srgbClr val="111418"/>
                </a:solidFill>
                <a:latin typeface="Segoe UI"/>
              </a:defRPr>
            </a:pPr>
            <a:r>
              <a:t>Детальне пояснення: схема https+http:// та пастка подвійного конвеєра Polly</a:t>
            </a:r>
          </a:p>
          <a:p>
            <a:pPr>
              <a:spcAft>
                <a:spcPts val="300"/>
              </a:spcAft>
            </a:pPr>
            <a:r>
              <a:rPr sz="1360" b="1">
                <a:solidFill>
                  <a:srgbClr val="111418"/>
                </a:solidFill>
                <a:latin typeface="Segoe UI"/>
              </a:rPr>
              <a:t>• Схема https+http://driversmanagement: </a:t>
            </a:r>
            <a:r>
              <a:rPr sz="1360" b="0">
                <a:solidFill>
                  <a:srgbClr val="2D3238"/>
                </a:solidFill>
                <a:latin typeface="Segoe UI"/>
              </a:rPr>
              <a:t>вказує резолверу .NET Aspire спочатку шукати захищений HTTPS-ендпоінт у змінній оточення services__driversmanagement__https__0 (:5001), а за його відсутності — HTTP.</a:t>
            </a:r>
          </a:p>
          <a:p>
            <a:pPr>
              <a:spcAft>
                <a:spcPts val="200"/>
              </a:spcAft>
            </a:pPr>
            <a:r>
              <a:rPr sz="1360" b="1">
                <a:solidFill>
                  <a:srgbClr val="111418"/>
                </a:solidFill>
                <a:latin typeface="Segoe UI"/>
              </a:rPr>
              <a:t>• Навіщо викликається .RemoveAllResilienceHandlers(): </a:t>
            </a:r>
            <a:r>
              <a:rPr sz="1360" b="0">
                <a:solidFill>
                  <a:srgbClr val="2D3238"/>
                </a:solidFill>
                <a:latin typeface="Segoe UI"/>
              </a:rPr>
              <a:t>оскільки AddServiceDefaults() вже додає стандартний конвеєр Polly всім HttpClient, повторний виклик AddStandardResilienceHandler без очищення вкладає один конвеєр в інший (4 x 4 = 16 спроб!).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17920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254496"/>
            <a:ext cx="9555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5F666E"/>
                </a:solidFill>
                <a:latin typeface="Segoe UI"/>
              </a:rPr>
              <a:t>Вихідний код: 02-Microservices-Craftsman/CargoDelivery.HttpAggregator/Program.cs#L68-L92</a:t>
            </a:r>
          </a:p>
          <a:p>
            <a:r>
              <a:rPr sz="1000" b="1">
                <a:solidFill>
                  <a:srgbClr val="2D3238"/>
                </a:solidFill>
                <a:latin typeface="Segoe UI"/>
              </a:rPr>
              <a:t>Офіційна документація: </a:t>
            </a:r>
            <a:r>
              <a:rPr sz="1000" b="1">
                <a:solidFill>
                  <a:srgbClr val="111418"/>
                </a:solidFill>
                <a:latin typeface="Segoe UI"/>
                <a:hlinkClick r:id="rId2"/>
              </a:rPr>
              <a:t>https://learn.microsoft.com/en-us/dotnet/aspire/service-discovery/overview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327648"/>
            <a:ext cx="1536192" cy="347472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50" b="1">
                <a:solidFill>
                  <a:srgbClr val="111418"/>
                </a:solidFill>
                <a:latin typeface="Segoe UI"/>
              </a:defRPr>
            </a:pPr>
            <a:r>
              <a:t>Слайд 22 з 36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11183112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ЧАСТИНА 2. РЕАЛІЗАЦІЯ ТИПІЗОВАНИХ HTTP-КЛІЄНТІВ (ПІДХІД 1: СТРОГИЙ DTO)</a:t>
            </a:r>
          </a:p>
          <a:p>
            <a:pPr>
              <a:defRPr sz="2300" b="1">
                <a:solidFill>
                  <a:srgbClr val="111418"/>
                </a:solidFill>
                <a:latin typeface="Segoe UI"/>
              </a:defRPr>
            </a:pPr>
            <a:r>
              <a:t>Повний розбір класу DriverApiClient.cs у проєкті CargoDelivery.HttpAggregator</a:t>
            </a:r>
          </a:p>
          <a:p>
            <a:pPr>
              <a:defRPr sz="1280">
                <a:solidFill>
                  <a:srgbClr val="5F666E"/>
                </a:solidFill>
                <a:latin typeface="Segoe UI"/>
              </a:defRPr>
            </a:pPr>
            <a:r>
              <a:t>Шлях: 02-Microservices-Craftsman/CargoDelivery.HttpAggregator/Domain/Clients/DriverApiClient.cs#L34-L62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6537960" cy="4864608"/>
          </a:xfrm>
          <a:prstGeom prst="rect">
            <a:avLst/>
          </a:prstGeom>
          <a:solidFill>
            <a:srgbClr val="EBEDF0"/>
          </a:solidFill>
          <a:ln w="15240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64592" bIns="109728" rtlCol="0" anchor="t"/>
          <a:lstStyle/>
          <a:p>
            <a:pPr algn="ctr">
              <a:spcAft>
                <a:spcPts val="600"/>
              </a:spcAft>
              <a:defRPr sz="1320" b="1">
                <a:solidFill>
                  <a:srgbClr val="111418"/>
                </a:solidFill>
                <a:latin typeface="Segoe UI"/>
              </a:defRPr>
            </a:pPr>
            <a:r>
              <a:t>Файл: DriverApiClient.cs (рядки 19–62)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public sealed class DriverApiClient : IDriverApiClient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private readonly HttpClient _httpClient;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public DriverApiClient(HttpClient httpClient)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    =&gt; _httpClient = httpClient;</a:t>
            </a:r>
          </a:p>
          <a:p>
            <a:pPr>
              <a:spcAft>
                <a:spcPts val="200"/>
              </a:spcAft>
            </a:pPr>
            <a:endParaRPr sz="112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public async Task&lt;AggregatedDriverDto?&gt; GetDriverByIdAsync(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    Guid driverId, CancellationToken ct = default)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{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    var response = await _httpClient.GetAsync(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        $"api/internal/drivers/{driverId}", ct);</a:t>
            </a:r>
          </a:p>
          <a:p>
            <a:pPr>
              <a:spcAft>
                <a:spcPts val="200"/>
              </a:spcAft>
            </a:pPr>
            <a:endParaRPr sz="112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5F666E"/>
                </a:solidFill>
                <a:latin typeface="Consolas"/>
              </a:rPr>
              <a:t>        // 404 NotFound — це штатний бізнес-результат!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5F666E"/>
                </a:solidFill>
                <a:latin typeface="Consolas"/>
              </a:rPr>
              <a:t>        // Повертаємо null без викидання HttpRequestException: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    if (response.StatusCode == HttpStatusCode.NotFound)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        return null;</a:t>
            </a:r>
          </a:p>
          <a:p>
            <a:pPr>
              <a:spcAft>
                <a:spcPts val="200"/>
              </a:spcAft>
            </a:pPr>
            <a:endParaRPr sz="112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    response.EnsureSuccessStatusCode();</a:t>
            </a:r>
          </a:p>
          <a:p>
            <a:pPr>
              <a:spcAft>
                <a:spcPts val="200"/>
              </a:spcAft>
            </a:pPr>
            <a:endParaRPr sz="112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5F666E"/>
                </a:solidFill>
                <a:latin typeface="Consolas"/>
              </a:rPr>
              <a:t>        // Потокова десеріалізація напряму з мережевого сокета: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    return await response.Content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        .ReadFromJsonAsync&lt;AggregatedDriverDto&gt;(ct);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}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0" y="1225296"/>
            <a:ext cx="4462272" cy="4864608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28016" rtlCol="0" anchor="t"/>
          <a:lstStyle/>
          <a:p>
            <a:pPr algn="ctr">
              <a:spcAft>
                <a:spcPts val="700"/>
              </a:spcAft>
              <a:defRPr sz="1600" b="1">
                <a:solidFill>
                  <a:srgbClr val="111418"/>
                </a:solidFill>
                <a:latin typeface="Segoe UI"/>
              </a:defRPr>
            </a:pPr>
            <a:r>
              <a:t>Інженерний аналіз коду DriverApiClient</a:t>
            </a:r>
          </a:p>
          <a:p>
            <a:pPr>
              <a:spcAft>
                <a:spcPts val="800"/>
              </a:spcAft>
            </a:pPr>
            <a:r>
              <a:rPr sz="1360" b="1">
                <a:solidFill>
                  <a:srgbClr val="111418"/>
                </a:solidFill>
                <a:latin typeface="Segoe UI"/>
              </a:rPr>
              <a:t>1. Чому 404 перевіряється ДО EnsureSuccessStatusCode():
</a:t>
            </a:r>
            <a:r>
              <a:rPr sz="1360" b="0">
                <a:solidFill>
                  <a:srgbClr val="2D3238"/>
                </a:solidFill>
                <a:latin typeface="Segoe UI"/>
              </a:rPr>
              <a:t>відсутність водія у БД за переданим GUID — це очікувана бізнес-ситуація, а не аварія мережі. Повернення null дозволяє уникнути генерації важкого винятку HttpRequestException.</a:t>
            </a:r>
          </a:p>
          <a:p>
            <a:pPr>
              <a:spcAft>
                <a:spcPts val="800"/>
              </a:spcAft>
            </a:pPr>
            <a:r>
              <a:rPr sz="1360" b="1">
                <a:solidFill>
                  <a:srgbClr val="111418"/>
                </a:solidFill>
                <a:latin typeface="Segoe UI"/>
              </a:rPr>
              <a:t>2. Потокове читання ReadFromJsonAsync&lt;T&gt;:
</a:t>
            </a:r>
            <a:r>
              <a:rPr sz="1360" b="0">
                <a:solidFill>
                  <a:srgbClr val="2D3238"/>
                </a:solidFill>
                <a:latin typeface="Segoe UI"/>
              </a:rPr>
              <a:t>десеріалізує UTF-8 байти безпосередньо з мережевого потоку (NetworkStream) через ArrayPool&lt;byte&gt;, не створюючи проміжних рядків у купі (Large Object Heap).</a:t>
            </a:r>
          </a:p>
          <a:p>
            <a:pPr>
              <a:spcAft>
                <a:spcPts val="400"/>
              </a:spcAft>
            </a:pPr>
            <a:r>
              <a:rPr sz="1360" b="1">
                <a:solidFill>
                  <a:srgbClr val="111418"/>
                </a:solidFill>
                <a:latin typeface="Segoe UI"/>
              </a:rPr>
              <a:t>3. Прокидання CancellationToken:
</a:t>
            </a:r>
            <a:r>
              <a:rPr sz="1360" b="0">
                <a:solidFill>
                  <a:srgbClr val="2D3238"/>
                </a:solidFill>
                <a:latin typeface="Segoe UI"/>
              </a:rPr>
              <a:t>якщо користувач закриє сторінку, запит до мікросервісу водіїв буде негайно скасовано.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217920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254496"/>
            <a:ext cx="9555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5F666E"/>
                </a:solidFill>
                <a:latin typeface="Segoe UI"/>
              </a:rPr>
              <a:t>Вихідний код: 02-Microservices-Craftsman/CargoDelivery.HttpAggregator/Domain/Clients/DriverApiClient.cs#L19-L62</a:t>
            </a:r>
          </a:p>
          <a:p>
            <a:r>
              <a:rPr sz="1000" b="1">
                <a:solidFill>
                  <a:srgbClr val="2D3238"/>
                </a:solidFill>
                <a:latin typeface="Segoe UI"/>
              </a:rPr>
              <a:t>Офіційна документація: </a:t>
            </a:r>
            <a:r>
              <a:rPr sz="1000" b="1">
                <a:solidFill>
                  <a:srgbClr val="111418"/>
                </a:solidFill>
                <a:latin typeface="Segoe UI"/>
                <a:hlinkClick r:id="rId2"/>
              </a:rPr>
              <a:t>https://learn.microsoft.com/en-us/dotnet/standard/serialization/system-text-json/overview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327648"/>
            <a:ext cx="1536192" cy="347472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50" b="1">
                <a:solidFill>
                  <a:srgbClr val="111418"/>
                </a:solidFill>
                <a:latin typeface="Segoe UI"/>
              </a:defRPr>
            </a:pPr>
            <a:r>
              <a:t>Слайд 23 з 36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11183112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ЧАСТИНА 2. РЕАЛІЗАЦІЯ ТИПІЗОВАНИХ HTTP-КЛІЄНТІВ (ПІДХІД 2: TOLERANT READER)</a:t>
            </a:r>
          </a:p>
          <a:p>
            <a:pPr>
              <a:defRPr sz="2300" b="1">
                <a:solidFill>
                  <a:srgbClr val="111418"/>
                </a:solidFill>
                <a:latin typeface="Segoe UI"/>
              </a:defRPr>
            </a:pPr>
            <a:r>
              <a:t>Патерн Tolerant Reader (Мартін Фаулер) у класі CargoOrderingApiClient.cs (BFF)</a:t>
            </a:r>
          </a:p>
          <a:p>
            <a:pPr>
              <a:defRPr sz="1280">
                <a:solidFill>
                  <a:srgbClr val="5F666E"/>
                </a:solidFill>
                <a:latin typeface="Segoe UI"/>
              </a:defRPr>
            </a:pPr>
            <a:r>
              <a:t>Шлях: 02-Microservices-Craftsman/DriversManagement/src/DriversManagement/Infrastructure/Http/CargoOrderingApiClient.cs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6537960" cy="4864608"/>
          </a:xfrm>
          <a:prstGeom prst="rect">
            <a:avLst/>
          </a:prstGeom>
          <a:solidFill>
            <a:srgbClr val="EBEDF0"/>
          </a:solidFill>
          <a:ln w="15240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64592" bIns="109728" rtlCol="0" anchor="t"/>
          <a:lstStyle/>
          <a:p>
            <a:pPr algn="ctr">
              <a:spcAft>
                <a:spcPts val="600"/>
              </a:spcAft>
              <a:defRPr sz="1320" b="1">
                <a:solidFill>
                  <a:srgbClr val="111418"/>
                </a:solidFill>
                <a:latin typeface="Segoe UI"/>
              </a:defRPr>
            </a:pPr>
            <a:r>
              <a:t>Файл: CargoOrderingApiClient.cs (рядки 55–85)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5F666E"/>
                </a:solidFill>
                <a:latin typeface="Consolas"/>
              </a:rPr>
              <a:t>// Читаємо відповідь у гнучкий JsonElement: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var response = await _httpClient.GetFromJsonAsync&lt;JsonElement&gt;(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$"api/internal/deliveries?driverId={driverId}", ct);</a:t>
            </a:r>
          </a:p>
          <a:p>
            <a:pPr>
              <a:spcAft>
                <a:spcPts val="200"/>
              </a:spcAft>
            </a:pPr>
            <a:endParaRPr sz="112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var result = new List&lt;AggregatedDeliveryDto&gt;();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if (response.ValueKind == JsonValueKind.Array)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foreach (var item in response.EnumerateArray())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{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    result.Add(new AggregatedDeliveryDto {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        Id = item.TryGetProperty("orderId", out var idProp) &amp;&amp;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             Guid.TryParse(idProp.GetString(), out var g)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             ? g : Guid.Empty,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        Status = item.TryGetProperty("status", out var sProp)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             ? sProp.GetString() ?? "Unknown" : "Unknown",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        RouteDescription =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             item.TryGetProperty("pickupAddress", out var p) &amp;&amp;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             item.TryGetProperty("destinationAddress", out var d)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             ? $"{p.GetString()} -&gt; {d.GetString()}"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             : "Маршрут не вказано"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    });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}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0" y="1225296"/>
            <a:ext cx="4462272" cy="4864608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28016" rtlCol="0" anchor="t"/>
          <a:lstStyle/>
          <a:p>
            <a:pPr algn="ctr">
              <a:spcAft>
                <a:spcPts val="700"/>
              </a:spcAft>
              <a:defRPr sz="1600" b="1">
                <a:solidFill>
                  <a:srgbClr val="111418"/>
                </a:solidFill>
                <a:latin typeface="Segoe UI"/>
              </a:defRPr>
            </a:pPr>
            <a:r>
              <a:t>Пояснення патерну Tolerant Reader</a:t>
            </a:r>
          </a:p>
          <a:p>
            <a:pPr>
              <a:spcAft>
                <a:spcPts val="800"/>
              </a:spcAft>
            </a:pPr>
            <a:r>
              <a:rPr sz="1360" b="1">
                <a:solidFill>
                  <a:srgbClr val="111418"/>
                </a:solidFill>
                <a:latin typeface="Segoe UI"/>
              </a:rPr>
              <a:t>1. Принцип Постела (Закон надійності):
</a:t>
            </a:r>
            <a:r>
              <a:rPr sz="1360" b="0">
                <a:solidFill>
                  <a:srgbClr val="2D3238"/>
                </a:solidFill>
                <a:latin typeface="Segoe UI"/>
              </a:rPr>
              <a:t>«Будь консервативним у тому, що відправляєш, і толерантним у тому, що приймаєш від інших сервісів».</a:t>
            </a:r>
          </a:p>
          <a:p>
            <a:pPr>
              <a:spcAft>
                <a:spcPts val="800"/>
              </a:spcAft>
            </a:pPr>
            <a:r>
              <a:rPr sz="1360" b="1">
                <a:solidFill>
                  <a:srgbClr val="111418"/>
                </a:solidFill>
                <a:latin typeface="Segoe UI"/>
              </a:rPr>
              <a:t>2. Безпечний парсинг через TryGetProperty:
</a:t>
            </a:r>
            <a:r>
              <a:rPr sz="1360" b="0">
                <a:solidFill>
                  <a:srgbClr val="2D3238"/>
                </a:solidFill>
                <a:latin typeface="Segoe UI"/>
              </a:rPr>
              <a:t>BFF витягує з відповіді CargoOrderingService лише 4 потрібні поля. Якщо команда замовлень додасть 20 нових полів або якесь поле буде null, BFF не впаде з JsonException, а підставить безпечний дефолт!</a:t>
            </a:r>
          </a:p>
          <a:p>
            <a:pPr>
              <a:spcAft>
                <a:spcPts val="400"/>
              </a:spcAft>
            </a:pPr>
            <a:r>
              <a:rPr sz="1360" b="1">
                <a:solidFill>
                  <a:srgbClr val="111418"/>
                </a:solidFill>
                <a:latin typeface="Segoe UI"/>
              </a:rPr>
              <a:t>3. Коли обирати Tolerant Reader:
</a:t>
            </a:r>
            <a:r>
              <a:rPr sz="1360" b="0">
                <a:solidFill>
                  <a:srgbClr val="2D3238"/>
                </a:solidFill>
                <a:latin typeface="Segoe UI"/>
              </a:rPr>
              <a:t>коли сусідній мікросервіс часто змінює свій контракт і належить іншій команді.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217920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254496"/>
            <a:ext cx="9555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5F666E"/>
                </a:solidFill>
                <a:latin typeface="Segoe UI"/>
              </a:rPr>
              <a:t>Вихідний код: DriversManagement/src/DriversManagement/Infrastructure/Http/CargoOrderingApiClient.cs#L55-L85</a:t>
            </a:r>
          </a:p>
          <a:p>
            <a:r>
              <a:rPr sz="1000" b="1">
                <a:solidFill>
                  <a:srgbClr val="2D3238"/>
                </a:solidFill>
                <a:latin typeface="Segoe UI"/>
              </a:rPr>
              <a:t>Офіційна документація: </a:t>
            </a:r>
            <a:r>
              <a:rPr sz="1000" b="1">
                <a:solidFill>
                  <a:srgbClr val="111418"/>
                </a:solidFill>
                <a:latin typeface="Segoe UI"/>
                <a:hlinkClick r:id="rId2"/>
              </a:rPr>
              <a:t>https://martinfowler.com/bliki/TolerantReader.html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327648"/>
            <a:ext cx="1536192" cy="347472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50" b="1">
                <a:solidFill>
                  <a:srgbClr val="111418"/>
                </a:solidFill>
                <a:latin typeface="Segoe UI"/>
              </a:defRPr>
            </a:pPr>
            <a:r>
              <a:t>Слайд 24 з 36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11183112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ЧАСТИНА 2. СЕРЦЕ АГРЕГАТОРА: ПАТЕРН SCATTER-GATHER</a:t>
            </a:r>
          </a:p>
          <a:p>
            <a:pPr>
              <a:defRPr sz="2300" b="1">
                <a:solidFill>
                  <a:srgbClr val="111418"/>
                </a:solidFill>
                <a:latin typeface="Segoe UI"/>
              </a:defRPr>
            </a:pPr>
            <a:r>
              <a:t>Три фази агрегації у ShipmentAggregatorService: Guard Check -&gt; Fan-Out -&gt; Fan-In</a:t>
            </a:r>
          </a:p>
          <a:p>
            <a:pPr>
              <a:defRPr sz="1280">
                <a:solidFill>
                  <a:srgbClr val="5F666E"/>
                </a:solidFill>
                <a:latin typeface="Segoe UI"/>
              </a:defRPr>
            </a:pPr>
            <a:r>
              <a:t>Чому перевірка водія виконується послідовно до запуску паралельного Task.WhenAll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ag_08_scatter_gat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264" y="1354819"/>
            <a:ext cx="10615768" cy="345012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4444" y="4516076"/>
            <a:ext cx="11183112" cy="1409236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28016" rtlCol="0" anchor="t"/>
          <a:lstStyle/>
          <a:p>
            <a:pPr algn="ctr">
              <a:spcAft>
                <a:spcPts val="700"/>
              </a:spcAft>
              <a:defRPr sz="1600" b="1">
                <a:solidFill>
                  <a:srgbClr val="111418"/>
                </a:solidFill>
                <a:latin typeface="Segoe UI"/>
              </a:defRPr>
            </a:pPr>
            <a:r>
              <a:rPr dirty="0" err="1"/>
              <a:t>Обґрунтування</a:t>
            </a:r>
            <a:r>
              <a:rPr dirty="0"/>
              <a:t> </a:t>
            </a:r>
            <a:r>
              <a:rPr dirty="0" err="1"/>
              <a:t>гібридної</a:t>
            </a:r>
            <a:r>
              <a:rPr dirty="0"/>
              <a:t> </a:t>
            </a:r>
            <a:r>
              <a:rPr dirty="0" err="1"/>
              <a:t>схеми</a:t>
            </a:r>
            <a:r>
              <a:rPr dirty="0"/>
              <a:t> (</a:t>
            </a:r>
            <a:r>
              <a:rPr dirty="0" err="1"/>
              <a:t>Послідовний</a:t>
            </a:r>
            <a:r>
              <a:rPr dirty="0"/>
              <a:t> Guard Check + </a:t>
            </a:r>
            <a:r>
              <a:rPr dirty="0" err="1"/>
              <a:t>Паралельний</a:t>
            </a:r>
            <a:r>
              <a:rPr dirty="0"/>
              <a:t> Fan-Out)</a:t>
            </a:r>
          </a:p>
          <a:p>
            <a:pPr>
              <a:spcAft>
                <a:spcPts val="300"/>
              </a:spcAft>
            </a:pPr>
            <a:r>
              <a:rPr sz="1380" b="1" dirty="0">
                <a:solidFill>
                  <a:srgbClr val="111418"/>
                </a:solidFill>
                <a:latin typeface="Segoe UI"/>
              </a:rPr>
              <a:t>• </a:t>
            </a:r>
            <a:r>
              <a:rPr sz="1380" b="1" dirty="0" err="1">
                <a:solidFill>
                  <a:srgbClr val="111418"/>
                </a:solidFill>
                <a:latin typeface="Segoe UI"/>
              </a:rPr>
              <a:t>Захист</a:t>
            </a:r>
            <a:r>
              <a:rPr sz="1380" b="1" dirty="0">
                <a:solidFill>
                  <a:srgbClr val="111418"/>
                </a:solidFill>
                <a:latin typeface="Segoe UI"/>
              </a:rPr>
              <a:t> </a:t>
            </a:r>
            <a:r>
              <a:rPr sz="1380" b="1" dirty="0" err="1">
                <a:solidFill>
                  <a:srgbClr val="111418"/>
                </a:solidFill>
                <a:latin typeface="Segoe UI"/>
              </a:rPr>
              <a:t>від</a:t>
            </a:r>
            <a:r>
              <a:rPr sz="1380" b="1" dirty="0">
                <a:solidFill>
                  <a:srgbClr val="111418"/>
                </a:solidFill>
                <a:latin typeface="Segoe UI"/>
              </a:rPr>
              <a:t> </a:t>
            </a:r>
            <a:r>
              <a:rPr sz="1380" b="1" dirty="0" err="1">
                <a:solidFill>
                  <a:srgbClr val="111418"/>
                </a:solidFill>
                <a:latin typeface="Segoe UI"/>
              </a:rPr>
              <a:t>марного</a:t>
            </a:r>
            <a:r>
              <a:rPr sz="1380" b="1" dirty="0">
                <a:solidFill>
                  <a:srgbClr val="111418"/>
                </a:solidFill>
                <a:latin typeface="Segoe UI"/>
              </a:rPr>
              <a:t> </a:t>
            </a:r>
            <a:r>
              <a:rPr sz="1380" b="1" dirty="0" err="1">
                <a:solidFill>
                  <a:srgbClr val="111418"/>
                </a:solidFill>
                <a:latin typeface="Segoe UI"/>
              </a:rPr>
              <a:t>навантаження</a:t>
            </a:r>
            <a:r>
              <a:rPr sz="1380" b="1" dirty="0">
                <a:solidFill>
                  <a:srgbClr val="111418"/>
                </a:solidFill>
                <a:latin typeface="Segoe UI"/>
              </a:rPr>
              <a:t>: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якщо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передано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неіснуючий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driverId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,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Фаза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 1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повертає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 null і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миттєво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перериває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 виконання (404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NotFound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),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зберігаючи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ресурси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CargoOrderingService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та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DriversBlogManagement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.</a:t>
            </a:r>
          </a:p>
          <a:p>
            <a:pPr>
              <a:spcAft>
                <a:spcPts val="200"/>
              </a:spcAft>
            </a:pPr>
            <a:r>
              <a:rPr sz="1380" b="1" dirty="0">
                <a:solidFill>
                  <a:srgbClr val="111418"/>
                </a:solidFill>
                <a:latin typeface="Segoe UI"/>
              </a:rPr>
              <a:t>• </a:t>
            </a:r>
            <a:r>
              <a:rPr sz="1380" b="1" dirty="0" err="1">
                <a:solidFill>
                  <a:srgbClr val="111418"/>
                </a:solidFill>
                <a:latin typeface="Segoe UI"/>
              </a:rPr>
              <a:t>Коли</a:t>
            </a:r>
            <a:r>
              <a:rPr sz="1380" b="1" dirty="0">
                <a:solidFill>
                  <a:srgbClr val="111418"/>
                </a:solidFill>
                <a:latin typeface="Segoe UI"/>
              </a:rPr>
              <a:t> </a:t>
            </a:r>
            <a:r>
              <a:rPr sz="1380" b="1" dirty="0" err="1">
                <a:solidFill>
                  <a:srgbClr val="111418"/>
                </a:solidFill>
                <a:latin typeface="Segoe UI"/>
              </a:rPr>
              <a:t>запускати</a:t>
            </a:r>
            <a:r>
              <a:rPr sz="1380" b="1" dirty="0">
                <a:solidFill>
                  <a:srgbClr val="111418"/>
                </a:solidFill>
                <a:latin typeface="Segoe UI"/>
              </a:rPr>
              <a:t> </a:t>
            </a:r>
            <a:r>
              <a:rPr sz="1380" b="1" dirty="0" err="1">
                <a:solidFill>
                  <a:srgbClr val="111418"/>
                </a:solidFill>
                <a:latin typeface="Segoe UI"/>
              </a:rPr>
              <a:t>всі</a:t>
            </a:r>
            <a:r>
              <a:rPr sz="1380" b="1" dirty="0">
                <a:solidFill>
                  <a:srgbClr val="111418"/>
                </a:solidFill>
                <a:latin typeface="Segoe UI"/>
              </a:rPr>
              <a:t> 3 </a:t>
            </a:r>
            <a:r>
              <a:rPr sz="1380" b="1" dirty="0" err="1">
                <a:solidFill>
                  <a:srgbClr val="111418"/>
                </a:solidFill>
                <a:latin typeface="Segoe UI"/>
              </a:rPr>
              <a:t>паралельно</a:t>
            </a:r>
            <a:r>
              <a:rPr sz="1380" b="1" dirty="0">
                <a:solidFill>
                  <a:srgbClr val="111418"/>
                </a:solidFill>
                <a:latin typeface="Segoe UI"/>
              </a:rPr>
              <a:t>: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лише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тоді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,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коли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ймовірність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невалідного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 ID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близька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до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нуля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, а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кожна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мілісекунда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критична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 (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як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 у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декларативному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380" b="0" dirty="0" err="1">
                <a:solidFill>
                  <a:srgbClr val="2D3238"/>
                </a:solidFill>
                <a:latin typeface="Segoe UI"/>
              </a:rPr>
              <a:t>агрегаторі</a:t>
            </a:r>
            <a:r>
              <a:rPr sz="1380" b="0" dirty="0">
                <a:solidFill>
                  <a:srgbClr val="2D3238"/>
                </a:solidFill>
                <a:latin typeface="Segoe UI"/>
              </a:rPr>
              <a:t> Ocelot).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217920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254496"/>
            <a:ext cx="9555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5F666E"/>
                </a:solidFill>
                <a:latin typeface="Segoe UI"/>
              </a:rPr>
              <a:t>Вихідний код оркестратора: CargoDelivery.HttpAggregator/Domain/Services/ShipmentAggregatorService.cs#L42-L89</a:t>
            </a:r>
          </a:p>
          <a:p>
            <a:r>
              <a:rPr sz="1000" b="1">
                <a:solidFill>
                  <a:srgbClr val="2D3238"/>
                </a:solidFill>
                <a:latin typeface="Segoe UI"/>
              </a:rPr>
              <a:t>Офіційна документація: </a:t>
            </a:r>
            <a:r>
              <a:rPr sz="1000" b="1">
                <a:solidFill>
                  <a:srgbClr val="111418"/>
                </a:solidFill>
                <a:latin typeface="Segoe UI"/>
                <a:hlinkClick r:id="rId3"/>
              </a:rPr>
              <a:t>https://www.enterpriseintegrationpatterns.com/patterns/messaging/BroadcastAggregate.html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327648"/>
            <a:ext cx="1536192" cy="347472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50" b="1">
                <a:solidFill>
                  <a:srgbClr val="111418"/>
                </a:solidFill>
                <a:latin typeface="Segoe UI"/>
              </a:defRPr>
            </a:pPr>
            <a:r>
              <a:t>Слайд 25 з 36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11183112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ЧАСТИНА 2. ПРОГРАМНИЙ КОД ОРКЕСТРАТОРА АГРЕГАЦІЇ (ЧАСТИНА 1 З 2)</a:t>
            </a:r>
          </a:p>
          <a:p>
            <a:pPr>
              <a:defRPr sz="2300" b="1">
                <a:solidFill>
                  <a:srgbClr val="111418"/>
                </a:solidFill>
                <a:latin typeface="Segoe UI"/>
              </a:defRPr>
            </a:pPr>
            <a:r>
              <a:t>Метод GetShipmentSummaryAsync у класі ShipmentAggregatorService.cs</a:t>
            </a:r>
          </a:p>
          <a:p>
            <a:pPr>
              <a:defRPr sz="1280">
                <a:solidFill>
                  <a:srgbClr val="5F666E"/>
                </a:solidFill>
                <a:latin typeface="Segoe UI"/>
              </a:defRPr>
            </a:pPr>
            <a:r>
              <a:t>Шлях: 02-Microservices-Craftsman/CargoDelivery.HttpAggregator/Domain/Services/ShipmentAggregatorService.cs#L42-L89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6629400" cy="5010912"/>
          </a:xfrm>
          <a:prstGeom prst="rect">
            <a:avLst/>
          </a:prstGeom>
          <a:solidFill>
            <a:srgbClr val="EBEDF0"/>
          </a:solidFill>
          <a:ln w="15240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64592" bIns="109728" rtlCol="0" anchor="t"/>
          <a:lstStyle/>
          <a:p>
            <a:pPr algn="ctr">
              <a:spcAft>
                <a:spcPts val="600"/>
              </a:spcAft>
              <a:defRPr sz="1320" b="1">
                <a:solidFill>
                  <a:srgbClr val="111418"/>
                </a:solidFill>
                <a:latin typeface="Segoe UI"/>
              </a:defRPr>
            </a:pPr>
            <a:r>
              <a:rPr sz="1100" dirty="0" err="1"/>
              <a:t>Файл</a:t>
            </a:r>
            <a:r>
              <a:rPr sz="1100" dirty="0"/>
              <a:t>: </a:t>
            </a:r>
            <a:r>
              <a:rPr sz="1050" dirty="0" err="1"/>
              <a:t>ShipmentAggregatorService</a:t>
            </a:r>
            <a:r>
              <a:rPr sz="1100" dirty="0" err="1"/>
              <a:t>.cs</a:t>
            </a:r>
            <a:r>
              <a:rPr sz="1100" dirty="0"/>
              <a:t> (</a:t>
            </a:r>
            <a:r>
              <a:rPr sz="1100" dirty="0" err="1"/>
              <a:t>рядки</a:t>
            </a:r>
            <a:r>
              <a:rPr sz="1100" dirty="0"/>
              <a:t> 42–89)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public async Task&lt;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ShipmentSummaryDto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&gt;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GetShipmentSummaryAsync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(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   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Guid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driverId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,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CancellationToken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ct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 = default)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5F666E"/>
                </a:solidFill>
                <a:latin typeface="Consolas"/>
              </a:rPr>
              <a:t>    // КРОК 1: </a:t>
            </a:r>
            <a:r>
              <a:rPr sz="1000" dirty="0" err="1">
                <a:solidFill>
                  <a:srgbClr val="5F666E"/>
                </a:solidFill>
                <a:latin typeface="Consolas"/>
              </a:rPr>
              <a:t>Послідовний</a:t>
            </a:r>
            <a:r>
              <a:rPr sz="1000" dirty="0">
                <a:solidFill>
                  <a:srgbClr val="5F666E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5F666E"/>
                </a:solidFill>
                <a:latin typeface="Consolas"/>
              </a:rPr>
              <a:t>бар'єр</a:t>
            </a:r>
            <a:r>
              <a:rPr sz="1000" dirty="0">
                <a:solidFill>
                  <a:srgbClr val="5F666E"/>
                </a:solidFill>
                <a:latin typeface="Consolas"/>
              </a:rPr>
              <a:t> (Guard Check)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    var driver = await _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driverApiClient.GetDriverByIdAsync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(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driverId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,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ct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    if (driver == null)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        throw new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KeyNotFoundException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($"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Водія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 {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driverId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}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не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знайдено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.");</a:t>
            </a:r>
          </a:p>
          <a:p>
            <a:pPr>
              <a:spcAft>
                <a:spcPts val="200"/>
              </a:spcAft>
            </a:pPr>
            <a:endParaRPr sz="1000" dirty="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    bool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isDegraded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 = false;</a:t>
            </a:r>
          </a:p>
          <a:p>
            <a:pPr>
              <a:spcAft>
                <a:spcPts val="200"/>
              </a:spcAft>
            </a:pPr>
            <a:endParaRPr sz="1000" dirty="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5F666E"/>
                </a:solidFill>
                <a:latin typeface="Consolas"/>
              </a:rPr>
              <a:t>    // КРОК 2: </a:t>
            </a:r>
            <a:r>
              <a:rPr sz="1000" dirty="0" err="1">
                <a:solidFill>
                  <a:srgbClr val="5F666E"/>
                </a:solidFill>
                <a:latin typeface="Consolas"/>
              </a:rPr>
              <a:t>Паралельний</a:t>
            </a:r>
            <a:r>
              <a:rPr sz="1000" dirty="0">
                <a:solidFill>
                  <a:srgbClr val="5F666E"/>
                </a:solidFill>
                <a:latin typeface="Consolas"/>
              </a:rPr>
              <a:t> Fan-Out (ЗАПУСК БЕЗ await!)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    var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ordersTask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 = _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cargoOrderApiClient</a:t>
            </a:r>
            <a:endParaRPr sz="1000" dirty="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        .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GetActiveOrdersByDriverIdAsync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(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driverId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,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ct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1000" b="1" dirty="0">
                <a:solidFill>
                  <a:srgbClr val="111418"/>
                </a:solidFill>
                <a:latin typeface="Consolas"/>
              </a:rPr>
              <a:t>    var </a:t>
            </a:r>
            <a:r>
              <a:rPr sz="1000" b="1" dirty="0" err="1">
                <a:solidFill>
                  <a:srgbClr val="111418"/>
                </a:solidFill>
                <a:latin typeface="Consolas"/>
              </a:rPr>
              <a:t>blogNotesTask</a:t>
            </a:r>
            <a:r>
              <a:rPr sz="1000" b="1" dirty="0">
                <a:solidFill>
                  <a:srgbClr val="111418"/>
                </a:solidFill>
                <a:latin typeface="Consolas"/>
              </a:rPr>
              <a:t> = </a:t>
            </a:r>
            <a:r>
              <a:rPr sz="1000" b="1" dirty="0" err="1">
                <a:solidFill>
                  <a:srgbClr val="111418"/>
                </a:solidFill>
                <a:latin typeface="Consolas"/>
              </a:rPr>
              <a:t>SafeFetchRoadNotesAsync</a:t>
            </a:r>
            <a:r>
              <a:rPr sz="1000" b="1" dirty="0">
                <a:solidFill>
                  <a:srgbClr val="111418"/>
                </a:solidFill>
                <a:latin typeface="Consolas"/>
              </a:rPr>
              <a:t>(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        () =&gt; _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driverBlogApiClient.GetRoadNotesByDriverIdAsync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(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driverId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,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ct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),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       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onFailure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: () =&gt;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isDegraded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 = true);</a:t>
            </a:r>
          </a:p>
          <a:p>
            <a:pPr>
              <a:spcAft>
                <a:spcPts val="200"/>
              </a:spcAft>
            </a:pPr>
            <a:endParaRPr sz="1000" dirty="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5F666E"/>
                </a:solidFill>
                <a:latin typeface="Consolas"/>
              </a:rPr>
              <a:t>    // КРОК 3: Fan-In — </a:t>
            </a:r>
            <a:r>
              <a:rPr sz="1000" dirty="0" err="1">
                <a:solidFill>
                  <a:srgbClr val="5F666E"/>
                </a:solidFill>
                <a:latin typeface="Consolas"/>
              </a:rPr>
              <a:t>чекаємо</a:t>
            </a:r>
            <a:r>
              <a:rPr sz="1000" dirty="0">
                <a:solidFill>
                  <a:srgbClr val="5F666E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5F666E"/>
                </a:solidFill>
                <a:latin typeface="Consolas"/>
              </a:rPr>
              <a:t>завершення</a:t>
            </a:r>
            <a:r>
              <a:rPr sz="1000" dirty="0">
                <a:solidFill>
                  <a:srgbClr val="5F666E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5F666E"/>
                </a:solidFill>
                <a:latin typeface="Consolas"/>
              </a:rPr>
              <a:t>обох</a:t>
            </a:r>
            <a:r>
              <a:rPr sz="1000" dirty="0">
                <a:solidFill>
                  <a:srgbClr val="5F666E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5F666E"/>
                </a:solidFill>
                <a:latin typeface="Consolas"/>
              </a:rPr>
              <a:t>задач</a:t>
            </a:r>
            <a:endParaRPr sz="1000" dirty="0">
              <a:solidFill>
                <a:srgbClr val="5F666E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000" b="1" dirty="0">
                <a:solidFill>
                  <a:srgbClr val="111418"/>
                </a:solidFill>
                <a:latin typeface="Consolas"/>
              </a:rPr>
              <a:t>    await </a:t>
            </a:r>
            <a:r>
              <a:rPr sz="1000" b="1" dirty="0" err="1">
                <a:solidFill>
                  <a:srgbClr val="111418"/>
                </a:solidFill>
                <a:latin typeface="Consolas"/>
              </a:rPr>
              <a:t>Task.WhenAll</a:t>
            </a:r>
            <a:r>
              <a:rPr sz="1000" b="1" dirty="0">
                <a:solidFill>
                  <a:srgbClr val="111418"/>
                </a:solidFill>
                <a:latin typeface="Consolas"/>
              </a:rPr>
              <a:t>(</a:t>
            </a:r>
            <a:r>
              <a:rPr sz="1000" b="1" dirty="0" err="1">
                <a:solidFill>
                  <a:srgbClr val="111418"/>
                </a:solidFill>
                <a:latin typeface="Consolas"/>
              </a:rPr>
              <a:t>ordersTask</a:t>
            </a:r>
            <a:r>
              <a:rPr sz="1000" b="1" dirty="0">
                <a:solidFill>
                  <a:srgbClr val="111418"/>
                </a:solidFill>
                <a:latin typeface="Consolas"/>
              </a:rPr>
              <a:t>, </a:t>
            </a:r>
            <a:r>
              <a:rPr sz="1000" b="1" dirty="0" err="1">
                <a:solidFill>
                  <a:srgbClr val="111418"/>
                </a:solidFill>
                <a:latin typeface="Consolas"/>
              </a:rPr>
              <a:t>blogNotesTask</a:t>
            </a:r>
            <a:r>
              <a:rPr sz="1000" b="1" dirty="0">
                <a:solidFill>
                  <a:srgbClr val="11141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endParaRPr sz="1000" b="1" dirty="0">
              <a:solidFill>
                <a:srgbClr val="11141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    return new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ShipmentSummaryDto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 {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       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DriverId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 =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driverId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, Driver = driver,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       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ActiveOrders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 = await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ordersTask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,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RoadNotes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 = await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blogNotesTask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,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       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IsDegraded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 =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isDegraded</a:t>
            </a:r>
            <a:endParaRPr sz="1000" dirty="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    };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1225296"/>
            <a:ext cx="4370832" cy="4864608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28016" rtlCol="0" anchor="t"/>
          <a:lstStyle/>
          <a:p>
            <a:pPr algn="ctr">
              <a:spcAft>
                <a:spcPts val="700"/>
              </a:spcAft>
              <a:defRPr sz="1600" b="1">
                <a:solidFill>
                  <a:srgbClr val="111418"/>
                </a:solidFill>
                <a:latin typeface="Segoe UI"/>
              </a:defRPr>
            </a:pPr>
            <a:r>
              <a:t>Детальний розбір логіки методу</a:t>
            </a:r>
          </a:p>
          <a:p>
            <a:pPr>
              <a:spcAft>
                <a:spcPts val="800"/>
              </a:spcAft>
            </a:pPr>
            <a:r>
              <a:rPr sz="1360" b="1">
                <a:solidFill>
                  <a:srgbClr val="111418"/>
                </a:solidFill>
                <a:latin typeface="Segoe UI"/>
              </a:rPr>
              <a:t>1. Чому біля ordersTask та blogNotesTask немає await:
</a:t>
            </a:r>
            <a:r>
              <a:rPr sz="1360" b="0">
                <a:solidFill>
                  <a:srgbClr val="2D3238"/>
                </a:solidFill>
                <a:latin typeface="Segoe UI"/>
              </a:rPr>
              <a:t>якби ми написали await перед першим викликом, другий виклик почався б лише після завершення першого (послідовно). Збереження об'єктів Task запускає обидва HTTP-запити одночасно!</a:t>
            </a:r>
          </a:p>
          <a:p>
            <a:pPr>
              <a:spcAft>
                <a:spcPts val="800"/>
              </a:spcAft>
            </a:pPr>
            <a:r>
              <a:rPr sz="1360" b="1">
                <a:solidFill>
                  <a:srgbClr val="111418"/>
                </a:solidFill>
                <a:latin typeface="Segoe UI"/>
              </a:rPr>
              <a:t>2. Неблокуючий Task.WhenAll:
</a:t>
            </a:r>
            <a:r>
              <a:rPr sz="1360" b="0">
                <a:solidFill>
                  <a:srgbClr val="2D3238"/>
                </a:solidFill>
                <a:latin typeface="Segoe UI"/>
              </a:rPr>
              <a:t>потік поточного запиту звільняється у ThreadPool, поки ядро ОС (I/O Completion Ports) одночасно чекає байти від портів :5003 та :5002.</a:t>
            </a:r>
          </a:p>
          <a:p>
            <a:pPr>
              <a:spcAft>
                <a:spcPts val="400"/>
              </a:spcAft>
            </a:pPr>
            <a:r>
              <a:rPr sz="1360" b="1">
                <a:solidFill>
                  <a:srgbClr val="111418"/>
                </a:solidFill>
                <a:latin typeface="Segoe UI"/>
              </a:rPr>
              <a:t>3. Замикання onFailure:
</a:t>
            </a:r>
            <a:r>
              <a:rPr sz="1360" b="0">
                <a:solidFill>
                  <a:srgbClr val="2D3238"/>
                </a:solidFill>
                <a:latin typeface="Segoe UI"/>
              </a:rPr>
              <a:t>делегат () =&gt; isDegraded = true безпечно змінює локальний прапорець, якщо блог недоступний.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54496"/>
            <a:ext cx="9555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5F666E"/>
                </a:solidFill>
                <a:latin typeface="Segoe UI"/>
              </a:rPr>
              <a:t>Файл: 02-Microservices-Craftsman/CargoDelivery.HttpAggregator/Domain/Services/ShipmentAggregatorService.cs#L42-L89</a:t>
            </a:r>
          </a:p>
          <a:p>
            <a:r>
              <a:rPr sz="1000" b="1">
                <a:solidFill>
                  <a:srgbClr val="2D3238"/>
                </a:solidFill>
                <a:latin typeface="Segoe UI"/>
              </a:rPr>
              <a:t>Офіційна документація: </a:t>
            </a:r>
            <a:r>
              <a:rPr sz="1000" b="1">
                <a:solidFill>
                  <a:srgbClr val="111418"/>
                </a:solidFill>
                <a:latin typeface="Segoe UI"/>
                <a:hlinkClick r:id="rId2"/>
              </a:rPr>
              <a:t>https://learn.microsoft.com/en-us/dotnet/standard/parallel-programming/task-based-asynchronous-programming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327648"/>
            <a:ext cx="1536192" cy="347472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50" b="1">
                <a:solidFill>
                  <a:srgbClr val="111418"/>
                </a:solidFill>
                <a:latin typeface="Segoe UI"/>
              </a:defRPr>
            </a:pPr>
            <a:r>
              <a:t>Слайд 26 з 36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11183112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ЧАСТИНА 2. ВБУДОВАНИЙ BFF-АГРЕГАТОР У DRIVERSMANAGEMENT (:5001)</a:t>
            </a:r>
          </a:p>
          <a:p>
            <a:pPr>
              <a:defRPr sz="2300" b="1">
                <a:solidFill>
                  <a:srgbClr val="111418"/>
                </a:solidFill>
                <a:latin typeface="Segoe UI"/>
              </a:defRPr>
            </a:pPr>
            <a:r>
              <a:t>Код CQRS-обробника GetDriverDashboard.cs та потокобезпека EF Core DbContext</a:t>
            </a:r>
          </a:p>
          <a:p>
            <a:pPr>
              <a:defRPr sz="1280">
                <a:solidFill>
                  <a:srgbClr val="5F666E"/>
                </a:solidFill>
                <a:latin typeface="Segoe UI"/>
              </a:defRPr>
            </a:pPr>
            <a:r>
              <a:t>Шлях: 02-Microservices-Craftsman/DriversManagement/src/DriversManagement/Domain/Drivers/Features/GetDriverDashboard.cs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6537960" cy="4864608"/>
          </a:xfrm>
          <a:prstGeom prst="rect">
            <a:avLst/>
          </a:prstGeom>
          <a:solidFill>
            <a:srgbClr val="EBEDF0"/>
          </a:solidFill>
          <a:ln w="15240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64592" bIns="109728" rtlCol="0" anchor="t"/>
          <a:lstStyle/>
          <a:p>
            <a:pPr algn="ctr">
              <a:spcAft>
                <a:spcPts val="600"/>
              </a:spcAft>
              <a:defRPr sz="1320" b="1">
                <a:solidFill>
                  <a:srgbClr val="111418"/>
                </a:solidFill>
                <a:latin typeface="Segoe UI"/>
              </a:defRPr>
            </a:pPr>
            <a:r>
              <a:t>Файл: GetDriverDashboard.cs (рядки 82–118)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5F666E"/>
                </a:solidFill>
                <a:latin typeface="Consolas"/>
              </a:rPr>
              <a:t>// GetDriverDashboard.cs (рядки 82–118):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5F666E"/>
                </a:solidFill>
                <a:latin typeface="Consolas"/>
              </a:rPr>
              <a:t>// 0. Спочатку послідовно читаємо водія з локальної БД (:1434):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var driver = await _driverRepository.GetById(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request.DriverId, cancellationToken: ct);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bool hadPartialFailures = false;</a:t>
            </a:r>
          </a:p>
          <a:p>
            <a:pPr>
              <a:spcAft>
                <a:spcPts val="200"/>
              </a:spcAft>
            </a:pPr>
            <a:endParaRPr sz="112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5F666E"/>
                </a:solidFill>
                <a:latin typeface="Consolas"/>
              </a:rPr>
              <a:t>// 1. Паралельний Fan-Out: 2 HTTP-виклики + 1 запит до локальної БД</a:t>
            </a:r>
          </a:p>
          <a:p>
            <a:pPr>
              <a:spcAft>
                <a:spcPts val="200"/>
              </a:spcAft>
            </a:pPr>
            <a:r>
              <a:rPr sz="1120" b="1">
                <a:solidFill>
                  <a:srgbClr val="111418"/>
                </a:solidFill>
                <a:latin typeface="Consolas"/>
              </a:rPr>
              <a:t>var orderingTask = SafeFetchAsync(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action: () =&gt; _orderingApiClient.GetActiveDeliveriesByDriverAsync(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    request.DriverId, ct),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defaultValue: new List&lt;AggregatedDeliveryDto&gt;(),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onFailure: () =&gt; hadPartialFailures = true);</a:t>
            </a:r>
          </a:p>
          <a:p>
            <a:pPr>
              <a:spcAft>
                <a:spcPts val="200"/>
              </a:spcAft>
            </a:pPr>
            <a:endParaRPr sz="112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20" b="1">
                <a:solidFill>
                  <a:srgbClr val="111418"/>
                </a:solidFill>
                <a:latin typeface="Consolas"/>
              </a:rPr>
              <a:t>var blogTask = SafeFetchAsync(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action: () =&gt; _blogApiClient.GetDriverPostsAsync(request.DriverId, ct),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defaultValue: new List&lt;AggregatedBlogPostDto&gt;(),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onFailure: () =&gt; hadPartialFailures = true);</a:t>
            </a:r>
          </a:p>
          <a:p>
            <a:pPr>
              <a:spcAft>
                <a:spcPts val="200"/>
              </a:spcAft>
            </a:pPr>
            <a:endParaRPr sz="112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var truckTask = _truckRepository.Query().AsNoTracking().FirstOrDefaultAsync(ct);</a:t>
            </a:r>
          </a:p>
          <a:p>
            <a:pPr>
              <a:spcAft>
                <a:spcPts val="200"/>
              </a:spcAft>
            </a:pPr>
            <a:endParaRPr sz="112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5F666E"/>
                </a:solidFill>
                <a:latin typeface="Consolas"/>
              </a:rPr>
              <a:t>// 2. Fan-In: чекаємо завершення всіх трьох гілок одночасно</a:t>
            </a:r>
          </a:p>
          <a:p>
            <a:pPr>
              <a:spcAft>
                <a:spcPts val="200"/>
              </a:spcAft>
            </a:pPr>
            <a:r>
              <a:rPr sz="1120" b="1">
                <a:solidFill>
                  <a:srgbClr val="111418"/>
                </a:solidFill>
                <a:latin typeface="Consolas"/>
              </a:rPr>
              <a:t>await Task.WhenAll(orderingTask, blogTask, truckTask);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0" y="1225296"/>
            <a:ext cx="4462272" cy="4864608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28016" rtlCol="0" anchor="t"/>
          <a:lstStyle/>
          <a:p>
            <a:pPr algn="ctr">
              <a:spcAft>
                <a:spcPts val="700"/>
              </a:spcAft>
              <a:defRPr sz="1600" b="1">
                <a:solidFill>
                  <a:srgbClr val="111418"/>
                </a:solidFill>
                <a:latin typeface="Segoe UI"/>
              </a:defRPr>
            </a:pPr>
            <a:r>
              <a:t>Чому DbContext не потокобезпечний?</a:t>
            </a:r>
          </a:p>
          <a:p>
            <a:pPr>
              <a:spcAft>
                <a:spcPts val="900"/>
              </a:spcAft>
            </a:pPr>
            <a:r>
              <a:rPr sz="1360" b="1">
                <a:solidFill>
                  <a:srgbClr val="111418"/>
                </a:solidFill>
                <a:latin typeface="Segoe UI"/>
              </a:rPr>
              <a:t>• Заборона паралельних запитів EF Core:
</a:t>
            </a:r>
            <a:r>
              <a:rPr sz="1360" b="0">
                <a:solidFill>
                  <a:srgbClr val="2D3238"/>
                </a:solidFill>
                <a:latin typeface="Segoe UI"/>
              </a:rPr>
              <a:t>якщо запустити два запити EF Core одночасно в Task.WhenAll на одному екземплярі DriversManagementDbContext, виникне помилка InvalidOperationException: A second operation was started on this context.</a:t>
            </a:r>
          </a:p>
          <a:p>
            <a:pPr>
              <a:spcAft>
                <a:spcPts val="600"/>
              </a:spcAft>
            </a:pPr>
            <a:r>
              <a:rPr sz="1360" b="1">
                <a:solidFill>
                  <a:srgbClr val="111418"/>
                </a:solidFill>
                <a:latin typeface="Segoe UI"/>
              </a:rPr>
              <a:t>• Чому наш код у GetDriverDashboard безпечний:
</a:t>
            </a:r>
            <a:r>
              <a:rPr sz="1360" b="0">
                <a:solidFill>
                  <a:srgbClr val="2D3238"/>
                </a:solidFill>
                <a:latin typeface="Segoe UI"/>
              </a:rPr>
              <a:t>перший запит (GetById водія) повністю завершується через await ДО старту Fan-Out, а під час Task.WhenAll до бази звертається лише ОДНА задача (truckTask)!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217920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254496"/>
            <a:ext cx="9555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5F666E"/>
                </a:solidFill>
                <a:latin typeface="Segoe UI"/>
              </a:rPr>
              <a:t>Файл: DriversManagement/src/DriversManagement/Domain/Drivers/Features/GetDriverDashboard.cs#L75-L155</a:t>
            </a:r>
          </a:p>
          <a:p>
            <a:r>
              <a:rPr sz="1000" b="1">
                <a:solidFill>
                  <a:srgbClr val="2D3238"/>
                </a:solidFill>
                <a:latin typeface="Segoe UI"/>
              </a:rPr>
              <a:t>Офіційна документація: </a:t>
            </a:r>
            <a:r>
              <a:rPr sz="1000" b="1">
                <a:solidFill>
                  <a:srgbClr val="111418"/>
                </a:solidFill>
                <a:latin typeface="Segoe UI"/>
                <a:hlinkClick r:id="rId2"/>
              </a:rPr>
              <a:t>https://learn.microsoft.com/en-us/ef/core/dbcontext-configuration/#avoiding-dbcontext-threading-issues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327648"/>
            <a:ext cx="1536192" cy="347472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50" b="1">
                <a:solidFill>
                  <a:srgbClr val="111418"/>
                </a:solidFill>
                <a:latin typeface="Segoe UI"/>
              </a:defRPr>
            </a:pPr>
            <a:r>
              <a:t>Слайд 27 з 36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11183112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ЧАСТИНА 2. ІЗОЛЯЦІЯ ВІДМОВ ТА ЧАСТКОВА ДЕГРАДАЦІЯ</a:t>
            </a:r>
          </a:p>
          <a:p>
            <a:pPr>
              <a:defRPr sz="2300" b="1">
                <a:solidFill>
                  <a:srgbClr val="111418"/>
                </a:solidFill>
                <a:latin typeface="Segoe UI"/>
              </a:defRPr>
            </a:pPr>
            <a:r>
              <a:t>Машина станів результату агрегації залежно від доступності мікросервісів</a:t>
            </a:r>
          </a:p>
          <a:p>
            <a:pPr>
              <a:defRPr sz="1280">
                <a:solidFill>
                  <a:srgbClr val="5F666E"/>
                </a:solidFill>
                <a:latin typeface="Segoe UI"/>
              </a:defRPr>
            </a:pPr>
            <a:r>
              <a:t>Чотири детерміновані стани відповіді CargoDelivery.HttpAggregator (:57390)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ag_09_state_mac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11183112" cy="354131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4773168"/>
            <a:ext cx="11183112" cy="1325880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28016" rtlCol="0" anchor="t"/>
          <a:lstStyle/>
          <a:p>
            <a:pPr algn="ctr">
              <a:spcAft>
                <a:spcPts val="700"/>
              </a:spcAft>
              <a:defRPr sz="1600" b="1">
                <a:solidFill>
                  <a:srgbClr val="111418"/>
                </a:solidFill>
                <a:latin typeface="Segoe UI"/>
              </a:defRPr>
            </a:pPr>
            <a:r>
              <a:t>Принцип поділу залежностей на Hard (Критичні) та Soft (Некритичні)</a:t>
            </a:r>
          </a:p>
          <a:p>
            <a:pPr>
              <a:spcAft>
                <a:spcPts val="300"/>
              </a:spcAft>
            </a:pPr>
            <a:r>
              <a:rPr sz="1380" b="1">
                <a:solidFill>
                  <a:srgbClr val="111418"/>
                </a:solidFill>
                <a:latin typeface="Segoe UI"/>
              </a:rPr>
              <a:t>• Критичні залежності (DriversManagement та CargoOrderingService): </a:t>
            </a:r>
            <a:r>
              <a:rPr sz="1380" b="0">
                <a:solidFill>
                  <a:srgbClr val="2D3238"/>
                </a:solidFill>
                <a:latin typeface="Segoe UI"/>
              </a:rPr>
              <a:t>без імені водія або списку вантажів екран диспетчера втрачає сенс, тому при їх падінні агрегатор чесно повертає HTTP 503 ProblemDetails.</a:t>
            </a:r>
          </a:p>
          <a:p>
            <a:pPr>
              <a:spcAft>
                <a:spcPts val="200"/>
              </a:spcAft>
            </a:pPr>
            <a:r>
              <a:rPr sz="1380" b="1">
                <a:solidFill>
                  <a:srgbClr val="111418"/>
                </a:solidFill>
                <a:latin typeface="Segoe UI"/>
              </a:rPr>
              <a:t>• Некритична залежність (DriversBlogManagement): </a:t>
            </a:r>
            <a:r>
              <a:rPr sz="1380" b="0">
                <a:solidFill>
                  <a:srgbClr val="2D3238"/>
                </a:solidFill>
                <a:latin typeface="Segoe UI"/>
              </a:rPr>
              <a:t>дорожні нотатки є додатковою інформацією — при падінні блогу диспетчер отримує 200 OK із попередженням isDegraded: true.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217920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254496"/>
            <a:ext cx="9555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5F666E"/>
                </a:solidFill>
                <a:latin typeface="Segoe UI"/>
              </a:rPr>
              <a:t>Розділ 8 документації: 02-01-Aspire-Documentation/03_HttpAggregator_Gateway_Architecture_And_Design.md</a:t>
            </a:r>
          </a:p>
          <a:p>
            <a:r>
              <a:rPr sz="1000" b="1">
                <a:solidFill>
                  <a:srgbClr val="2D3238"/>
                </a:solidFill>
                <a:latin typeface="Segoe UI"/>
              </a:rPr>
              <a:t>Офіційна документація: </a:t>
            </a:r>
            <a:r>
              <a:rPr sz="1000" b="1">
                <a:solidFill>
                  <a:srgbClr val="111418"/>
                </a:solidFill>
                <a:latin typeface="Segoe UI"/>
                <a:hlinkClick r:id="rId3"/>
              </a:rPr>
              <a:t>https://learn.microsoft.com/en-us/azure/well-architected/reliability/handle-transient-faults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327648"/>
            <a:ext cx="1536192" cy="347472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50" b="1">
                <a:solidFill>
                  <a:srgbClr val="111418"/>
                </a:solidFill>
                <a:latin typeface="Segoe UI"/>
              </a:defRPr>
            </a:pPr>
            <a:r>
              <a:t>Слайд 28 з 36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11183112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ЧАСТИНА 2. КОД ІЗОЛЯЦІЇ ВІДМОВ ТА ОБРОБКИ ВИНЯТКІВ (ЧАСТИНА 2 З 2)</a:t>
            </a:r>
          </a:p>
          <a:p>
            <a:pPr>
              <a:defRPr sz="2300" b="1">
                <a:solidFill>
                  <a:srgbClr val="111418"/>
                </a:solidFill>
                <a:latin typeface="Segoe UI"/>
              </a:defRPr>
            </a:pPr>
            <a:r>
              <a:t>Метод SafeFetchRoadNotesAsync та контролер ShipmentSummaryController.cs</a:t>
            </a:r>
          </a:p>
          <a:p>
            <a:pPr>
              <a:defRPr sz="1280">
                <a:solidFill>
                  <a:srgbClr val="5F666E"/>
                </a:solidFill>
                <a:latin typeface="Segoe UI"/>
              </a:defRPr>
            </a:pPr>
            <a:r>
              <a:t>Як перехоплюються помилки м'якої залежності та трансформуються аварії критичних сервісів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5532120" cy="3337560"/>
          </a:xfrm>
          <a:prstGeom prst="rect">
            <a:avLst/>
          </a:prstGeom>
          <a:solidFill>
            <a:srgbClr val="EBEDF0"/>
          </a:solidFill>
          <a:ln w="15240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64592" bIns="109728" rtlCol="0" anchor="t"/>
          <a:lstStyle/>
          <a:p>
            <a:pPr algn="ctr">
              <a:spcAft>
                <a:spcPts val="600"/>
              </a:spcAft>
              <a:defRPr sz="1320" b="1">
                <a:solidFill>
                  <a:srgbClr val="111418"/>
                </a:solidFill>
                <a:latin typeface="Segoe UI"/>
              </a:defRPr>
            </a:pPr>
            <a:r>
              <a:t>Файл: ShipmentAggregatorService.cs (рядки 103–122)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F666E"/>
                </a:solidFill>
                <a:latin typeface="Consolas"/>
              </a:rPr>
              <a:t>// ShipmentAggregatorService.cs (#L103–122):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111418"/>
                </a:solidFill>
                <a:latin typeface="Consolas"/>
              </a:rPr>
              <a:t>private async Task&lt;List&lt;AggregatedBlogNoteDto&gt;&gt; SafeFetchRoadNotesAsync(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    Func&lt;Task&lt;List&lt;AggregatedBlogNoteDto&gt;&gt;&gt; fetchAction, Action onFailure)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    try { return await fetchAction(); 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F666E"/>
                </a:solidFill>
                <a:latin typeface="Consolas"/>
              </a:rPr>
              <a:t>    // Не глушимо скасування запиту самим клієнтом!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    catch (Exception ex) when (ex is not OperationCanceledException)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   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        _logger.LogWarning(ex, "Сервіс блогу недоступний (Degraded).");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        onFailure(); // isDegraded = true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        return [];   // Порожній масив замість HTTP 500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    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225296"/>
            <a:ext cx="5468112" cy="3337560"/>
          </a:xfrm>
          <a:prstGeom prst="rect">
            <a:avLst/>
          </a:prstGeom>
          <a:solidFill>
            <a:srgbClr val="EBEDF0"/>
          </a:solidFill>
          <a:ln w="15240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64592" bIns="109728" rtlCol="0" anchor="t"/>
          <a:lstStyle/>
          <a:p>
            <a:pPr algn="ctr">
              <a:spcAft>
                <a:spcPts val="600"/>
              </a:spcAft>
              <a:defRPr sz="1320" b="1">
                <a:solidFill>
                  <a:srgbClr val="111418"/>
                </a:solidFill>
                <a:latin typeface="Segoe UI"/>
              </a:defRPr>
            </a:pPr>
            <a:r>
              <a:t>Файл: ShipmentSummaryController.cs (рядки 46–72)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F666E"/>
                </a:solidFill>
                <a:latin typeface="Consolas"/>
              </a:rPr>
              <a:t>// ShipmentSummaryController.cs (#L46–72):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[HttpGet("{driverId:guid}")]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public async Task&lt;ActionResult&lt;ShipmentSummaryDto&gt;&gt; GetSummary(Guid driverId, CancellationToken ct)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    try { return Ok(await _aggregatorService.GetShipmentSummaryAsync(driverId, ct)); 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    catch (KeyNotFoundException ex) { return NotFound(new { message = ex.Message }); 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    catch (Exception ex) when (ex is HttpRequestException or TimeoutRejectedException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                                  or BrokenCircuitException)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        return Problem(statusCode: 503, title: "Критичний сервіс недоступний",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                       detail: $"{ex.GetType().Name}: {ex.Message}");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    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663440"/>
            <a:ext cx="11183112" cy="1426464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28016" rtlCol="0" anchor="t"/>
          <a:lstStyle/>
          <a:p>
            <a:pPr algn="ctr">
              <a:spcAft>
                <a:spcPts val="700"/>
              </a:spcAft>
              <a:defRPr sz="1600" b="1">
                <a:solidFill>
                  <a:srgbClr val="111418"/>
                </a:solidFill>
                <a:latin typeface="Segoe UI"/>
              </a:defRPr>
            </a:pPr>
            <a:r>
              <a:t>Пояснення: фільтр OperationCanceledException та стандарт RFC 9457 ProblemDetails</a:t>
            </a:r>
          </a:p>
          <a:p>
            <a:pPr>
              <a:spcAft>
                <a:spcPts val="300"/>
              </a:spcAft>
            </a:pPr>
            <a:r>
              <a:rPr sz="1360" b="1">
                <a:solidFill>
                  <a:srgbClr val="111418"/>
                </a:solidFill>
                <a:latin typeface="Segoe UI"/>
              </a:rPr>
              <a:t>• Чому важливий фільтр when (ex is not OperationCanceledException): </a:t>
            </a:r>
            <a:r>
              <a:rPr sz="1360" b="0">
                <a:solidFill>
                  <a:srgbClr val="2D3238"/>
                </a:solidFill>
                <a:latin typeface="Segoe UI"/>
              </a:rPr>
              <a:t>коли сам браузер клієнта обриває запит, спрацьовує CancellationToken. Але якщо таймаут виник усередині Polly, Polly кидає TimeoutRejectedException, який успішно перехоплюється і вмикає Graceful Degradation!</a:t>
            </a:r>
          </a:p>
          <a:p>
            <a:pPr>
              <a:spcAft>
                <a:spcPts val="200"/>
              </a:spcAft>
            </a:pPr>
            <a:r>
              <a:rPr sz="1360" b="1">
                <a:solidFill>
                  <a:srgbClr val="111418"/>
                </a:solidFill>
                <a:latin typeface="Segoe UI"/>
              </a:rPr>
              <a:t>• Чесний статус 503 Service Unavailable: </a:t>
            </a:r>
            <a:r>
              <a:rPr sz="1360" b="0">
                <a:solidFill>
                  <a:srgbClr val="2D3238"/>
                </a:solidFill>
                <a:latin typeface="Segoe UI"/>
              </a:rPr>
              <a:t>якщо впав критичний CargoOrderingService, метод Problem(...) повертає стандартизований JSON ProblemDetails (RFC 9457) замість фальшивого порожнього списку доставок.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17920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254496"/>
            <a:ext cx="9555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5F666E"/>
                </a:solidFill>
                <a:latin typeface="Segoe UI"/>
              </a:rPr>
              <a:t>Файли: ShipmentAggregatorService.cs#L103-L122 та ShipmentSummaryController.cs#L46-L72</a:t>
            </a:r>
          </a:p>
          <a:p>
            <a:r>
              <a:rPr sz="1000" b="1">
                <a:solidFill>
                  <a:srgbClr val="2D3238"/>
                </a:solidFill>
                <a:latin typeface="Segoe UI"/>
              </a:rPr>
              <a:t>Офіційна документація: </a:t>
            </a:r>
            <a:r>
              <a:rPr sz="1000" b="1">
                <a:solidFill>
                  <a:srgbClr val="111418"/>
                </a:solidFill>
                <a:latin typeface="Segoe UI"/>
                <a:hlinkClick r:id="rId2"/>
              </a:rPr>
              <a:t>https://datatracker.ietf.org/doc/html/rfc9457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327648"/>
            <a:ext cx="1536192" cy="347472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50" b="1">
                <a:solidFill>
                  <a:srgbClr val="111418"/>
                </a:solidFill>
                <a:latin typeface="Segoe UI"/>
              </a:defRPr>
            </a:pPr>
            <a:r>
              <a:t>Слайд 29 з 36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11183112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ЧАСТИНА 2. КОНТРАКТ ВІДПОВІДІ КЛІЄНТУ (SHIPMENTSUMMARYDTO)</a:t>
            </a:r>
          </a:p>
          <a:p>
            <a:pPr>
              <a:defRPr sz="2300" b="1">
                <a:solidFill>
                  <a:srgbClr val="111418"/>
                </a:solidFill>
                <a:latin typeface="Segoe UI"/>
              </a:defRPr>
            </a:pPr>
            <a:r>
              <a:t>Порівняння JSON-відповіді у штатному режимі (Complete) та при деградації (Degraded)</a:t>
            </a:r>
          </a:p>
          <a:p>
            <a:pPr>
              <a:defRPr sz="1280">
                <a:solidFill>
                  <a:srgbClr val="5F666E"/>
                </a:solidFill>
                <a:latin typeface="Segoe UI"/>
              </a:defRPr>
            </a:pPr>
            <a:r>
              <a:t>Шлях: 02-Microservices-Craftsman/CargoDelivery.HttpAggregator/Dtos/ShipmentSummaryDto.cs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5440680" cy="3337560"/>
          </a:xfrm>
          <a:prstGeom prst="rect">
            <a:avLst/>
          </a:prstGeom>
          <a:solidFill>
            <a:srgbClr val="EBEDF0"/>
          </a:solidFill>
          <a:ln w="15240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64592" bIns="109728" rtlCol="0" anchor="t"/>
          <a:lstStyle/>
          <a:p>
            <a:pPr algn="ctr">
              <a:spcAft>
                <a:spcPts val="600"/>
              </a:spcAft>
              <a:defRPr sz="1320" b="1">
                <a:solidFill>
                  <a:srgbClr val="111418"/>
                </a:solidFill>
                <a:latin typeface="Segoe UI"/>
              </a:defRPr>
            </a:pPr>
            <a:r>
              <a:t>Файл: ShipmentSummaryDto — Штатний режим (Complete)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5F666E"/>
                </a:solidFill>
                <a:latin typeface="Consolas"/>
              </a:rPr>
              <a:t>// А. Штатна відповідь (усі 3 сервіси працюють, ~68 мс):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"driverId": "2dc25740-aeb6-438a-be60-bc451562120e",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"driver": { "fullName": "Тарас Коваленко", "status": "Active" },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"activeOrders": [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{ "orderId": "ee4bfc67...", "status": "InTransit" }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],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"roadNotes": [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{ "title": "Ремонт мосту біля Рівного", "likesCount": 14 }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],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"isDegraded": false,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"aggregationStatus": "Complete"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6245352" y="1225296"/>
            <a:ext cx="5440680" cy="3337560"/>
          </a:xfrm>
          <a:prstGeom prst="rect">
            <a:avLst/>
          </a:prstGeom>
          <a:solidFill>
            <a:srgbClr val="EBEDF0"/>
          </a:solidFill>
          <a:ln w="15240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64592" bIns="109728" rtlCol="0" anchor="t"/>
          <a:lstStyle/>
          <a:p>
            <a:pPr algn="ctr">
              <a:spcAft>
                <a:spcPts val="600"/>
              </a:spcAft>
              <a:defRPr sz="1320" b="1">
                <a:solidFill>
                  <a:srgbClr val="111418"/>
                </a:solidFill>
                <a:latin typeface="Segoe UI"/>
              </a:defRPr>
            </a:pPr>
            <a:r>
              <a:t>Файл: ShipmentSummaryDto — Режим деградації (Degraded)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5F666E"/>
                </a:solidFill>
                <a:latin typeface="Consolas"/>
              </a:rPr>
              <a:t>// Б. Відповідь при зупиненому сервісі блогу (~2.2 с):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"driverId": "2dc25740-aeb6-438a-be60-bc451562120e",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"driver": { "fullName": "Тарас Коваленко", "status": "Active" },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"activeOrders": [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  { "orderId": "ee4bfc67...", "status": "InTransit" }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],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"roadNotes": [],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"isDegraded": true,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  "aggregationStatus": "Partial (Degraded)"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2D3238"/>
                </a:solidFill>
                <a:latin typeface="Consolas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663440"/>
            <a:ext cx="11183112" cy="1426464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28016" rtlCol="0" anchor="t"/>
          <a:lstStyle/>
          <a:p>
            <a:pPr algn="ctr">
              <a:spcAft>
                <a:spcPts val="700"/>
              </a:spcAft>
              <a:defRPr sz="1600" b="1">
                <a:solidFill>
                  <a:srgbClr val="111418"/>
                </a:solidFill>
                <a:latin typeface="Segoe UI"/>
              </a:defRPr>
            </a:pPr>
            <a:r>
              <a:t>Пояснення: навіщо потрібні метадані isDegraded та aggregationStatus?</a:t>
            </a:r>
          </a:p>
          <a:p>
            <a:pPr>
              <a:spcAft>
                <a:spcPts val="300"/>
              </a:spcAft>
            </a:pPr>
            <a:r>
              <a:rPr sz="1360" b="1">
                <a:solidFill>
                  <a:srgbClr val="111418"/>
                </a:solidFill>
                <a:latin typeface="Segoe UI"/>
              </a:rPr>
              <a:t>• Проблема «німого порожнього масиву»: </a:t>
            </a:r>
            <a:r>
              <a:rPr sz="1360" b="0">
                <a:solidFill>
                  <a:srgbClr val="2D3238"/>
                </a:solidFill>
                <a:latin typeface="Segoe UI"/>
              </a:rPr>
              <a:t>якби агрегатор просто повертав "roadNotes": [] без прапорця isDegraded, фронтенд не міг би відрізнити ситуацію «у водія ще немає нотаток» від ситуації «сервіс блогу лежить».</a:t>
            </a:r>
          </a:p>
          <a:p>
            <a:pPr>
              <a:spcAft>
                <a:spcPts val="200"/>
              </a:spcAft>
            </a:pPr>
            <a:r>
              <a:rPr sz="1360" b="1">
                <a:solidFill>
                  <a:srgbClr val="111418"/>
                </a:solidFill>
                <a:latin typeface="Segoe UI"/>
              </a:rPr>
              <a:t>• Адаптивна поведінка UI: </a:t>
            </a:r>
            <a:r>
              <a:rPr sz="1360" b="0">
                <a:solidFill>
                  <a:srgbClr val="2D3238"/>
                </a:solidFill>
                <a:latin typeface="Segoe UI"/>
              </a:rPr>
              <a:t>бачачи "isDegraded": true, React/WPF-клієнт відображає карту маршруту та вантажі, а в блоці нотаток показує жовтий банер «Блог тимчасово оновлюється».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17920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254496"/>
            <a:ext cx="9555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5F666E"/>
                </a:solidFill>
                <a:latin typeface="Segoe UI"/>
              </a:rPr>
              <a:t>Модель даних: 02-Microservices-Craftsman/CargoDelivery.HttpAggregator/Dtos/ShipmentSummaryDto.cs</a:t>
            </a:r>
          </a:p>
          <a:p>
            <a:r>
              <a:rPr sz="1000" b="1">
                <a:solidFill>
                  <a:srgbClr val="2D3238"/>
                </a:solidFill>
                <a:latin typeface="Segoe UI"/>
              </a:rPr>
              <a:t>Офіційна документація: </a:t>
            </a:r>
            <a:r>
              <a:rPr sz="1000" b="1">
                <a:solidFill>
                  <a:srgbClr val="111418"/>
                </a:solidFill>
                <a:latin typeface="Segoe UI"/>
                <a:hlinkClick r:id="rId2"/>
              </a:rPr>
              <a:t>https://learn.microsoft.com/en-us/azure/architecture/patterns/gateway-aggregation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327648"/>
            <a:ext cx="1536192" cy="347472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50" b="1">
                <a:solidFill>
                  <a:srgbClr val="111418"/>
                </a:solidFill>
                <a:latin typeface="Segoe UI"/>
              </a:defRPr>
            </a:pPr>
            <a:r>
              <a:t>Слайд 30 з 36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11183112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ЧАСТИНА 2. ВНУТРІШНІЙ КОНТУР API ДЛЯ АГРЕГАТОРІВ</a:t>
            </a:r>
          </a:p>
          <a:p>
            <a:pPr>
              <a:defRPr sz="2300" b="1">
                <a:solidFill>
                  <a:srgbClr val="111418"/>
                </a:solidFill>
                <a:latin typeface="Segoe UI"/>
              </a:defRPr>
            </a:pPr>
            <a:r>
              <a:t>Чому для агрегаторів виділено окремі контролери /api/internal/* у кожному сервісі?</a:t>
            </a:r>
          </a:p>
          <a:p>
            <a:pPr>
              <a:defRPr sz="1280">
                <a:solidFill>
                  <a:srgbClr val="5F666E"/>
                </a:solidFill>
                <a:latin typeface="Segoe UI"/>
              </a:defRPr>
            </a:pPr>
            <a:r>
              <a:t>Принцип мінімально необхідних даних, відсутність пагінації всіх записів та незалежна еволюція контрактів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25296"/>
          <a:ext cx="1118311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9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1020">
                <a:tc>
                  <a:txBody>
                    <a:bodyPr/>
                    <a:lstStyle/>
                    <a:p>
                      <a:pPr>
                        <a:defRPr sz="123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Мікросервіс</a:t>
                      </a:r>
                    </a:p>
                  </a:txBody>
                  <a:tcPr marL="100584" marR="100584" anchor="ctr"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3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Внутрішній маршрут для агрегатора</a:t>
                      </a:r>
                    </a:p>
                  </a:txBody>
                  <a:tcPr marL="100584" marR="100584" anchor="ctr"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3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Клас контролера в репозиторії</a:t>
                      </a:r>
                    </a:p>
                  </a:txBody>
                  <a:tcPr marL="100584" marR="100584" anchor="ctr"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3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Чим відрізняється від публічного маршруту /api/*</a:t>
                      </a:r>
                    </a:p>
                  </a:txBody>
                  <a:tcPr marL="100584" marR="100584" anchor="ctr">
                    <a:solidFill>
                      <a:srgbClr val="DCE0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>
                        <a:defRPr sz="118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DriversManagement (:5001)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GET /api/internal/drivers/{id}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InternalDriversController.cs#L43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Повертає лише 5 полів (без паспорта й домашньої адреси водія).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>
                        <a:defRPr sz="118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CargoOrderingService (:5003)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GET /api/internal/deliveries?driverId=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InternalDeliveriesController.cs#L46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Фільтрує доставки конкретного водія в БД замість видачі всіх записів.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>
                        <a:defRPr sz="118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CargoOrderingService (:5003)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POST /api/internal/deliveries/demo-seed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InternalDeliveriesController.cs#L78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Генерує тестову доставку, прив'язану до вказаного driverId.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>
                        <a:defRPr sz="118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DriversBlogManagement (:5002)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GET /api/internal/postaboutdrivers?driverId=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InternalPostAboutDriversController.cs#L45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Повертає до 10 останніх нотаток водія з коротким анонсом.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>
                        <a:defRPr sz="118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DriversBlogManagement (:5002)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POST /api/internal/postaboutdrivers/demo-seed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InternalPostAboutDriversController.cs#L78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Генерує тестову дорожню публікацію для конкретного водія.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02920" y="4617720"/>
            <a:ext cx="11183112" cy="1463040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28016" rtlCol="0" anchor="t"/>
          <a:lstStyle/>
          <a:p>
            <a:pPr algn="ctr">
              <a:spcAft>
                <a:spcPts val="700"/>
              </a:spcAft>
              <a:defRPr sz="1600" b="1">
                <a:solidFill>
                  <a:srgbClr val="111418"/>
                </a:solidFill>
                <a:latin typeface="Segoe UI"/>
              </a:defRPr>
            </a:pPr>
            <a:r>
              <a:t>Інженерний розбір: яку помилку було виправлено завдяки /api/internal/*</a:t>
            </a:r>
          </a:p>
          <a:p>
            <a:pPr>
              <a:spcAft>
                <a:spcPts val="300"/>
              </a:spcAft>
            </a:pPr>
            <a:r>
              <a:rPr sz="1380" b="1">
                <a:solidFill>
                  <a:srgbClr val="111418"/>
                </a:solidFill>
                <a:latin typeface="Segoe UI"/>
              </a:rPr>
              <a:t>• Проблема виклику публічних CRUD-ендпоінтів із агрегатора: </a:t>
            </a:r>
            <a:r>
              <a:rPr sz="1380" b="0">
                <a:solidFill>
                  <a:srgbClr val="2D3238"/>
                </a:solidFill>
                <a:latin typeface="Segoe UI"/>
              </a:rPr>
              <a:t>публічні маршрути (/api/deliveries, /api/postaboutdrivers) повертають пагінований список УСІХ записів системи та вимагають користувацький JWT. Виділення спеціалізованого контуру /api/internal/* дозволило виконувати точковий SQL WHERE DriverId = @id без витоку зайвих полів.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217920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254496"/>
            <a:ext cx="9555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5F666E"/>
                </a:solidFill>
                <a:latin typeface="Segoe UI"/>
              </a:rPr>
              <a:t>Внутрішні контролери: InternalDriversController.cs, InternalDeliveriesController.cs, InternalPostAboutDriversController.cs</a:t>
            </a:r>
          </a:p>
          <a:p>
            <a:r>
              <a:rPr sz="1000" b="1">
                <a:solidFill>
                  <a:srgbClr val="2D3238"/>
                </a:solidFill>
                <a:latin typeface="Segoe UI"/>
              </a:rPr>
              <a:t>Офіційна документація: </a:t>
            </a:r>
            <a:r>
              <a:rPr sz="1000" b="1">
                <a:solidFill>
                  <a:srgbClr val="111418"/>
                </a:solidFill>
                <a:latin typeface="Segoe UI"/>
                <a:hlinkClick r:id="rId2"/>
              </a:rPr>
              <a:t>https://microservices.io/patterns/apigateway.html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327648"/>
            <a:ext cx="1536192" cy="347472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50" b="1">
                <a:solidFill>
                  <a:srgbClr val="111418"/>
                </a:solidFill>
                <a:latin typeface="Segoe UI"/>
              </a:defRPr>
            </a:pPr>
            <a:r>
              <a:t>Слайд 31 з 36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11183112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ЧАСТИНА 2. ЛАБОРАТОРНИЙ ПОЛІГОН СТІЙКОСТІ POLLY V8</a:t>
            </a:r>
          </a:p>
          <a:p>
            <a:pPr>
              <a:defRPr sz="2300" b="1">
                <a:solidFill>
                  <a:srgbClr val="111418"/>
                </a:solidFill>
                <a:latin typeface="Segoe UI"/>
              </a:defRPr>
            </a:pPr>
            <a:r>
              <a:t>Архітектура живої демонстрації Retry, Timeout та Circuit Breaker</a:t>
            </a:r>
          </a:p>
          <a:p>
            <a:pPr>
              <a:defRPr sz="1280">
                <a:solidFill>
                  <a:srgbClr val="5F666E"/>
                </a:solidFill>
                <a:latin typeface="Segoe UI"/>
              </a:defRPr>
            </a:pPr>
            <a:r>
              <a:t>Три ізольовані HTTP-клієнти у CargoDelivery.HttpAggregator для перевірки відмовостійкості за секунди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ag_10_polly_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11183112" cy="354131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4773168"/>
            <a:ext cx="11183112" cy="1325880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28016" rtlCol="0" anchor="t"/>
          <a:lstStyle/>
          <a:p>
            <a:pPr algn="ctr">
              <a:spcAft>
                <a:spcPts val="700"/>
              </a:spcAft>
              <a:defRPr sz="1600" b="1">
                <a:solidFill>
                  <a:srgbClr val="111418"/>
                </a:solidFill>
                <a:latin typeface="Segoe UI"/>
              </a:defRPr>
            </a:pPr>
            <a:r>
              <a:t>Чому створено окремий лабораторний полігон стійкості?</a:t>
            </a:r>
          </a:p>
          <a:p>
            <a:pPr>
              <a:spcAft>
                <a:spcPts val="300"/>
              </a:spcAft>
            </a:pPr>
            <a:r>
              <a:rPr sz="1380" b="1">
                <a:solidFill>
                  <a:srgbClr val="111418"/>
                </a:solidFill>
                <a:latin typeface="Segoe UI"/>
              </a:rPr>
              <a:t>• Миттєва верифікація політик Polly v8: </a:t>
            </a:r>
            <a:r>
              <a:rPr sz="1380" b="0">
                <a:solidFill>
                  <a:srgbClr val="2D3238"/>
                </a:solidFill>
                <a:latin typeface="Segoe UI"/>
              </a:rPr>
              <a:t>замість того щоб вручну зупиняти Docker-контейнери, розробник викликає /api/v1/resilience-demo/retry, /timeout або /circuit-breaker і бачить точні таймінги у мілісекундах.</a:t>
            </a:r>
          </a:p>
          <a:p>
            <a:pPr>
              <a:spcAft>
                <a:spcPts val="200"/>
              </a:spcAft>
            </a:pPr>
            <a:r>
              <a:rPr sz="1380" b="1">
                <a:solidFill>
                  <a:srgbClr val="111418"/>
                </a:solidFill>
                <a:latin typeface="Segoe UI"/>
              </a:rPr>
              <a:t>• Повна ізоляція стану: </a:t>
            </a:r>
            <a:r>
              <a:rPr sz="1380" b="0">
                <a:solidFill>
                  <a:srgbClr val="2D3238"/>
                </a:solidFill>
                <a:latin typeface="Segoe UI"/>
              </a:rPr>
              <a:t>кожен демо-маршрут використовує власний іменований HttpClient, тому відкритий запобіжник не блокує основні бізнес-запити агрегатора.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217920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254496"/>
            <a:ext cx="9555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5F666E"/>
                </a:solidFill>
                <a:latin typeface="Segoe UI"/>
              </a:rPr>
              <a:t>Документація полігону: 02-01-Aspire-Documentation/06_ServiceDiscovery_Resilience_Polly_HttpClient.md (§10)</a:t>
            </a:r>
          </a:p>
          <a:p>
            <a:r>
              <a:rPr sz="1000" b="1">
                <a:solidFill>
                  <a:srgbClr val="2D3238"/>
                </a:solidFill>
                <a:latin typeface="Segoe UI"/>
              </a:rPr>
              <a:t>Офіційна документація: </a:t>
            </a:r>
            <a:r>
              <a:rPr sz="1000" b="1">
                <a:solidFill>
                  <a:srgbClr val="111418"/>
                </a:solidFill>
                <a:latin typeface="Segoe UI"/>
                <a:hlinkClick r:id="rId3"/>
              </a:rPr>
              <a:t>https://learn.microsoft.com/en-us/dotnet/core/resilience/http-resilience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327648"/>
            <a:ext cx="1536192" cy="347472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50" b="1">
                <a:solidFill>
                  <a:srgbClr val="111418"/>
                </a:solidFill>
                <a:latin typeface="Segoe UI"/>
              </a:defRPr>
            </a:pPr>
            <a:r>
              <a:t>Слайд 32 з 36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11183112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ЧАСТИНА 2. КОД КОНТРОЛЕРІВ ЛАБОРАТОРНОГО ПОЛІГОНУ POLLY V8</a:t>
            </a:r>
          </a:p>
          <a:p>
            <a:pPr>
              <a:defRPr sz="2300" b="1">
                <a:solidFill>
                  <a:srgbClr val="111418"/>
                </a:solidFill>
                <a:latin typeface="Segoe UI"/>
              </a:defRPr>
            </a:pPr>
            <a:r>
              <a:t>Реалізація штучних збоїв у SimulationController.cs та їх перехоплення</a:t>
            </a:r>
          </a:p>
          <a:p>
            <a:pPr>
              <a:defRPr sz="1280">
                <a:solidFill>
                  <a:srgbClr val="5F666E"/>
                </a:solidFill>
                <a:latin typeface="Segoe UI"/>
              </a:defRPr>
            </a:pPr>
            <a:r>
              <a:t>Шлях: 02-Microservices-Craftsman/CargoDelivery.HttpAggregator/Controllers/SimulationController.cs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6537960" cy="4864608"/>
          </a:xfrm>
          <a:prstGeom prst="rect">
            <a:avLst/>
          </a:prstGeom>
          <a:solidFill>
            <a:srgbClr val="EBEDF0"/>
          </a:solidFill>
          <a:ln w="15240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64592" bIns="109728" rtlCol="0" anchor="t"/>
          <a:lstStyle/>
          <a:p>
            <a:pPr algn="ctr">
              <a:spcAft>
                <a:spcPts val="600"/>
              </a:spcAft>
              <a:defRPr sz="1320" b="1">
                <a:solidFill>
                  <a:srgbClr val="111418"/>
                </a:solidFill>
                <a:latin typeface="Segoe UI"/>
              </a:defRPr>
            </a:pPr>
            <a:r>
              <a:t>Файл: SimulationController.cs (рядки 22–62)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F666E"/>
                </a:solidFill>
                <a:latin typeface="Consolas"/>
              </a:rPr>
              <a:t>// SimulationController.cs (рядки 22–62):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[HttpGet("slow")]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public async Task&lt;IActionResult&gt; SimulateSlowCall(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    [FromQuery] int delaySeconds = 5, CancellationToken ct = default)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    await Task.Delay(TimeSpan.FromSeconds(delaySeconds), ct);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    return Ok(new { status = "Recovered after delay" });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endParaRPr sz="110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[HttpGet("flaky")]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public IActionResult SimulateFlakyCall([FromQuery] int failUntil = 2)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    var attempt = Interlocked.Increment(ref _flakyAttemptCounter);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    if (attempt &lt;= failUntil)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        return StatusCode(503, new { attempt, error = "Збій 503" });</a:t>
            </a:r>
          </a:p>
          <a:p>
            <a:pPr>
              <a:spcAft>
                <a:spcPts val="200"/>
              </a:spcAft>
            </a:pPr>
            <a:endParaRPr sz="110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    Interlocked.Exchange(ref _flakyAttemptCounter, 0);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    return Ok(new { attempt, message = "Успіх на 3-й спробі!" });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endParaRPr sz="110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[HttpGet("error")]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public IActionResult SimulatePersistentError()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238"/>
                </a:solidFill>
                <a:latin typeface="Consolas"/>
              </a:rPr>
              <a:t>    =&gt; StatusCode(503, new { error = "Постійна помилка 503" });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0" y="1225296"/>
            <a:ext cx="4462272" cy="4864608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28016" rtlCol="0" anchor="t"/>
          <a:lstStyle/>
          <a:p>
            <a:pPr algn="ctr">
              <a:spcAft>
                <a:spcPts val="700"/>
              </a:spcAft>
              <a:defRPr sz="1600" b="1">
                <a:solidFill>
                  <a:srgbClr val="111418"/>
                </a:solidFill>
                <a:latin typeface="Segoe UI"/>
              </a:defRPr>
            </a:pPr>
            <a:r>
              <a:t>Пояснення роботи трьох симуляторів</a:t>
            </a:r>
          </a:p>
          <a:p>
            <a:pPr>
              <a:spcAft>
                <a:spcPts val="800"/>
              </a:spcAft>
            </a:pPr>
            <a:r>
              <a:rPr sz="1360" b="1">
                <a:solidFill>
                  <a:srgbClr val="111418"/>
                </a:solidFill>
                <a:latin typeface="Segoe UI"/>
              </a:rPr>
              <a:t>1. Маршрут /slow (перевірка Timeout):
</a:t>
            </a:r>
            <a:r>
              <a:rPr sz="1360" b="0">
                <a:solidFill>
                  <a:srgbClr val="2D3238"/>
                </a:solidFill>
                <a:latin typeface="Segoe UI"/>
              </a:rPr>
              <a:t>затримує потік на 5 секунд, але політика AttemptTimeout у Polly обриває очікування рівно через 1.5 секунди з винятком TimeoutRejectedException.</a:t>
            </a:r>
          </a:p>
          <a:p>
            <a:pPr>
              <a:spcAft>
                <a:spcPts val="800"/>
              </a:spcAft>
            </a:pPr>
            <a:r>
              <a:rPr sz="1360" b="1">
                <a:solidFill>
                  <a:srgbClr val="111418"/>
                </a:solidFill>
                <a:latin typeface="Segoe UI"/>
              </a:rPr>
              <a:t>2. Маршрут /flaky (перевірка Retry):
</a:t>
            </a:r>
            <a:r>
              <a:rPr sz="1360" b="0">
                <a:solidFill>
                  <a:srgbClr val="2D3238"/>
                </a:solidFill>
                <a:latin typeface="Segoe UI"/>
              </a:rPr>
              <a:t>використовує атомарний лічильник Interlocked.Increment. Перші 2 виклики повертають 503, а 3-тя спроба Polly автоматично отримує 200 OK (~650 мс).</a:t>
            </a:r>
          </a:p>
          <a:p>
            <a:pPr>
              <a:spcAft>
                <a:spcPts val="400"/>
              </a:spcAft>
            </a:pPr>
            <a:r>
              <a:rPr sz="1360" b="1">
                <a:solidFill>
                  <a:srgbClr val="111418"/>
                </a:solidFill>
                <a:latin typeface="Segoe UI"/>
              </a:rPr>
              <a:t>3. Маршрут /error (Circuit Breaker):
</a:t>
            </a:r>
            <a:r>
              <a:rPr sz="1360" b="0">
                <a:solidFill>
                  <a:srgbClr val="2D3238"/>
                </a:solidFill>
                <a:latin typeface="Segoe UI"/>
              </a:rPr>
              <a:t>після 2 невдалих запитів розмикає коло на 15 с — наступні виклики відхиляються за 0 мс (BrokenCircuitException).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217920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254496"/>
            <a:ext cx="9555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5F666E"/>
                </a:solidFill>
                <a:latin typeface="Segoe UI"/>
              </a:rPr>
              <a:t>Файли лабораторії: SimulationController.cs#L22-L62 та ResilienceDemoController.cs#L52-L145</a:t>
            </a:r>
          </a:p>
          <a:p>
            <a:r>
              <a:rPr sz="1000" b="1">
                <a:solidFill>
                  <a:srgbClr val="2D3238"/>
                </a:solidFill>
                <a:latin typeface="Segoe UI"/>
              </a:rPr>
              <a:t>Офіційна документація: </a:t>
            </a:r>
            <a:r>
              <a:rPr sz="1000" b="1">
                <a:solidFill>
                  <a:srgbClr val="111418"/>
                </a:solidFill>
                <a:latin typeface="Segoe UI"/>
                <a:hlinkClick r:id="rId2"/>
              </a:rPr>
              <a:t>https://www.pollydocs.org/strategies/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327648"/>
            <a:ext cx="1536192" cy="347472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50" b="1">
                <a:solidFill>
                  <a:srgbClr val="111418"/>
                </a:solidFill>
                <a:latin typeface="Segoe UI"/>
              </a:defRPr>
            </a:pPr>
            <a:r>
              <a:t>Слайд 33 з 36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11183112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ЧАСТИНА 2. СПОСТЕРЕЖУВАНІСТЬ (OBSERVABILITY) ТА OPENTELEMETRY</a:t>
            </a:r>
          </a:p>
          <a:p>
            <a:pPr>
              <a:defRPr sz="2300" b="1">
                <a:solidFill>
                  <a:srgbClr val="111418"/>
                </a:solidFill>
                <a:latin typeface="Segoe UI"/>
              </a:defRPr>
            </a:pPr>
            <a:r>
              <a:t>Наскрізне дерево трасування (Distributed Tracing) виклику агрегатора в Aspire</a:t>
            </a:r>
          </a:p>
          <a:p>
            <a:pPr>
              <a:defRPr sz="1280">
                <a:solidFill>
                  <a:srgbClr val="5F666E"/>
                </a:solidFill>
                <a:latin typeface="Segoe UI"/>
              </a:defRPr>
            </a:pPr>
            <a:r>
              <a:t>Як заголовок W3C traceparent пов'язує виклик агрегатора, внутрішні HTTP-запити та SQL-запити в одну трасу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801127"/>
              </p:ext>
            </p:extLst>
          </p:nvPr>
        </p:nvGraphicFramePr>
        <p:xfrm>
          <a:off x="502920" y="1225296"/>
          <a:ext cx="11183112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Ієрархія спанів у вкладці Traces (Aspire Dashboard)</a:t>
                      </a:r>
                    </a:p>
                  </a:txBody>
                  <a:tcPr marL="100584" marR="100584" anchor="ctr"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Сервіс / Компонент</a:t>
                      </a:r>
                    </a:p>
                  </a:txBody>
                  <a:tcPr marL="100584" marR="100584" anchor="ctr"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Маршрут або SQL-операція</a:t>
                      </a:r>
                    </a:p>
                  </a:txBody>
                  <a:tcPr marL="100584" marR="100584" anchor="ctr"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Час старту -&gt; Завершення</a:t>
                      </a:r>
                    </a:p>
                  </a:txBody>
                  <a:tcPr marL="100584" marR="100584" anchor="ctr"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Статус</a:t>
                      </a:r>
                    </a:p>
                  </a:txBody>
                  <a:tcPr marL="100584" marR="100584" anchor="ctr">
                    <a:solidFill>
                      <a:srgbClr val="DCE0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1. [SERVER] Вхідний запит диспетчера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CargoDelivery.HttpAggregator (:57390)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GET /api/v1/shipment-summary/{id}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0.0 мс -&gt; 68.0 мс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200 OK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rPr dirty="0"/>
                        <a:t>  |-- 2. [CLIENT HTTP] </a:t>
                      </a:r>
                      <a:r>
                        <a:rPr dirty="0" err="1"/>
                        <a:t>Фаза</a:t>
                      </a:r>
                      <a:r>
                        <a:rPr dirty="0"/>
                        <a:t> 1: Guard Check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DriverApiClient (:57390 -&gt; :5001)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GET /api/internal/drivers/{id}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1.2 мс -&gt; 19.5 мс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200 OK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rPr dirty="0"/>
                        <a:t>  |     |-- 3. [SERVER + SQL] </a:t>
                      </a:r>
                      <a:r>
                        <a:rPr dirty="0" err="1"/>
                        <a:t>Пошук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водія</a:t>
                      </a:r>
                      <a:endParaRPr dirty="0"/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DriversManagement (:5001 -&gt; :1434)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SELECT TOP(1) Drivers WHERE Id = @id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2.5 мс -&gt; 17.8 мс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OK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rPr dirty="0"/>
                        <a:t>  |-- 4. [CLIENT HTTP] </a:t>
                      </a:r>
                      <a:r>
                        <a:rPr dirty="0" err="1"/>
                        <a:t>Фаза</a:t>
                      </a:r>
                      <a:r>
                        <a:rPr dirty="0"/>
                        <a:t> 2А: Fan-Out Orders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CargoOrderApiClient (:57390 -&gt; :5003)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GET /api/internal/deliveries?driverId=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20.0 мс -&gt; 65.2 мс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200 OK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rPr dirty="0"/>
                        <a:t>  |     |-- 5. [SERVER + SQL] </a:t>
                      </a:r>
                      <a:r>
                        <a:rPr dirty="0" err="1"/>
                        <a:t>Вибірка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доставок</a:t>
                      </a:r>
                      <a:endParaRPr dirty="0"/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CargoOrderingService (:5003)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SELECT Deliveries WHERE DriverId = @id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21.8 мс -&gt; 62.0 мс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OK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rPr dirty="0"/>
                        <a:t>  |-- 6. [CLIENT HTTP] </a:t>
                      </a:r>
                      <a:r>
                        <a:rPr dirty="0" err="1"/>
                        <a:t>Фаза</a:t>
                      </a:r>
                      <a:r>
                        <a:rPr dirty="0"/>
                        <a:t> 2Б: Fan-Out Blog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DriverBlogApiClient (:57390 -&gt; :5002)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GET /api/internal/postaboutdrivers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20.1 мс -&gt; 48.4 мс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200 OK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rPr dirty="0"/>
                        <a:t>        |-- 7. [SERVER + SQL] </a:t>
                      </a:r>
                      <a:r>
                        <a:rPr dirty="0" err="1"/>
                        <a:t>Вибірка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нотаток</a:t>
                      </a:r>
                      <a:endParaRPr dirty="0"/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DriversBlogManagement (:5002 -&gt; :1435)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SELECT TOP(10) PostAboutDrivers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22.0 мс -&gt; 45.1 мс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rPr dirty="0"/>
                        <a:t>OK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02920" y="5010912"/>
            <a:ext cx="11183112" cy="1097280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28016" rtlCol="0" anchor="t"/>
          <a:lstStyle/>
          <a:p>
            <a:pPr algn="ctr">
              <a:spcAft>
                <a:spcPts val="200"/>
              </a:spcAft>
            </a:pPr>
            <a:r>
              <a:rPr sz="1380" b="1">
                <a:solidFill>
                  <a:srgbClr val="111418"/>
                </a:solidFill>
                <a:latin typeface="Segoe UI"/>
              </a:rPr>
              <a:t>• Візуальний доказ паралельності в Aspire Dashboard: </a:t>
            </a:r>
            <a:r>
              <a:rPr sz="1380" b="0">
                <a:solidFill>
                  <a:srgbClr val="2D3238"/>
                </a:solidFill>
                <a:latin typeface="Segoe UI"/>
              </a:rPr>
              <a:t>зверніть увагу на час старту спанів #4 (20.0 мс) та #6 (20.1 мс) — вони стартують одночасно одразу після завершення спану #2 (19.5 мс), а загальний час (68 мс) дорівнює максимуму з двох гілок!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217920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254496"/>
            <a:ext cx="9555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5F666E"/>
                </a:solidFill>
                <a:latin typeface="Segoe UI"/>
              </a:rPr>
              <a:t>Гайд по трасуванню: 02-01-Aspire-Documentation/04_Distributed_Tracing_OpenTelemetry_Guide.md</a:t>
            </a:r>
          </a:p>
          <a:p>
            <a:r>
              <a:rPr sz="1000" b="1">
                <a:solidFill>
                  <a:srgbClr val="2D3238"/>
                </a:solidFill>
                <a:latin typeface="Segoe UI"/>
              </a:rPr>
              <a:t>Офіційна документація: </a:t>
            </a:r>
            <a:r>
              <a:rPr sz="1000" b="1">
                <a:solidFill>
                  <a:srgbClr val="111418"/>
                </a:solidFill>
                <a:latin typeface="Segoe UI"/>
                <a:hlinkClick r:id="rId2"/>
              </a:rPr>
              <a:t>https://learn.microsoft.com/en-us/dotnet/aspire/fundamentals/telemetry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327648"/>
            <a:ext cx="1536192" cy="347472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50" b="1">
                <a:solidFill>
                  <a:srgbClr val="111418"/>
                </a:solidFill>
                <a:latin typeface="Segoe UI"/>
              </a:defRPr>
            </a:pPr>
            <a:r>
              <a:t>Слайд 34 з 36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11183112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ЧАСТИНА 2. АРХІТЕКТУРНЕ РЕЗЮМЕ ТА ТИПОВІ ПОМИЛКИ</a:t>
            </a:r>
          </a:p>
          <a:p>
            <a:pPr>
              <a:defRPr sz="2300" b="1">
                <a:solidFill>
                  <a:srgbClr val="111418"/>
                </a:solidFill>
                <a:latin typeface="Segoe UI"/>
              </a:defRPr>
            </a:pPr>
            <a:r>
              <a:t>Матриця антипатернів проти еталонних інженерних практик Gateway &amp; Aggregator</a:t>
            </a:r>
          </a:p>
          <a:p>
            <a:pPr>
              <a:defRPr sz="1280">
                <a:solidFill>
                  <a:srgbClr val="5F666E"/>
                </a:solidFill>
                <a:latin typeface="Segoe UI"/>
              </a:defRPr>
            </a:pPr>
            <a:r>
              <a:t>Підсумковий чек-лист для код-рев'ю мікросервісних шлюзів та агрегаторів у .NET 10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25296"/>
          <a:ext cx="11183112" cy="4864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2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8076">
                <a:tc>
                  <a:txBody>
                    <a:bodyPr/>
                    <a:lstStyle/>
                    <a:p>
                      <a:pPr>
                        <a:defRPr sz="123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Архітектурна область</a:t>
                      </a:r>
                    </a:p>
                  </a:txBody>
                  <a:tcPr marL="100584" marR="100584" anchor="ctr"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3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Поширений антипатерн (Як робити НЕ можна)</a:t>
                      </a:r>
                    </a:p>
                  </a:txBody>
                  <a:tcPr marL="100584" marR="100584" anchor="ctr"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3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Еталонна практика у CargoDeliveryService</a:t>
                      </a:r>
                    </a:p>
                  </a:txBody>
                  <a:tcPr marL="100584" marR="100584" anchor="ctr">
                    <a:solidFill>
                      <a:srgbClr val="DCE0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076">
                <a:tc>
                  <a:txBody>
                    <a:bodyPr/>
                    <a:lstStyle/>
                    <a:p>
                      <a:pPr>
                        <a:defRPr sz="118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Створення HttpClient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using var client = new HttpClient() у кожному методі (Socket Exhaustion)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Типізовані клієнти AddHttpClient&lt;TInterface, TImpl&gt;() через IHttpClientFactory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076">
                <a:tc>
                  <a:txBody>
                    <a:bodyPr/>
                    <a:lstStyle/>
                    <a:p>
                      <a:pPr>
                        <a:defRPr sz="118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Виконання підзапитів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Послідовний await client1; await client2; (сумування всіх затримок)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Паралельний запуск задач і очікування через await Task.WhenAll(t1, t2)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076">
                <a:tc>
                  <a:txBody>
                    <a:bodyPr/>
                    <a:lstStyle/>
                    <a:p>
                      <a:pPr>
                        <a:defRPr sz="118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Конвеєри Polly v8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Виклик .AddStandardResilienceHandler() поверх глобального (16 повторів!)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Виклик .RemoveAllResilienceHandlers() перед заданням власного бюджету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8076">
                <a:tc>
                  <a:txBody>
                    <a:bodyPr/>
                    <a:lstStyle/>
                    <a:p>
                      <a:pPr>
                        <a:defRPr sz="118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Бюджет часу для блогу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Залишити стандартні 30 с для некритичного сервісу (деградація за пів хвилини)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Короткий SoftDependencyBudget: 1 с на спробу, 1 повтор, 3 с загалом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8076">
                <a:tc>
                  <a:txBody>
                    <a:bodyPr/>
                    <a:lstStyle/>
                    <a:p>
                      <a:pPr>
                        <a:defRPr sz="118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Обробка 404 NotFound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Виклик EnsureSuccessStatusCode() до перевірки 404 (хибне спрацювання Polly)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Явна перевірка if (StatusCode == NotFound) return null до виклику Ensure...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8076">
                <a:tc>
                  <a:txBody>
                    <a:bodyPr/>
                    <a:lstStyle/>
                    <a:p>
                      <a:pPr>
                        <a:defRPr sz="118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Паралельність EF Core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Запуск двох запитів до одного DbContext усередині Task.WhenAll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Послідовне завершення першого запиту до старту паралельної фази</a:t>
                      </a:r>
                    </a:p>
                  </a:txBody>
                  <a:tcPr marL="100584" marR="100584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8076">
                <a:tc>
                  <a:txBody>
                    <a:bodyPr/>
                    <a:lstStyle/>
                    <a:p>
                      <a:pPr>
                        <a:defRPr sz="118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Скасування запиту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catch (Exception) без фільтра (глушить скасування запиту клієнтом)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Фільтр catch (Exception ex) when (ex is not OperationCanceledException)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02920" y="6217920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254496"/>
            <a:ext cx="9555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5F666E"/>
                </a:solidFill>
                <a:latin typeface="Segoe UI"/>
              </a:rPr>
              <a:t>Матриця антипатернів: 02-01-Aspire-Documentation/03_HttpAggregator_Gateway_Architecture_And_Design.md (§13)</a:t>
            </a:r>
          </a:p>
          <a:p>
            <a:r>
              <a:rPr sz="1000" b="1">
                <a:solidFill>
                  <a:srgbClr val="2D3238"/>
                </a:solidFill>
                <a:latin typeface="Segoe UI"/>
              </a:rPr>
              <a:t>Офіційна документація: </a:t>
            </a:r>
            <a:r>
              <a:rPr sz="1000" b="1">
                <a:solidFill>
                  <a:srgbClr val="111418"/>
                </a:solidFill>
                <a:latin typeface="Segoe UI"/>
                <a:hlinkClick r:id="rId2"/>
              </a:rPr>
              <a:t>https://learn.microsoft.com/en-us/dotnet/core/resilience/http-resilience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27648"/>
            <a:ext cx="1536192" cy="347472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50" b="1">
                <a:solidFill>
                  <a:srgbClr val="111418"/>
                </a:solidFill>
                <a:latin typeface="Segoe UI"/>
              </a:defRPr>
            </a:pPr>
            <a:r>
              <a:t>Слайд 35 з 36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11183112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ПІДСУМКИ. КАРТА ФАЙЛІВ ПРОЄКТУ ТА ОФІЦІЙНІ ДЖЕРЕЛА</a:t>
            </a:r>
          </a:p>
          <a:p>
            <a:pPr>
              <a:defRPr sz="2300" b="1">
                <a:solidFill>
                  <a:srgbClr val="111418"/>
                </a:solidFill>
                <a:latin typeface="Segoe UI"/>
              </a:defRPr>
            </a:pPr>
            <a:r>
              <a:t>Повна навігація по коду Ocelot API Gateway та HTTP Aggregator у репозиторії</a:t>
            </a:r>
          </a:p>
          <a:p>
            <a:pPr>
              <a:defRPr sz="1280">
                <a:solidFill>
                  <a:srgbClr val="5F666E"/>
                </a:solidFill>
                <a:latin typeface="Segoe UI"/>
              </a:defRPr>
            </a:pPr>
            <a:r>
              <a:t>Усі ключові файли рішення CargoDeliveryService та клікабельні посилання на першоджерела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5669280" cy="4864608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28016" rtlCol="0" anchor="t"/>
          <a:lstStyle/>
          <a:p>
            <a:pPr algn="ctr">
              <a:spcAft>
                <a:spcPts val="700"/>
              </a:spcAft>
              <a:defRPr sz="1600" b="1">
                <a:solidFill>
                  <a:srgbClr val="111418"/>
                </a:solidFill>
                <a:latin typeface="Segoe UI"/>
              </a:defRPr>
            </a:pPr>
            <a:r>
              <a:rPr dirty="0"/>
              <a:t>1. </a:t>
            </a:r>
            <a:r>
              <a:rPr dirty="0" err="1"/>
              <a:t>Карта</a:t>
            </a:r>
            <a:r>
              <a:rPr dirty="0"/>
              <a:t> </a:t>
            </a:r>
            <a:r>
              <a:rPr dirty="0" err="1"/>
              <a:t>файлів</a:t>
            </a:r>
            <a:r>
              <a:rPr dirty="0"/>
              <a:t> у 02-Microservices-Craftsman</a:t>
            </a:r>
          </a:p>
          <a:p>
            <a:pPr>
              <a:spcAft>
                <a:spcPts val="700"/>
              </a:spcAft>
            </a:pPr>
            <a:r>
              <a:rPr lang="en-US" sz="1280" b="1" dirty="0">
                <a:solidFill>
                  <a:srgbClr val="111418"/>
                </a:solidFill>
                <a:latin typeface="Segoe UI"/>
              </a:rPr>
              <a:t>•</a:t>
            </a:r>
            <a:r>
              <a:rPr sz="1280" b="1" dirty="0">
                <a:solidFill>
                  <a:srgbClr val="111418"/>
                </a:solidFill>
                <a:latin typeface="Segoe UI"/>
              </a:rPr>
              <a:t> </a:t>
            </a:r>
            <a:r>
              <a:rPr sz="1280" b="1" dirty="0" err="1">
                <a:solidFill>
                  <a:srgbClr val="111418"/>
                </a:solidFill>
                <a:latin typeface="Segoe UI"/>
              </a:rPr>
              <a:t>Шлюз</a:t>
            </a:r>
            <a:r>
              <a:rPr sz="1280" b="1" dirty="0">
                <a:solidFill>
                  <a:srgbClr val="111418"/>
                </a:solidFill>
                <a:latin typeface="Segoe UI"/>
              </a:rPr>
              <a:t> Ocelot (:5000):
</a:t>
            </a:r>
            <a:r>
              <a:rPr sz="1280" b="0" dirty="0" err="1">
                <a:solidFill>
                  <a:srgbClr val="2D3238"/>
                </a:solidFill>
                <a:latin typeface="Segoe UI"/>
              </a:rPr>
              <a:t>CargoDelivery.ApiGateway</a:t>
            </a:r>
            <a:r>
              <a:rPr sz="1280" b="0" dirty="0">
                <a:solidFill>
                  <a:srgbClr val="2D3238"/>
                </a:solidFill>
                <a:latin typeface="Segoe UI"/>
              </a:rPr>
              <a:t>/</a:t>
            </a:r>
            <a:r>
              <a:rPr sz="1280" b="0" dirty="0" err="1">
                <a:solidFill>
                  <a:srgbClr val="2D3238"/>
                </a:solidFill>
                <a:latin typeface="Segoe UI"/>
              </a:rPr>
              <a:t>Program.cs</a:t>
            </a:r>
            <a:r>
              <a:rPr sz="1280" b="0" dirty="0">
                <a:solidFill>
                  <a:srgbClr val="2D3238"/>
                </a:solidFill>
                <a:latin typeface="Segoe UI"/>
              </a:rPr>
              <a:t>
</a:t>
            </a:r>
            <a:r>
              <a:rPr sz="1280" b="0" dirty="0" err="1">
                <a:solidFill>
                  <a:srgbClr val="2D3238"/>
                </a:solidFill>
                <a:latin typeface="Segoe UI"/>
              </a:rPr>
              <a:t>CargoDelivery.ApiGateway</a:t>
            </a:r>
            <a:r>
              <a:rPr sz="1280" b="0" dirty="0">
                <a:solidFill>
                  <a:srgbClr val="2D3238"/>
                </a:solidFill>
                <a:latin typeface="Segoe UI"/>
              </a:rPr>
              <a:t>/</a:t>
            </a:r>
            <a:r>
              <a:rPr sz="1280" b="0" dirty="0" err="1">
                <a:solidFill>
                  <a:srgbClr val="2D3238"/>
                </a:solidFill>
                <a:latin typeface="Segoe UI"/>
              </a:rPr>
              <a:t>ocelot.json</a:t>
            </a:r>
            <a:r>
              <a:rPr sz="1280" b="0" dirty="0">
                <a:solidFill>
                  <a:srgbClr val="2D3238"/>
                </a:solidFill>
                <a:latin typeface="Segoe UI"/>
              </a:rPr>
              <a:t>
</a:t>
            </a:r>
            <a:r>
              <a:rPr sz="1280" b="0" dirty="0" err="1">
                <a:solidFill>
                  <a:srgbClr val="2D3238"/>
                </a:solidFill>
                <a:latin typeface="Segoe UI"/>
              </a:rPr>
              <a:t>CargoDelivery.ApiGateway</a:t>
            </a:r>
            <a:r>
              <a:rPr sz="1280" b="0" dirty="0">
                <a:solidFill>
                  <a:srgbClr val="2D3238"/>
                </a:solidFill>
                <a:latin typeface="Segoe UI"/>
              </a:rPr>
              <a:t>/Aggregators/</a:t>
            </a:r>
            <a:r>
              <a:rPr sz="1280" b="0" dirty="0" err="1">
                <a:solidFill>
                  <a:srgbClr val="2D3238"/>
                </a:solidFill>
                <a:latin typeface="Segoe UI"/>
              </a:rPr>
              <a:t>DriverSummaryDefinedAggregator.cs</a:t>
            </a:r>
            <a:r>
              <a:rPr sz="1280" b="0" dirty="0">
                <a:solidFill>
                  <a:srgbClr val="2D3238"/>
                </a:solidFill>
                <a:latin typeface="Segoe UI"/>
              </a:rPr>
              <a:t>
</a:t>
            </a:r>
            <a:r>
              <a:rPr sz="1280" b="0" dirty="0" err="1">
                <a:solidFill>
                  <a:srgbClr val="2D3238"/>
                </a:solidFill>
                <a:latin typeface="Segoe UI"/>
              </a:rPr>
              <a:t>CargoDelivery.ApiGateway</a:t>
            </a:r>
            <a:r>
              <a:rPr sz="1280" b="0" dirty="0">
                <a:solidFill>
                  <a:srgbClr val="2D3238"/>
                </a:solidFill>
                <a:latin typeface="Segoe UI"/>
              </a:rPr>
              <a:t>/Controllers/</a:t>
            </a:r>
            <a:r>
              <a:rPr sz="1280" b="0" dirty="0" err="1">
                <a:solidFill>
                  <a:srgbClr val="2D3238"/>
                </a:solidFill>
                <a:latin typeface="Segoe UI"/>
              </a:rPr>
              <a:t>GatewayInfoController.cs</a:t>
            </a:r>
            <a:endParaRPr sz="1280" b="0" dirty="0">
              <a:solidFill>
                <a:srgbClr val="2D3238"/>
              </a:solidFill>
              <a:latin typeface="Segoe UI"/>
            </a:endParaRPr>
          </a:p>
          <a:p>
            <a:pPr>
              <a:spcAft>
                <a:spcPts val="700"/>
              </a:spcAft>
            </a:pPr>
            <a:r>
              <a:rPr sz="1280" b="1" dirty="0">
                <a:solidFill>
                  <a:srgbClr val="111418"/>
                </a:solidFill>
                <a:latin typeface="Segoe UI"/>
              </a:rPr>
              <a:t>• </a:t>
            </a:r>
            <a:r>
              <a:rPr sz="1280" b="1" dirty="0" err="1">
                <a:solidFill>
                  <a:srgbClr val="111418"/>
                </a:solidFill>
                <a:latin typeface="Segoe UI"/>
              </a:rPr>
              <a:t>Виділений</a:t>
            </a:r>
            <a:r>
              <a:rPr sz="1280" b="1" dirty="0">
                <a:solidFill>
                  <a:srgbClr val="111418"/>
                </a:solidFill>
                <a:latin typeface="Segoe UI"/>
              </a:rPr>
              <a:t> HTTP Aggregator (:57390):
</a:t>
            </a:r>
            <a:r>
              <a:rPr sz="1280" b="0" dirty="0" err="1">
                <a:solidFill>
                  <a:srgbClr val="2D3238"/>
                </a:solidFill>
                <a:latin typeface="Segoe UI"/>
              </a:rPr>
              <a:t>CargoDelivery.HttpAggregator</a:t>
            </a:r>
            <a:r>
              <a:rPr sz="1280" b="0" dirty="0">
                <a:solidFill>
                  <a:srgbClr val="2D3238"/>
                </a:solidFill>
                <a:latin typeface="Segoe UI"/>
              </a:rPr>
              <a:t>/</a:t>
            </a:r>
            <a:r>
              <a:rPr sz="1280" b="0" dirty="0" err="1">
                <a:solidFill>
                  <a:srgbClr val="2D3238"/>
                </a:solidFill>
                <a:latin typeface="Segoe UI"/>
              </a:rPr>
              <a:t>Program.cs</a:t>
            </a:r>
            <a:r>
              <a:rPr sz="1280" b="0" dirty="0">
                <a:solidFill>
                  <a:srgbClr val="2D3238"/>
                </a:solidFill>
                <a:latin typeface="Segoe UI"/>
              </a:rPr>
              <a:t>
</a:t>
            </a:r>
            <a:r>
              <a:rPr sz="1280" b="0" dirty="0" err="1">
                <a:solidFill>
                  <a:srgbClr val="2D3238"/>
                </a:solidFill>
                <a:latin typeface="Segoe UI"/>
              </a:rPr>
              <a:t>CargoDelivery.HttpAggregator</a:t>
            </a:r>
            <a:r>
              <a:rPr sz="1280" b="0" dirty="0">
                <a:solidFill>
                  <a:srgbClr val="2D3238"/>
                </a:solidFill>
                <a:latin typeface="Segoe UI"/>
              </a:rPr>
              <a:t>/Domain/Services/</a:t>
            </a:r>
            <a:r>
              <a:rPr sz="1280" b="0" dirty="0" err="1">
                <a:solidFill>
                  <a:srgbClr val="2D3238"/>
                </a:solidFill>
                <a:latin typeface="Segoe UI"/>
              </a:rPr>
              <a:t>ShipmentAggregatorService.cs</a:t>
            </a:r>
            <a:r>
              <a:rPr sz="1280" b="0" dirty="0">
                <a:solidFill>
                  <a:srgbClr val="2D3238"/>
                </a:solidFill>
                <a:latin typeface="Segoe UI"/>
              </a:rPr>
              <a:t>
</a:t>
            </a:r>
            <a:r>
              <a:rPr sz="1280" b="0" dirty="0" err="1">
                <a:solidFill>
                  <a:srgbClr val="2D3238"/>
                </a:solidFill>
                <a:latin typeface="Segoe UI"/>
              </a:rPr>
              <a:t>CargoDelivery.HttpAggregator</a:t>
            </a:r>
            <a:r>
              <a:rPr sz="1280" b="0" dirty="0">
                <a:solidFill>
                  <a:srgbClr val="2D3238"/>
                </a:solidFill>
                <a:latin typeface="Segoe UI"/>
              </a:rPr>
              <a:t>/Controllers/</a:t>
            </a:r>
            <a:r>
              <a:rPr sz="1280" b="0" dirty="0" err="1">
                <a:solidFill>
                  <a:srgbClr val="2D3238"/>
                </a:solidFill>
                <a:latin typeface="Segoe UI"/>
              </a:rPr>
              <a:t>ShipmentSummaryController.cs</a:t>
            </a:r>
            <a:r>
              <a:rPr sz="1280" b="0" dirty="0">
                <a:solidFill>
                  <a:srgbClr val="2D3238"/>
                </a:solidFill>
                <a:latin typeface="Segoe UI"/>
              </a:rPr>
              <a:t>
</a:t>
            </a:r>
            <a:r>
              <a:rPr sz="1280" b="0" dirty="0" err="1">
                <a:solidFill>
                  <a:srgbClr val="2D3238"/>
                </a:solidFill>
                <a:latin typeface="Segoe UI"/>
              </a:rPr>
              <a:t>CargoDelivery.HttpAggregator</a:t>
            </a:r>
            <a:r>
              <a:rPr sz="1280" b="0" dirty="0">
                <a:solidFill>
                  <a:srgbClr val="2D3238"/>
                </a:solidFill>
                <a:latin typeface="Segoe UI"/>
              </a:rPr>
              <a:t>/Controllers/</a:t>
            </a:r>
            <a:r>
              <a:rPr sz="1280" b="0" dirty="0" err="1">
                <a:solidFill>
                  <a:srgbClr val="2D3238"/>
                </a:solidFill>
                <a:latin typeface="Segoe UI"/>
              </a:rPr>
              <a:t>ResilienceDemoController.cs</a:t>
            </a:r>
            <a:endParaRPr sz="1280" b="0" dirty="0">
              <a:solidFill>
                <a:srgbClr val="2D3238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r>
              <a:rPr sz="1280" b="1" dirty="0">
                <a:solidFill>
                  <a:srgbClr val="111418"/>
                </a:solidFill>
                <a:latin typeface="Segoe UI"/>
              </a:rPr>
              <a:t>• </a:t>
            </a:r>
            <a:r>
              <a:rPr sz="1280" b="1" dirty="0" err="1">
                <a:solidFill>
                  <a:srgbClr val="111418"/>
                </a:solidFill>
                <a:latin typeface="Segoe UI"/>
              </a:rPr>
              <a:t>Вбудований</a:t>
            </a:r>
            <a:r>
              <a:rPr sz="1280" b="1" dirty="0">
                <a:solidFill>
                  <a:srgbClr val="111418"/>
                </a:solidFill>
                <a:latin typeface="Segoe UI"/>
              </a:rPr>
              <a:t> BFF (:5001) </a:t>
            </a:r>
            <a:r>
              <a:rPr sz="1280" b="1" dirty="0" err="1">
                <a:solidFill>
                  <a:srgbClr val="111418"/>
                </a:solidFill>
                <a:latin typeface="Segoe UI"/>
              </a:rPr>
              <a:t>та</a:t>
            </a:r>
            <a:r>
              <a:rPr sz="1280" b="1" dirty="0">
                <a:solidFill>
                  <a:srgbClr val="111418"/>
                </a:solidFill>
                <a:latin typeface="Segoe UI"/>
              </a:rPr>
              <a:t> Aspire </a:t>
            </a:r>
            <a:r>
              <a:rPr sz="1280" b="1" dirty="0" err="1">
                <a:solidFill>
                  <a:srgbClr val="111418"/>
                </a:solidFill>
                <a:latin typeface="Segoe UI"/>
              </a:rPr>
              <a:t>AppHost</a:t>
            </a:r>
            <a:r>
              <a:rPr sz="1280" b="1" dirty="0">
                <a:solidFill>
                  <a:srgbClr val="111418"/>
                </a:solidFill>
                <a:latin typeface="Segoe UI"/>
              </a:rPr>
              <a:t>:
</a:t>
            </a:r>
            <a:r>
              <a:rPr sz="1280" b="0" dirty="0" err="1">
                <a:solidFill>
                  <a:srgbClr val="2D3238"/>
                </a:solidFill>
                <a:latin typeface="Segoe UI"/>
              </a:rPr>
              <a:t>DriversManagement</a:t>
            </a:r>
            <a:r>
              <a:rPr sz="1280" b="0" dirty="0">
                <a:solidFill>
                  <a:srgbClr val="2D3238"/>
                </a:solidFill>
                <a:latin typeface="Segoe UI"/>
              </a:rPr>
              <a:t>/.../Features/</a:t>
            </a:r>
            <a:r>
              <a:rPr sz="1280" b="0" dirty="0" err="1">
                <a:solidFill>
                  <a:srgbClr val="2D3238"/>
                </a:solidFill>
                <a:latin typeface="Segoe UI"/>
              </a:rPr>
              <a:t>GetDriverDashboard.cs</a:t>
            </a:r>
            <a:r>
              <a:rPr sz="1280" b="0" dirty="0">
                <a:solidFill>
                  <a:srgbClr val="2D3238"/>
                </a:solidFill>
                <a:latin typeface="Segoe UI"/>
              </a:rPr>
              <a:t>
Aspire/</a:t>
            </a:r>
            <a:r>
              <a:rPr sz="1280" b="0" dirty="0" err="1">
                <a:solidFill>
                  <a:srgbClr val="2D3238"/>
                </a:solidFill>
                <a:latin typeface="Segoe UI"/>
              </a:rPr>
              <a:t>CargoDelivery.AppHost</a:t>
            </a:r>
            <a:r>
              <a:rPr sz="1280" b="0" dirty="0">
                <a:solidFill>
                  <a:srgbClr val="2D3238"/>
                </a:solidFill>
                <a:latin typeface="Segoe UI"/>
              </a:rPr>
              <a:t>/</a:t>
            </a:r>
            <a:r>
              <a:rPr sz="1280" b="0" dirty="0" err="1">
                <a:solidFill>
                  <a:srgbClr val="2D3238"/>
                </a:solidFill>
                <a:latin typeface="Segoe UI"/>
              </a:rPr>
              <a:t>AppHost.cs</a:t>
            </a:r>
            <a:endParaRPr sz="1280" b="0" dirty="0">
              <a:solidFill>
                <a:srgbClr val="2D3238"/>
              </a:solidFill>
              <a:latin typeface="Segoe U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355080" y="1225296"/>
            <a:ext cx="5330952" cy="4864608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28016" rtlCol="0" anchor="t"/>
          <a:lstStyle/>
          <a:p>
            <a:pPr algn="ctr">
              <a:spcAft>
                <a:spcPts val="700"/>
              </a:spcAft>
              <a:defRPr sz="1600" b="1">
                <a:solidFill>
                  <a:srgbClr val="111418"/>
                </a:solidFill>
                <a:latin typeface="Segoe UI"/>
              </a:defRPr>
            </a:pPr>
            <a:r>
              <a:t>2. Офіційна документація (Клікабельні посилання)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11418"/>
                </a:solidFill>
                <a:latin typeface="Segoe UI"/>
              </a:rPr>
              <a:t>• Microsoft Learn — API Gateways with Ocelot:
  </a:t>
            </a:r>
            <a:r>
              <a:rPr sz="1120">
                <a:solidFill>
                  <a:srgbClr val="2D3238"/>
                </a:solidFill>
                <a:latin typeface="Segoe UI"/>
                <a:hlinkClick r:id="rId2"/>
              </a:rPr>
              <a:t>https://learn.microsoft.com/en-us/dotnet/architecture/microservices/multi-container-microservice-net-applications/implement-api-gateways-with-ocelot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11418"/>
                </a:solidFill>
                <a:latin typeface="Segoe UI"/>
              </a:rPr>
              <a:t>• Ocelot Official Documentation — Request Aggregation:
  </a:t>
            </a:r>
            <a:r>
              <a:rPr sz="1120">
                <a:solidFill>
                  <a:srgbClr val="2D3238"/>
                </a:solidFill>
                <a:latin typeface="Segoe UI"/>
                <a:hlinkClick r:id="rId3"/>
              </a:rPr>
              <a:t>https://ocelot.readthedocs.io/en/latest/features/aggregation.html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11418"/>
                </a:solidFill>
                <a:latin typeface="Segoe UI"/>
              </a:rPr>
              <a:t>• Azure Architecture Center — Gateway Aggregation Pattern:
  </a:t>
            </a:r>
            <a:r>
              <a:rPr sz="1120">
                <a:solidFill>
                  <a:srgbClr val="2D3238"/>
                </a:solidFill>
                <a:latin typeface="Segoe UI"/>
                <a:hlinkClick r:id="rId4"/>
              </a:rPr>
              <a:t>https://learn.microsoft.com/en-us/azure/architecture/patterns/gateway-aggregation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11418"/>
                </a:solidFill>
                <a:latin typeface="Segoe UI"/>
              </a:rPr>
              <a:t>• Azure Architecture Center — Backends for Frontends (BFF):
  </a:t>
            </a:r>
            <a:r>
              <a:rPr sz="1120">
                <a:solidFill>
                  <a:srgbClr val="2D3238"/>
                </a:solidFill>
                <a:latin typeface="Segoe UI"/>
                <a:hlinkClick r:id="rId5"/>
              </a:rPr>
              <a:t>https://learn.microsoft.com/en-us/azure/architecture/patterns/backends-for-frontends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11418"/>
                </a:solidFill>
                <a:latin typeface="Segoe UI"/>
              </a:rPr>
              <a:t>• .NET 10 Aspire — Service Discovery &amp; HTTP Resilience:
  </a:t>
            </a:r>
            <a:r>
              <a:rPr sz="1120">
                <a:solidFill>
                  <a:srgbClr val="2D3238"/>
                </a:solidFill>
                <a:latin typeface="Segoe UI"/>
                <a:hlinkClick r:id="rId6"/>
              </a:rPr>
              <a:t>https://learn.microsoft.com/en-us/dotnet/core/resilience/http-resilience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11418"/>
                </a:solidFill>
                <a:latin typeface="Segoe UI"/>
              </a:rPr>
              <a:t>• Martin Fowler — Tolerant Reader Pattern:
  </a:t>
            </a:r>
            <a:r>
              <a:rPr sz="1120">
                <a:solidFill>
                  <a:srgbClr val="2D3238"/>
                </a:solidFill>
                <a:latin typeface="Segoe UI"/>
                <a:hlinkClick r:id="rId7"/>
              </a:rPr>
              <a:t>https://martinfowler.com/bliki/TolerantReader.html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217920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254496"/>
            <a:ext cx="9555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5F666E"/>
                </a:solidFill>
                <a:latin typeface="Segoe UI"/>
              </a:rPr>
              <a:t>Дякуємо за увагу! Рішення: CargoDeliveryService.sln (02-Microservices-Craftsman)</a:t>
            </a:r>
          </a:p>
          <a:p>
            <a:r>
              <a:rPr sz="1000" b="1">
                <a:solidFill>
                  <a:srgbClr val="2D3238"/>
                </a:solidFill>
                <a:latin typeface="Segoe UI"/>
              </a:rPr>
              <a:t>Офіційна документація: </a:t>
            </a:r>
            <a:r>
              <a:rPr sz="1000" b="1">
                <a:solidFill>
                  <a:srgbClr val="111418"/>
                </a:solidFill>
                <a:latin typeface="Segoe UI"/>
                <a:hlinkClick r:id="rId8"/>
              </a:rPr>
              <a:t>https://learn.microsoft.com/en-us/dotnet/architecture/microservices/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327648"/>
            <a:ext cx="1536192" cy="347472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50" b="1">
                <a:solidFill>
                  <a:srgbClr val="111418"/>
                </a:solidFill>
                <a:latin typeface="Segoe UI"/>
              </a:defRPr>
            </a:pPr>
            <a:r>
              <a:t>Слайд 36 з 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10089</Words>
  <Application>Microsoft Office PowerPoint</Application>
  <PresentationFormat>Широкоэкранный</PresentationFormat>
  <Paragraphs>953</Paragraphs>
  <Slides>36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41" baseType="lpstr">
      <vt:lpstr>Arial</vt:lpstr>
      <vt:lpstr>Calibri</vt:lpstr>
      <vt:lpstr>Consolas</vt:lpstr>
      <vt:lpstr>Segoe UI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Yuriy Tomka</cp:lastModifiedBy>
  <cp:revision>2</cp:revision>
  <dcterms:created xsi:type="dcterms:W3CDTF">2013-01-27T09:14:16Z</dcterms:created>
  <dcterms:modified xsi:type="dcterms:W3CDTF">2026-10-16T08:28:19Z</dcterms:modified>
  <cp:category/>
</cp:coreProperties>
</file>