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84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4" d="100"/>
          <a:sy n="74" d="100"/>
        </p:scale>
        <p:origin x="1013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rpc.io/docs/what-is-grpc/introduction/" TargetMode="Externa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rpc.io/docs/what-is-grpc/core-concepts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learn.microsoft.com/en-us/dotnet/architecture/cloud-native/grpc" TargetMode="Externa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grpc/grpc/blob/master/doc/PROTOCOL-HTTP2.md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protobuf.dev/programming-guides/encoding/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learn.microsoft.com/en-us/aspnet/core/grpc/protobuf" TargetMode="Externa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grpc.io/docs/languages/csharp/basics/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learn.microsoft.com/en-us/aspnet/core/grpc/comparison" TargetMode="Externa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grpc.io/docs/what-is-grpc/introduction/" TargetMode="Externa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protobuf.dev/overview/" TargetMode="Externa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devblogs.microsoft.com/aspnet/grpc-performance-improvements-in-net-5/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dotnet/aspire/get-started/aspire-overview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learn.microsoft.com/en-us/dotnet/aspire/service-discovery/overview" TargetMode="Externa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protobuf.dev/programming-guides/proto3/" TargetMode="Externa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aspnet/core/grpc/basics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microservices.io/patterns/decomposition/decompose-by-subdomain.html" TargetMode="Externa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aspnet/core/grpc/services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s://learn.microsoft.com/en-us/aspnet/core/grpc/services" TargetMode="Externa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s://learn.microsoft.com/en-us/aspnet/core/grpc/aspnetcore" TargetMode="Externa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s://learn.microsoft.com/en-us/aspnet/core/grpc/diagnostics" TargetMode="Externa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https://grpc.io/docs/guides/status-codes/" TargetMode="Externa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hyperlink" Target="https://learn.microsoft.com/en-us/aspnet/core/grpc/clientfactory" TargetMode="Externa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dotnet/core/resilience/http-resilience" TargetMode="Externa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hyperlink" Target="https://learn.microsoft.com/en-us/azure/architecture/patterns/anti-corruption-layer" TargetMode="Externa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hyperlink" Target="https://learn.microsoft.com/en-us/aspnet/core/grpc/loadbalancing" TargetMode="Externa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hyperlink" Target="https://learn.microsoft.com/en-us/dotnet/aspire/fundamentals/telemetry" TargetMode="Externa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microservices.io/patterns/data/cqrs.html" TargetMode="Externa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hyperlink" Target="https://learn.microsoft.com/en-us/aspnet/core/grpc/json-transcoding" TargetMode="Externa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hyperlink" Target="https://devblogs.microsoft.com/aspnet/grpc-performance-improvements-in-net-5/" TargetMode="External"/><Relationship Id="rId3" Type="http://schemas.openxmlformats.org/officeDocument/2006/relationships/hyperlink" Target="https://grpc.io/docs/languages/csharp/basics/" TargetMode="External"/><Relationship Id="rId7" Type="http://schemas.openxmlformats.org/officeDocument/2006/relationships/hyperlink" Target="https://learn.microsoft.com/en-us/aspnet/core/grpc/clientfactory" TargetMode="External"/><Relationship Id="rId2" Type="http://schemas.openxmlformats.org/officeDocument/2006/relationships/hyperlink" Target="https://grpc.io/docs/what-is-grpc/introduction/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learn.microsoft.com/en-us/dotnet/architecture/cloud-native/grpc" TargetMode="External"/><Relationship Id="rId5" Type="http://schemas.openxmlformats.org/officeDocument/2006/relationships/hyperlink" Target="https://protobuf.dev/programming-guides/encoding/" TargetMode="External"/><Relationship Id="rId10" Type="http://schemas.openxmlformats.org/officeDocument/2006/relationships/hyperlink" Target="https://grpc.io/docs/" TargetMode="External"/><Relationship Id="rId4" Type="http://schemas.openxmlformats.org/officeDocument/2006/relationships/hyperlink" Target="https://protobuf.dev/programming-guides/proto3/" TargetMode="External"/><Relationship Id="rId9" Type="http://schemas.openxmlformats.org/officeDocument/2006/relationships/hyperlink" Target="https://github.com/EmperorRXF/RESTvsGRPC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50292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5F666E"/>
                </a:solidFill>
                <a:latin typeface="Segoe UI"/>
              </a:defRPr>
            </a:pPr>
            <a:r>
              <a:t>АКАДЕМІЧНИЙ КУРС  |  02-MICROSERVICES-CRAFTSMAN  |  .NET 10 &amp; ASPIRE</a:t>
            </a:r>
          </a:p>
          <a:p>
            <a:pPr>
              <a:spcAft>
                <a:spcPts val="1000"/>
              </a:spcAft>
              <a:defRPr sz="3400" b="1">
                <a:solidFill>
                  <a:srgbClr val="111418"/>
                </a:solidFill>
                <a:latin typeface="Segoe UI"/>
              </a:defRPr>
            </a:pPr>
            <a:r>
              <a:t>gRPC та Protocol Buffers у .NET 10:</a:t>
            </a:r>
            <a:br/>
            <a:r>
              <a:t>Високопродуктивна міжсервісна комунікація</a:t>
            </a:r>
          </a:p>
          <a:p>
            <a:pPr>
              <a:defRPr sz="1600">
                <a:solidFill>
                  <a:srgbClr val="2D3238"/>
                </a:solidFill>
                <a:latin typeface="Segoe UI"/>
              </a:defRPr>
            </a:pPr>
            <a:r>
              <a:t>Теорія протоколів SPDY та HTTP/2, бінарна серіалізація Protobuf v3, архітектурні діаграми та практичний розбір проєкту Cargo Delivery Service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2606040"/>
            <a:ext cx="10972800" cy="27432"/>
          </a:xfrm>
          <a:prstGeom prst="rect">
            <a:avLst/>
          </a:prstGeom>
          <a:solidFill>
            <a:srgbClr val="11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94360" y="2880360"/>
            <a:ext cx="3520440" cy="3246120"/>
          </a:xfrm>
          <a:prstGeom prst="rect">
            <a:avLst/>
          </a:prstGeom>
          <a:solidFill>
            <a:srgbClr val="F6F7F8"/>
          </a:solidFill>
          <a:ln w="12700">
            <a:solidFill>
              <a:srgbClr val="B9B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46304" rIns="182880" bIns="128016" rtlCol="0" anchor="t"/>
          <a:lstStyle/>
          <a:p>
            <a:pPr algn="ctr">
              <a:spcAft>
                <a:spcPts val="800"/>
              </a:spcAft>
              <a:defRPr sz="1650" b="1">
                <a:solidFill>
                  <a:srgbClr val="111418"/>
                </a:solidFill>
                <a:latin typeface="Segoe UI"/>
              </a:defRPr>
            </a:pPr>
            <a:r>
              <a:t>1. Мережева теорія та HTTP/2</a:t>
            </a:r>
          </a:p>
          <a:p>
            <a:pPr>
              <a:spcAft>
                <a:spcPts val="600"/>
              </a:spcAft>
            </a:pPr>
            <a:r>
              <a:rPr sz="1450" b="1">
                <a:solidFill>
                  <a:srgbClr val="111418"/>
                </a:solidFill>
                <a:latin typeface="Segoe UI"/>
              </a:rPr>
              <a:t>• Еволюція: </a:t>
            </a:r>
            <a:r>
              <a:rPr sz="1450" b="0">
                <a:solidFill>
                  <a:srgbClr val="2D3238"/>
                </a:solidFill>
                <a:latin typeface="Segoe UI"/>
              </a:rPr>
              <a:t>Stubby -&gt; SPDY -&gt; HTTP/2 -&gt; gRPC</a:t>
            </a:r>
          </a:p>
          <a:p>
            <a:pPr>
              <a:spcAft>
                <a:spcPts val="600"/>
              </a:spcAft>
            </a:pPr>
            <a:r>
              <a:rPr sz="1450" b="1">
                <a:solidFill>
                  <a:srgbClr val="111418"/>
                </a:solidFill>
                <a:latin typeface="Segoe UI"/>
              </a:rPr>
              <a:t>• Транспорт HTTP/2: </a:t>
            </a:r>
            <a:r>
              <a:rPr sz="1450" b="0">
                <a:solidFill>
                  <a:srgbClr val="2D3238"/>
                </a:solidFill>
                <a:latin typeface="Segoe UI"/>
              </a:rPr>
              <a:t>бінарні потоки (Streams), мультиплексування, HPACK та Trailers</a:t>
            </a:r>
          </a:p>
          <a:p>
            <a:pPr>
              <a:spcAft>
                <a:spcPts val="600"/>
              </a:spcAft>
            </a:pPr>
            <a:r>
              <a:rPr sz="1450" b="1">
                <a:solidFill>
                  <a:srgbClr val="111418"/>
                </a:solidFill>
                <a:latin typeface="Segoe UI"/>
              </a:rPr>
              <a:t>• Бінарний Protobuf: </a:t>
            </a:r>
            <a:r>
              <a:rPr sz="1450" b="0">
                <a:solidFill>
                  <a:srgbClr val="2D3238"/>
                </a:solidFill>
                <a:latin typeface="Segoe UI"/>
              </a:rPr>
              <a:t>кодування Tag-Length-Value та Base 128 Varint</a:t>
            </a:r>
          </a:p>
          <a:p>
            <a:pPr>
              <a:spcAft>
                <a:spcPts val="600"/>
              </a:spcAft>
            </a:pPr>
            <a:r>
              <a:rPr sz="1450" b="1">
                <a:solidFill>
                  <a:srgbClr val="111418"/>
                </a:solidFill>
                <a:latin typeface="Segoe UI"/>
              </a:rPr>
              <a:t>• 4 режими RPC: </a:t>
            </a:r>
            <a:r>
              <a:rPr sz="1450" b="0">
                <a:solidFill>
                  <a:srgbClr val="2D3238"/>
                </a:solidFill>
                <a:latin typeface="Segoe UI"/>
              </a:rPr>
              <a:t>Unary, Server, Client та Bidirectional Streaming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315968" y="2880360"/>
            <a:ext cx="3520440" cy="3246120"/>
          </a:xfrm>
          <a:prstGeom prst="rect">
            <a:avLst/>
          </a:prstGeom>
          <a:solidFill>
            <a:srgbClr val="F6F7F8"/>
          </a:solidFill>
          <a:ln w="12700">
            <a:solidFill>
              <a:srgbClr val="B9B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46304" rIns="182880" bIns="128016" rtlCol="0" anchor="t"/>
          <a:lstStyle/>
          <a:p>
            <a:pPr algn="ctr">
              <a:spcAft>
                <a:spcPts val="800"/>
              </a:spcAft>
              <a:defRPr sz="1650" b="1">
                <a:solidFill>
                  <a:srgbClr val="111418"/>
                </a:solidFill>
                <a:latin typeface="Segoe UI"/>
              </a:defRPr>
            </a:pPr>
            <a:r>
              <a:t>2. Порівняння та Бенчмарки</a:t>
            </a:r>
          </a:p>
          <a:p>
            <a:pPr>
              <a:spcAft>
                <a:spcPts val="600"/>
              </a:spcAft>
            </a:pPr>
            <a:r>
              <a:rPr sz="1450" b="1">
                <a:solidFill>
                  <a:srgbClr val="111418"/>
                </a:solidFill>
                <a:latin typeface="Segoe UI"/>
              </a:rPr>
              <a:t>• Архітектурний вибір: </a:t>
            </a:r>
            <a:r>
              <a:rPr sz="1450" b="0">
                <a:solidFill>
                  <a:srgbClr val="2D3238"/>
                </a:solidFill>
                <a:latin typeface="Segoe UI"/>
              </a:rPr>
              <a:t>REST vs gRPC vs GraphQL (переваги та обмеження)</a:t>
            </a:r>
          </a:p>
          <a:p>
            <a:pPr>
              <a:spcAft>
                <a:spcPts val="600"/>
              </a:spcAft>
            </a:pPr>
            <a:r>
              <a:rPr sz="1450" b="1">
                <a:solidFill>
                  <a:srgbClr val="111418"/>
                </a:solidFill>
                <a:latin typeface="Segoe UI"/>
              </a:rPr>
              <a:t>• Матриця форматів: </a:t>
            </a:r>
            <a:r>
              <a:rPr sz="1450" b="0">
                <a:solidFill>
                  <a:srgbClr val="2D3238"/>
                </a:solidFill>
                <a:latin typeface="Segoe UI"/>
              </a:rPr>
              <a:t>Protobuf vs JSON vs XML vs MessagePack</a:t>
            </a:r>
          </a:p>
          <a:p>
            <a:pPr>
              <a:spcAft>
                <a:spcPts val="600"/>
              </a:spcAft>
            </a:pPr>
            <a:r>
              <a:rPr sz="1450" b="1">
                <a:solidFill>
                  <a:srgbClr val="111418"/>
                </a:solidFill>
                <a:latin typeface="Segoe UI"/>
              </a:rPr>
              <a:t>• Швидкодія: </a:t>
            </a:r>
            <a:r>
              <a:rPr sz="1450" b="0">
                <a:solidFill>
                  <a:srgbClr val="2D3238"/>
                </a:solidFill>
                <a:latin typeface="Segoe UI"/>
              </a:rPr>
              <a:t>gRPC у 7–10 разів швидший за REST JSON на серіалізації</a:t>
            </a:r>
          </a:p>
          <a:p>
            <a:pPr>
              <a:spcAft>
                <a:spcPts val="600"/>
              </a:spcAft>
            </a:pPr>
            <a:r>
              <a:rPr sz="1450" b="1">
                <a:solidFill>
                  <a:srgbClr val="111418"/>
                </a:solidFill>
                <a:latin typeface="Segoe UI"/>
              </a:rPr>
              <a:t>• Еволюція .NET: </a:t>
            </a:r>
            <a:r>
              <a:rPr sz="1450" b="0">
                <a:solidFill>
                  <a:srgbClr val="2D3238"/>
                </a:solidFill>
                <a:latin typeface="Segoe UI"/>
              </a:rPr>
              <a:t>.NET Core 3.1 -&gt; .NET 5 (+230% клієнт) -&gt; .NET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8046720" y="2880360"/>
            <a:ext cx="3520440" cy="3246120"/>
          </a:xfrm>
          <a:prstGeom prst="rect">
            <a:avLst/>
          </a:prstGeom>
          <a:solidFill>
            <a:srgbClr val="F6F7F8"/>
          </a:solidFill>
          <a:ln w="12700">
            <a:solidFill>
              <a:srgbClr val="B9B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46304" rIns="182880" bIns="128016" rtlCol="0" anchor="t"/>
          <a:lstStyle/>
          <a:p>
            <a:pPr algn="ctr">
              <a:spcAft>
                <a:spcPts val="800"/>
              </a:spcAft>
              <a:defRPr sz="1650" b="1">
                <a:solidFill>
                  <a:srgbClr val="111418"/>
                </a:solidFill>
                <a:latin typeface="Segoe UI"/>
              </a:defRPr>
            </a:pPr>
            <a:r>
              <a:t>3. Практика CargoDeliveryService</a:t>
            </a:r>
          </a:p>
          <a:p>
            <a:pPr>
              <a:spcAft>
                <a:spcPts val="600"/>
              </a:spcAft>
            </a:pPr>
            <a:r>
              <a:rPr sz="1450" b="1">
                <a:solidFill>
                  <a:srgbClr val="111418"/>
                </a:solidFill>
                <a:latin typeface="Segoe UI"/>
              </a:rPr>
              <a:t>• Контракт: </a:t>
            </a:r>
            <a:r>
              <a:rPr sz="1450" b="0">
                <a:solidFill>
                  <a:srgbClr val="2D3238"/>
                </a:solidFill>
                <a:latin typeface="Segoe UI"/>
              </a:rPr>
              <a:t>Driver.proto та автогенерація C# через Grpc.Tools</a:t>
            </a:r>
          </a:p>
          <a:p>
            <a:pPr>
              <a:spcAft>
                <a:spcPts val="600"/>
              </a:spcAft>
            </a:pPr>
            <a:r>
              <a:rPr sz="1450" b="1">
                <a:solidFill>
                  <a:srgbClr val="111418"/>
                </a:solidFill>
                <a:latin typeface="Segoe UI"/>
              </a:rPr>
              <a:t>• Сервер (:5002): </a:t>
            </a:r>
            <a:r>
              <a:rPr sz="1450" b="0">
                <a:solidFill>
                  <a:srgbClr val="2D3238"/>
                </a:solidFill>
                <a:latin typeface="Segoe UI"/>
              </a:rPr>
              <a:t>DriverRpcService у DriversBlogManagement</a:t>
            </a:r>
          </a:p>
          <a:p>
            <a:pPr>
              <a:spcAft>
                <a:spcPts val="600"/>
              </a:spcAft>
            </a:pPr>
            <a:r>
              <a:rPr sz="1450" b="1">
                <a:solidFill>
                  <a:srgbClr val="111418"/>
                </a:solidFill>
                <a:latin typeface="Segoe UI"/>
              </a:rPr>
              <a:t>• Клієнт (:5001): </a:t>
            </a:r>
            <a:r>
              <a:rPr sz="1450" b="0">
                <a:solidFill>
                  <a:srgbClr val="2D3238"/>
                </a:solidFill>
                <a:latin typeface="Segoe UI"/>
              </a:rPr>
              <a:t>GetDriver.Handler у DriversManagement</a:t>
            </a:r>
          </a:p>
          <a:p>
            <a:pPr>
              <a:spcAft>
                <a:spcPts val="600"/>
              </a:spcAft>
            </a:pPr>
            <a:r>
              <a:rPr sz="1450" b="1">
                <a:solidFill>
                  <a:srgbClr val="111418"/>
                </a:solidFill>
                <a:latin typeface="Segoe UI"/>
              </a:rPr>
              <a:t>• Надійність: </a:t>
            </a:r>
            <a:r>
              <a:rPr sz="1450" b="0">
                <a:solidFill>
                  <a:srgbClr val="2D3238"/>
                </a:solidFill>
                <a:latin typeface="Segoe UI"/>
              </a:rPr>
              <a:t>Polly SoftDependencyBudget, Graceful Degradation та Aspire OTel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19088"/>
            <a:ext cx="11183112" cy="13716"/>
          </a:xfrm>
          <a:prstGeom prst="rect">
            <a:avLst/>
          </a:prstGeom>
          <a:solidFill>
            <a:srgbClr val="B9B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464808"/>
            <a:ext cx="9509760" cy="29260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050">
                <a:solidFill>
                  <a:srgbClr val="5F666E"/>
                </a:solidFill>
                <a:latin typeface="Segoe UI"/>
              </a:rPr>
              <a:t>Модуль: 02-Microservices-Craftsman | Стек: .NET 10, Grpc.AspNetCore 2.71, Google.Protobuf 3.30</a:t>
            </a:r>
            <a:r>
              <a:rPr sz="1050" b="1">
                <a:solidFill>
                  <a:srgbClr val="111418"/>
                </a:solidFill>
                <a:latin typeface="Segoe UI"/>
                <a:hlinkClick r:id="rId2"/>
              </a:rPr>
              <a:t>   |   Джерело: https://grpc.io/docs/what-is-grpc/introduction/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49840" y="6464808"/>
            <a:ext cx="1536192" cy="292608"/>
          </a:xfrm>
          <a:prstGeom prst="rect">
            <a:avLst/>
          </a:prstGeom>
          <a:noFill/>
        </p:spPr>
        <p:txBody>
          <a:bodyPr wrap="none" tIns="0" rIns="0">
            <a:spAutoFit/>
          </a:bodyPr>
          <a:lstStyle/>
          <a:p>
            <a:pPr algn="r">
              <a:defRPr sz="1100" b="1">
                <a:solidFill>
                  <a:srgbClr val="111418"/>
                </a:solidFill>
                <a:latin typeface="Segoe UI"/>
              </a:defRPr>
            </a:pPr>
            <a:r>
              <a:t>Слайд 1 з 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11183112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5F666E"/>
                </a:solidFill>
                <a:latin typeface="Segoe UI"/>
              </a:defRPr>
            </a:pPr>
            <a:r>
              <a:t>РОЗДІЛ 1. ІСТОРІЯ ТА ПЕРЕДУМОВИ</a:t>
            </a:r>
          </a:p>
          <a:p>
            <a:pPr>
              <a:defRPr sz="2400" b="1">
                <a:solidFill>
                  <a:srgbClr val="111418"/>
                </a:solidFill>
                <a:latin typeface="Segoe UI"/>
              </a:defRPr>
            </a:pPr>
            <a:r>
              <a:t>Еволюція RPC: від Google Stubby та SPDY до HTTP/2 і gRPC</a:t>
            </a:r>
          </a:p>
          <a:p>
            <a:pPr>
              <a:defRPr sz="1350">
                <a:solidFill>
                  <a:srgbClr val="5F666E"/>
                </a:solidFill>
                <a:latin typeface="Segoe UI"/>
              </a:defRPr>
            </a:pPr>
            <a:r>
              <a:t>Як проблема затримок HTTP/1.1 у дата-центрах привела до появи сучасного бінарного стандарту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15568"/>
            <a:ext cx="11183112" cy="18288"/>
          </a:xfrm>
          <a:prstGeom prst="rect">
            <a:avLst/>
          </a:prstGeom>
          <a:solidFill>
            <a:srgbClr val="505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diag_01_evol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4440"/>
            <a:ext cx="11183112" cy="279577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02920" y="4006934"/>
            <a:ext cx="5440680" cy="2350008"/>
          </a:xfrm>
          <a:prstGeom prst="rect">
            <a:avLst/>
          </a:prstGeom>
          <a:solidFill>
            <a:srgbClr val="F6F7F8"/>
          </a:solidFill>
          <a:ln w="12700">
            <a:solidFill>
              <a:srgbClr val="B9B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46304" rIns="182880" bIns="128016" rtlCol="0" anchor="t"/>
          <a:lstStyle/>
          <a:p>
            <a:pPr algn="ctr">
              <a:spcAft>
                <a:spcPts val="800"/>
              </a:spcAft>
              <a:defRPr sz="1650" b="1">
                <a:solidFill>
                  <a:srgbClr val="111418"/>
                </a:solidFill>
                <a:latin typeface="Segoe UI"/>
              </a:defRPr>
            </a:pPr>
            <a:r>
              <a:rPr dirty="0" err="1"/>
              <a:t>Протокол</a:t>
            </a:r>
            <a:r>
              <a:rPr dirty="0"/>
              <a:t> SPDY (Google, 2009) — </a:t>
            </a:r>
            <a:r>
              <a:rPr dirty="0" err="1"/>
              <a:t>фундамент</a:t>
            </a:r>
            <a:r>
              <a:rPr dirty="0"/>
              <a:t> HTTP/2</a:t>
            </a:r>
          </a:p>
          <a:p>
            <a:pPr>
              <a:spcAft>
                <a:spcPts val="500"/>
              </a:spcAft>
            </a:pPr>
            <a:r>
              <a:rPr sz="1400" b="1" dirty="0">
                <a:solidFill>
                  <a:srgbClr val="111418"/>
                </a:solidFill>
                <a:latin typeface="Segoe UI"/>
              </a:rPr>
              <a:t>• </a:t>
            </a:r>
            <a:r>
              <a:rPr sz="1400" b="1" dirty="0" err="1">
                <a:solidFill>
                  <a:srgbClr val="111418"/>
                </a:solidFill>
                <a:latin typeface="Segoe UI"/>
              </a:rPr>
              <a:t>Призначення</a:t>
            </a:r>
            <a:r>
              <a:rPr sz="1400" b="1" dirty="0">
                <a:solidFill>
                  <a:srgbClr val="111418"/>
                </a:solidFill>
                <a:latin typeface="Segoe UI"/>
              </a:rPr>
              <a:t>: </a:t>
            </a:r>
            <a:r>
              <a:rPr sz="1400" b="0" dirty="0" err="1">
                <a:solidFill>
                  <a:srgbClr val="2D3238"/>
                </a:solidFill>
                <a:latin typeface="Segoe UI"/>
              </a:rPr>
              <a:t>зменшення</a:t>
            </a:r>
            <a:r>
              <a:rPr sz="1400" b="0" dirty="0">
                <a:solidFill>
                  <a:srgbClr val="2D3238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2D3238"/>
                </a:solidFill>
                <a:latin typeface="Segoe UI"/>
              </a:rPr>
              <a:t>затримок</a:t>
            </a:r>
            <a:r>
              <a:rPr sz="1400" b="0" dirty="0">
                <a:solidFill>
                  <a:srgbClr val="2D3238"/>
                </a:solidFill>
                <a:latin typeface="Segoe UI"/>
              </a:rPr>
              <a:t> (Latency) </a:t>
            </a:r>
            <a:r>
              <a:rPr sz="1400" b="0" dirty="0" err="1">
                <a:solidFill>
                  <a:srgbClr val="2D3238"/>
                </a:solidFill>
                <a:latin typeface="Segoe UI"/>
              </a:rPr>
              <a:t>при</a:t>
            </a:r>
            <a:r>
              <a:rPr sz="1400" b="0" dirty="0">
                <a:solidFill>
                  <a:srgbClr val="2D3238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2D3238"/>
                </a:solidFill>
                <a:latin typeface="Segoe UI"/>
              </a:rPr>
              <a:t>передачі</a:t>
            </a:r>
            <a:r>
              <a:rPr sz="1400" b="0" dirty="0">
                <a:solidFill>
                  <a:srgbClr val="2D3238"/>
                </a:solidFill>
                <a:latin typeface="Segoe UI"/>
              </a:rPr>
              <a:t> даних </a:t>
            </a:r>
            <a:r>
              <a:rPr sz="1400" b="0" dirty="0" err="1">
                <a:solidFill>
                  <a:srgbClr val="2D3238"/>
                </a:solidFill>
                <a:latin typeface="Segoe UI"/>
              </a:rPr>
              <a:t>за</a:t>
            </a:r>
            <a:r>
              <a:rPr sz="1400" b="0" dirty="0">
                <a:solidFill>
                  <a:srgbClr val="2D3238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2D3238"/>
                </a:solidFill>
                <a:latin typeface="Segoe UI"/>
              </a:rPr>
              <a:t>рахунок</a:t>
            </a:r>
            <a:r>
              <a:rPr sz="1400" b="0" dirty="0">
                <a:solidFill>
                  <a:srgbClr val="2D3238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2D3238"/>
                </a:solidFill>
                <a:latin typeface="Segoe UI"/>
              </a:rPr>
              <a:t>відмови</a:t>
            </a:r>
            <a:r>
              <a:rPr sz="1400" b="0" dirty="0">
                <a:solidFill>
                  <a:srgbClr val="2D3238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2D3238"/>
                </a:solidFill>
                <a:latin typeface="Segoe UI"/>
              </a:rPr>
              <a:t>від</a:t>
            </a:r>
            <a:r>
              <a:rPr sz="1400" b="0" dirty="0">
                <a:solidFill>
                  <a:srgbClr val="2D3238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2D3238"/>
                </a:solidFill>
                <a:latin typeface="Segoe UI"/>
              </a:rPr>
              <a:t>десятків</a:t>
            </a:r>
            <a:r>
              <a:rPr sz="1400" b="0" dirty="0">
                <a:solidFill>
                  <a:srgbClr val="2D3238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2D3238"/>
                </a:solidFill>
                <a:latin typeface="Segoe UI"/>
              </a:rPr>
              <a:t>паралельних</a:t>
            </a:r>
            <a:r>
              <a:rPr sz="1400" b="0" dirty="0">
                <a:solidFill>
                  <a:srgbClr val="2D3238"/>
                </a:solidFill>
                <a:latin typeface="Segoe UI"/>
              </a:rPr>
              <a:t> TCP-</a:t>
            </a:r>
            <a:r>
              <a:rPr sz="1400" b="0" dirty="0" err="1">
                <a:solidFill>
                  <a:srgbClr val="2D3238"/>
                </a:solidFill>
                <a:latin typeface="Segoe UI"/>
              </a:rPr>
              <a:t>сокетів</a:t>
            </a:r>
            <a:r>
              <a:rPr sz="1400" b="0" dirty="0">
                <a:solidFill>
                  <a:srgbClr val="2D3238"/>
                </a:solidFill>
                <a:latin typeface="Segoe UI"/>
              </a:rPr>
              <a:t>.</a:t>
            </a:r>
          </a:p>
          <a:p>
            <a:pPr>
              <a:spcAft>
                <a:spcPts val="500"/>
              </a:spcAft>
            </a:pPr>
            <a:r>
              <a:rPr sz="1400" b="1" dirty="0">
                <a:solidFill>
                  <a:srgbClr val="111418"/>
                </a:solidFill>
                <a:latin typeface="Segoe UI"/>
              </a:rPr>
              <a:t>• </a:t>
            </a:r>
            <a:r>
              <a:rPr sz="1400" b="1" dirty="0" err="1">
                <a:solidFill>
                  <a:srgbClr val="111418"/>
                </a:solidFill>
                <a:latin typeface="Segoe UI"/>
              </a:rPr>
              <a:t>Мультиплексування</a:t>
            </a:r>
            <a:r>
              <a:rPr sz="1400" b="1" dirty="0">
                <a:solidFill>
                  <a:srgbClr val="111418"/>
                </a:solidFill>
                <a:latin typeface="Segoe UI"/>
              </a:rPr>
              <a:t>: </a:t>
            </a:r>
            <a:r>
              <a:rPr sz="1400" b="0" dirty="0" err="1">
                <a:solidFill>
                  <a:srgbClr val="2D3238"/>
                </a:solidFill>
                <a:latin typeface="Segoe UI"/>
              </a:rPr>
              <a:t>паралельна</a:t>
            </a:r>
            <a:r>
              <a:rPr sz="1400" b="0" dirty="0">
                <a:solidFill>
                  <a:srgbClr val="2D3238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2D3238"/>
                </a:solidFill>
                <a:latin typeface="Segoe UI"/>
              </a:rPr>
              <a:t>передача</a:t>
            </a:r>
            <a:r>
              <a:rPr sz="1400" b="0" dirty="0">
                <a:solidFill>
                  <a:srgbClr val="2D3238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2D3238"/>
                </a:solidFill>
                <a:latin typeface="Segoe UI"/>
              </a:rPr>
              <a:t>багатьох</a:t>
            </a:r>
            <a:r>
              <a:rPr sz="1400" b="0" dirty="0">
                <a:solidFill>
                  <a:srgbClr val="2D3238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2D3238"/>
                </a:solidFill>
                <a:latin typeface="Segoe UI"/>
              </a:rPr>
              <a:t>запитів</a:t>
            </a:r>
            <a:r>
              <a:rPr sz="1400" b="0" dirty="0">
                <a:solidFill>
                  <a:srgbClr val="2D3238"/>
                </a:solidFill>
                <a:latin typeface="Segoe UI"/>
              </a:rPr>
              <a:t> і </a:t>
            </a:r>
            <a:r>
              <a:rPr sz="1400" b="0" dirty="0" err="1">
                <a:solidFill>
                  <a:srgbClr val="2D3238"/>
                </a:solidFill>
                <a:latin typeface="Segoe UI"/>
              </a:rPr>
              <a:t>відповідей</a:t>
            </a:r>
            <a:r>
              <a:rPr sz="1400" b="0" dirty="0">
                <a:solidFill>
                  <a:srgbClr val="2D3238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2D3238"/>
                </a:solidFill>
                <a:latin typeface="Segoe UI"/>
              </a:rPr>
              <a:t>через</a:t>
            </a:r>
            <a:r>
              <a:rPr sz="1400" b="0" dirty="0">
                <a:solidFill>
                  <a:srgbClr val="2D3238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2D3238"/>
                </a:solidFill>
                <a:latin typeface="Segoe UI"/>
              </a:rPr>
              <a:t>єдине</a:t>
            </a:r>
            <a:r>
              <a:rPr sz="1400" b="0" dirty="0">
                <a:solidFill>
                  <a:srgbClr val="2D3238"/>
                </a:solidFill>
                <a:latin typeface="Segoe UI"/>
              </a:rPr>
              <a:t> TCP-</a:t>
            </a:r>
            <a:r>
              <a:rPr sz="1400" b="0" dirty="0" err="1">
                <a:solidFill>
                  <a:srgbClr val="2D3238"/>
                </a:solidFill>
                <a:latin typeface="Segoe UI"/>
              </a:rPr>
              <a:t>з'єднання</a:t>
            </a:r>
            <a:r>
              <a:rPr sz="1400" b="0" dirty="0">
                <a:solidFill>
                  <a:srgbClr val="2D3238"/>
                </a:solidFill>
                <a:latin typeface="Segoe UI"/>
              </a:rPr>
              <a:t>.</a:t>
            </a:r>
          </a:p>
          <a:p>
            <a:pPr>
              <a:spcAft>
                <a:spcPts val="500"/>
              </a:spcAft>
            </a:pPr>
            <a:r>
              <a:rPr sz="1400" b="1" dirty="0">
                <a:solidFill>
                  <a:srgbClr val="111418"/>
                </a:solidFill>
                <a:latin typeface="Segoe UI"/>
              </a:rPr>
              <a:t>• </a:t>
            </a:r>
            <a:r>
              <a:rPr sz="1400" b="1" dirty="0" err="1">
                <a:solidFill>
                  <a:srgbClr val="111418"/>
                </a:solidFill>
                <a:latin typeface="Segoe UI"/>
              </a:rPr>
              <a:t>Стиснення</a:t>
            </a:r>
            <a:r>
              <a:rPr sz="1400" b="1" dirty="0">
                <a:solidFill>
                  <a:srgbClr val="111418"/>
                </a:solidFill>
                <a:latin typeface="Segoe UI"/>
              </a:rPr>
              <a:t> </a:t>
            </a:r>
            <a:r>
              <a:rPr sz="1400" b="1" dirty="0" err="1">
                <a:solidFill>
                  <a:srgbClr val="111418"/>
                </a:solidFill>
                <a:latin typeface="Segoe UI"/>
              </a:rPr>
              <a:t>та</a:t>
            </a:r>
            <a:r>
              <a:rPr sz="1400" b="1" dirty="0">
                <a:solidFill>
                  <a:srgbClr val="111418"/>
                </a:solidFill>
                <a:latin typeface="Segoe UI"/>
              </a:rPr>
              <a:t> </a:t>
            </a:r>
            <a:r>
              <a:rPr sz="1400" b="1" dirty="0" err="1">
                <a:solidFill>
                  <a:srgbClr val="111418"/>
                </a:solidFill>
                <a:latin typeface="Segoe UI"/>
              </a:rPr>
              <a:t>пріоритезація</a:t>
            </a:r>
            <a:r>
              <a:rPr sz="1400" b="1" dirty="0">
                <a:solidFill>
                  <a:srgbClr val="111418"/>
                </a:solidFill>
                <a:latin typeface="Segoe UI"/>
              </a:rPr>
              <a:t>: </a:t>
            </a:r>
            <a:r>
              <a:rPr sz="1400" b="0" dirty="0" err="1">
                <a:solidFill>
                  <a:srgbClr val="2D3238"/>
                </a:solidFill>
                <a:latin typeface="Segoe UI"/>
              </a:rPr>
              <a:t>усунення</a:t>
            </a:r>
            <a:r>
              <a:rPr sz="1400" b="0" dirty="0">
                <a:solidFill>
                  <a:srgbClr val="2D3238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2D3238"/>
                </a:solidFill>
                <a:latin typeface="Segoe UI"/>
              </a:rPr>
              <a:t>дублювання</a:t>
            </a:r>
            <a:r>
              <a:rPr sz="1400" b="0" dirty="0">
                <a:solidFill>
                  <a:srgbClr val="2D3238"/>
                </a:solidFill>
                <a:latin typeface="Segoe UI"/>
              </a:rPr>
              <a:t> HTTP-</a:t>
            </a:r>
            <a:r>
              <a:rPr sz="1400" b="0" dirty="0" err="1">
                <a:solidFill>
                  <a:srgbClr val="2D3238"/>
                </a:solidFill>
                <a:latin typeface="Segoe UI"/>
              </a:rPr>
              <a:t>заголовків</a:t>
            </a:r>
            <a:r>
              <a:rPr sz="1400" b="0" dirty="0">
                <a:solidFill>
                  <a:srgbClr val="2D3238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2D3238"/>
                </a:solidFill>
                <a:latin typeface="Segoe UI"/>
              </a:rPr>
              <a:t>та</a:t>
            </a:r>
            <a:r>
              <a:rPr sz="1400" b="0" dirty="0">
                <a:solidFill>
                  <a:srgbClr val="2D3238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2D3238"/>
                </a:solidFill>
                <a:latin typeface="Segoe UI"/>
              </a:rPr>
              <a:t>визначення</a:t>
            </a:r>
            <a:r>
              <a:rPr sz="1400" b="0" dirty="0">
                <a:solidFill>
                  <a:srgbClr val="2D3238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2D3238"/>
                </a:solidFill>
                <a:latin typeface="Segoe UI"/>
              </a:rPr>
              <a:t>черговості</a:t>
            </a:r>
            <a:r>
              <a:rPr sz="1400" b="0" dirty="0">
                <a:solidFill>
                  <a:srgbClr val="2D3238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2D3238"/>
                </a:solidFill>
                <a:latin typeface="Segoe UI"/>
              </a:rPr>
              <a:t>важливих</a:t>
            </a:r>
            <a:r>
              <a:rPr sz="1400" b="0" dirty="0">
                <a:solidFill>
                  <a:srgbClr val="2D3238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2D3238"/>
                </a:solidFill>
                <a:latin typeface="Segoe UI"/>
              </a:rPr>
              <a:t>потоків</a:t>
            </a:r>
            <a:r>
              <a:rPr sz="1400" b="0" dirty="0">
                <a:solidFill>
                  <a:srgbClr val="2D3238"/>
                </a:solidFill>
                <a:latin typeface="Segoe UI"/>
              </a:rPr>
              <a:t>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45352" y="4006934"/>
            <a:ext cx="5440680" cy="2194560"/>
          </a:xfrm>
          <a:prstGeom prst="rect">
            <a:avLst/>
          </a:prstGeom>
          <a:solidFill>
            <a:srgbClr val="F6F7F8"/>
          </a:solidFill>
          <a:ln w="12700">
            <a:solidFill>
              <a:srgbClr val="B9B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46304" rIns="182880" bIns="128016" rtlCol="0" anchor="t"/>
          <a:lstStyle/>
          <a:p>
            <a:pPr algn="ctr">
              <a:spcAft>
                <a:spcPts val="800"/>
              </a:spcAft>
              <a:defRPr sz="1650" b="1">
                <a:solidFill>
                  <a:srgbClr val="111418"/>
                </a:solidFill>
                <a:latin typeface="Segoe UI"/>
              </a:defRPr>
            </a:pPr>
            <a:r>
              <a:t>Народження gRPC (2015) та роль CNCF</a:t>
            </a:r>
          </a:p>
          <a:p>
            <a:pPr>
              <a:spcAft>
                <a:spcPts val="500"/>
              </a:spcAft>
            </a:pPr>
            <a:r>
              <a:rPr sz="1400" b="1">
                <a:solidFill>
                  <a:srgbClr val="111418"/>
                </a:solidFill>
                <a:latin typeface="Segoe UI"/>
              </a:rPr>
              <a:t>• Від Stubby до gRPC: </a:t>
            </a:r>
            <a:r>
              <a:rPr sz="1400" b="0">
                <a:solidFill>
                  <a:srgbClr val="2D3238"/>
                </a:solidFill>
                <a:latin typeface="Segoe UI"/>
              </a:rPr>
              <a:t>у 2015 р. Google об'єднала ідеї внутрішнього фреймворку Stubby з відкритим стандартом HTTP/2 (RFC 7540).</a:t>
            </a:r>
          </a:p>
          <a:p>
            <a:pPr>
              <a:spcAft>
                <a:spcPts val="500"/>
              </a:spcAft>
            </a:pPr>
            <a:r>
              <a:rPr sz="1400" b="1">
                <a:solidFill>
                  <a:srgbClr val="111418"/>
                </a:solidFill>
                <a:latin typeface="Segoe UI"/>
              </a:rPr>
              <a:t>• Contract-First: </a:t>
            </a:r>
            <a:r>
              <a:rPr sz="1400" b="0">
                <a:solidFill>
                  <a:srgbClr val="2D3238"/>
                </a:solidFill>
                <a:latin typeface="Segoe UI"/>
              </a:rPr>
              <a:t>строга типізація інтерфейсів через мову опису контрактів Protocol Buffers (.proto).</a:t>
            </a:r>
          </a:p>
          <a:p>
            <a:pPr>
              <a:spcAft>
                <a:spcPts val="500"/>
              </a:spcAft>
            </a:pPr>
            <a:r>
              <a:rPr sz="1400" b="1">
                <a:solidFill>
                  <a:srgbClr val="111418"/>
                </a:solidFill>
                <a:latin typeface="Segoe UI"/>
              </a:rPr>
              <a:t>• Поліглотність: </a:t>
            </a:r>
            <a:r>
              <a:rPr sz="1400" b="0">
                <a:solidFill>
                  <a:srgbClr val="2D3238"/>
                </a:solidFill>
                <a:latin typeface="Segoe UI"/>
              </a:rPr>
              <a:t>єдиний .proto файл генерує сумісні клієнти та сервери для C#, Go, C++, Java, Python, Rust, Node.js.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356942"/>
            <a:ext cx="11183112" cy="13716"/>
          </a:xfrm>
          <a:prstGeom prst="rect">
            <a:avLst/>
          </a:prstGeom>
          <a:solidFill>
            <a:srgbClr val="B9B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464808"/>
            <a:ext cx="9509760" cy="29260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050">
                <a:solidFill>
                  <a:srgbClr val="5F666E"/>
                </a:solidFill>
                <a:latin typeface="Segoe UI"/>
              </a:rPr>
              <a:t>Історія протоколів SPDY (2009), HTTP/2 (RFC 7540) та gRPC (CNCF)</a:t>
            </a:r>
            <a:r>
              <a:rPr sz="1050" b="1">
                <a:solidFill>
                  <a:srgbClr val="111418"/>
                </a:solidFill>
                <a:latin typeface="Segoe UI"/>
                <a:hlinkClick r:id="rId3"/>
              </a:rPr>
              <a:t>   |   Джерело: https://grpc.io/docs/what-is-grpc/core-concepts/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49840" y="6464808"/>
            <a:ext cx="1536192" cy="292608"/>
          </a:xfrm>
          <a:prstGeom prst="rect">
            <a:avLst/>
          </a:prstGeom>
          <a:noFill/>
        </p:spPr>
        <p:txBody>
          <a:bodyPr wrap="none" tIns="0" rIns="0">
            <a:spAutoFit/>
          </a:bodyPr>
          <a:lstStyle/>
          <a:p>
            <a:pPr algn="r">
              <a:defRPr sz="1100" b="1">
                <a:solidFill>
                  <a:srgbClr val="111418"/>
                </a:solidFill>
                <a:latin typeface="Segoe UI"/>
              </a:defRPr>
            </a:pPr>
            <a:r>
              <a:t>Слайд 2 з 28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11183112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5F666E"/>
                </a:solidFill>
                <a:latin typeface="Segoe UI"/>
              </a:defRPr>
            </a:pPr>
            <a:r>
              <a:t>РОЗДІЛ 1. АРХІТЕКТУРА МЕРЕЖЕВОГО ТРАФІКУ</a:t>
            </a:r>
          </a:p>
          <a:p>
            <a:pPr>
              <a:defRPr sz="2400" b="1">
                <a:solidFill>
                  <a:srgbClr val="111418"/>
                </a:solidFill>
                <a:latin typeface="Segoe UI"/>
              </a:defRPr>
            </a:pPr>
            <a:r>
              <a:t>Дві площини комунікації: North-South (REST) проти East-West (gRPC)</a:t>
            </a:r>
          </a:p>
          <a:p>
            <a:pPr>
              <a:defRPr sz="1350">
                <a:solidFill>
                  <a:srgbClr val="5F666E"/>
                </a:solidFill>
                <a:latin typeface="Segoe UI"/>
              </a:defRPr>
            </a:pPr>
            <a:r>
              <a:t>Чому зовнішні клієнти використовують REST JSON, а внутрішні мікросервіси — бінарний gRPC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15568"/>
            <a:ext cx="11183112" cy="18288"/>
          </a:xfrm>
          <a:prstGeom prst="rect">
            <a:avLst/>
          </a:prstGeom>
          <a:solidFill>
            <a:srgbClr val="505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1280160"/>
            <a:ext cx="5440680" cy="4937760"/>
          </a:xfrm>
          <a:prstGeom prst="rect">
            <a:avLst/>
          </a:prstGeom>
          <a:solidFill>
            <a:srgbClr val="F6F7F8"/>
          </a:solidFill>
          <a:ln w="12700">
            <a:solidFill>
              <a:srgbClr val="B9B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46304" rIns="182880" bIns="128016" rtlCol="0" anchor="t"/>
          <a:lstStyle/>
          <a:p>
            <a:pPr algn="ctr">
              <a:spcAft>
                <a:spcPts val="800"/>
              </a:spcAft>
              <a:defRPr sz="1650" b="1">
                <a:solidFill>
                  <a:srgbClr val="111418"/>
                </a:solidFill>
                <a:latin typeface="Segoe UI"/>
              </a:defRPr>
            </a:pPr>
            <a:r>
              <a:t>1. Зовнішній трафік (North-South / Ingress)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111418"/>
                </a:solidFill>
                <a:latin typeface="Segoe UI"/>
              </a:rPr>
              <a:t>• Хто взаємодіє: </a:t>
            </a:r>
            <a:r>
              <a:rPr sz="1500" b="0">
                <a:solidFill>
                  <a:srgbClr val="2D3238"/>
                </a:solidFill>
                <a:latin typeface="Segoe UI"/>
              </a:rPr>
              <a:t>браузерні SPA (React, Angular), мобільні додатки, публічні партнери -&gt; API Gateway або BFF.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111418"/>
                </a:solidFill>
                <a:latin typeface="Segoe UI"/>
              </a:rPr>
              <a:t>• Стандарт де-факто: </a:t>
            </a:r>
            <a:r>
              <a:rPr sz="1500" b="0">
                <a:solidFill>
                  <a:srgbClr val="2D3238"/>
                </a:solidFill>
                <a:latin typeface="Segoe UI"/>
              </a:rPr>
              <a:t>REST поверх HTTP/1.1 або HTTP/2 з текстовим форматом JSON.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111418"/>
                </a:solidFill>
                <a:latin typeface="Segoe UI"/>
              </a:rPr>
              <a:t>• Переваги для фронтенду: </a:t>
            </a:r>
            <a:r>
              <a:rPr sz="1500" b="0">
                <a:solidFill>
                  <a:srgbClr val="2D3238"/>
                </a:solidFill>
                <a:latin typeface="Segoe UI"/>
              </a:rPr>
              <a:t>рідна підтримка в браузерах (Fetch API), читабельність у DevTools / Swagger / Postman, проміжне HTTP-кешування (CDN).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111418"/>
                </a:solidFill>
                <a:latin typeface="Segoe UI"/>
              </a:rPr>
              <a:t>• У нашому проєкті CargoDeliveryService: </a:t>
            </a:r>
            <a:r>
              <a:rPr sz="1500" b="0">
                <a:solidFill>
                  <a:srgbClr val="2D3238"/>
                </a:solidFill>
                <a:latin typeface="Segoe UI"/>
              </a:rPr>
              <a:t>зовнішні клієнти викликають CargoDelivery.HttpAggregator (:57390) та публічний ендпоінт GET /api/drivers/{id} (:5001) виключно по REST JSON.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45352" y="1280160"/>
            <a:ext cx="5440680" cy="4937760"/>
          </a:xfrm>
          <a:prstGeom prst="rect">
            <a:avLst/>
          </a:prstGeom>
          <a:solidFill>
            <a:srgbClr val="F6F7F8"/>
          </a:solidFill>
          <a:ln w="12700">
            <a:solidFill>
              <a:srgbClr val="B9B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46304" rIns="182880" bIns="128016" rtlCol="0" anchor="t"/>
          <a:lstStyle/>
          <a:p>
            <a:pPr algn="ctr">
              <a:spcAft>
                <a:spcPts val="800"/>
              </a:spcAft>
              <a:defRPr sz="1650" b="1">
                <a:solidFill>
                  <a:srgbClr val="111418"/>
                </a:solidFill>
                <a:latin typeface="Segoe UI"/>
              </a:defRPr>
            </a:pPr>
            <a:r>
              <a:t>2. Внутрішній трафік (East-West / Service-to-Service)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111418"/>
                </a:solidFill>
                <a:latin typeface="Segoe UI"/>
              </a:rPr>
              <a:t>• Хто взаємодіє: </a:t>
            </a:r>
            <a:r>
              <a:rPr sz="1500" b="0">
                <a:solidFill>
                  <a:srgbClr val="2D3238"/>
                </a:solidFill>
                <a:latin typeface="Segoe UI"/>
              </a:rPr>
              <a:t>мікросервіс викликає інший мікросервіс усередині приватної мережі або кластера.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111418"/>
                </a:solidFill>
                <a:latin typeface="Segoe UI"/>
              </a:rPr>
              <a:t>• Проблема REST JSON усередині кластера: </a:t>
            </a:r>
            <a:r>
              <a:rPr sz="1500" b="0">
                <a:solidFill>
                  <a:srgbClr val="2D3238"/>
                </a:solidFill>
                <a:latin typeface="Segoe UI"/>
              </a:rPr>
              <a:t>один клієнтський запит породжує десятки внутрішніх викликів. Парсинг UTF-8 тексту JSON та імен полів спалює до 40% ресурсів CPU.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111418"/>
                </a:solidFill>
                <a:latin typeface="Segoe UI"/>
              </a:rPr>
              <a:t>• Рішення — gRPC + Protobuf: </a:t>
            </a:r>
            <a:r>
              <a:rPr sz="1500" b="0">
                <a:solidFill>
                  <a:srgbClr val="2D3238"/>
                </a:solidFill>
                <a:latin typeface="Segoe UI"/>
              </a:rPr>
              <a:t>компактні бінарні байти (у 3–5 разів менші за JSON), одне постійне HTTP/2 з'єднання та строга перевірка типів на етапі компіляції.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111418"/>
                </a:solidFill>
                <a:latin typeface="Segoe UI"/>
              </a:rPr>
              <a:t>• У нашому проєкті CargoDeliveryService: </a:t>
            </a:r>
            <a:r>
              <a:rPr sz="1500" b="0">
                <a:solidFill>
                  <a:srgbClr val="2D3238"/>
                </a:solidFill>
                <a:latin typeface="Segoe UI"/>
              </a:rPr>
              <a:t>мікросервіс DriversManagement (:5001) синхронно витягує пости водія з DriversBlogManagement (:5002) по внутрішньому gRPC-каналу.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19088"/>
            <a:ext cx="11183112" cy="13716"/>
          </a:xfrm>
          <a:prstGeom prst="rect">
            <a:avLst/>
          </a:prstGeom>
          <a:solidFill>
            <a:srgbClr val="B9B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464808"/>
            <a:ext cx="9509760" cy="29260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050">
                <a:solidFill>
                  <a:srgbClr val="5F666E"/>
                </a:solidFill>
                <a:latin typeface="Segoe UI"/>
              </a:rPr>
              <a:t>Документація проєкту: 02-02-Communication-Documentation/03_Patterns_Synchronous_gRPC_Communication.md</a:t>
            </a:r>
            <a:r>
              <a:rPr sz="1050" b="1">
                <a:solidFill>
                  <a:srgbClr val="111418"/>
                </a:solidFill>
                <a:latin typeface="Segoe UI"/>
                <a:hlinkClick r:id="rId2"/>
              </a:rPr>
              <a:t>   |   Джерело: https://learn.microsoft.com/en-us/dotnet/architecture/cloud-native/grpc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49840" y="6464808"/>
            <a:ext cx="1536192" cy="292608"/>
          </a:xfrm>
          <a:prstGeom prst="rect">
            <a:avLst/>
          </a:prstGeom>
          <a:noFill/>
        </p:spPr>
        <p:txBody>
          <a:bodyPr wrap="none" tIns="0" rIns="0">
            <a:spAutoFit/>
          </a:bodyPr>
          <a:lstStyle/>
          <a:p>
            <a:pPr algn="r">
              <a:defRPr sz="1100" b="1">
                <a:solidFill>
                  <a:srgbClr val="111418"/>
                </a:solidFill>
                <a:latin typeface="Segoe UI"/>
              </a:defRPr>
            </a:pPr>
            <a:r>
              <a:t>Слайд 3 з 28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11183112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5F666E"/>
                </a:solidFill>
                <a:latin typeface="Segoe UI"/>
              </a:defRPr>
            </a:pPr>
            <a:r>
              <a:t>РОЗДІЛ 2. МЕРЕЖЕВИЙ ФУНДАМЕНТ HTTP/2</a:t>
            </a:r>
          </a:p>
          <a:p>
            <a:pPr>
              <a:defRPr sz="2400" b="1">
                <a:solidFill>
                  <a:srgbClr val="111418"/>
                </a:solidFill>
                <a:latin typeface="Segoe UI"/>
              </a:defRPr>
            </a:pPr>
            <a:r>
              <a:t>Анатомія транспорту: HTTP/1.1 проти мультиплексування HTTP/2 у gRPC</a:t>
            </a:r>
          </a:p>
          <a:p>
            <a:pPr>
              <a:defRPr sz="1350">
                <a:solidFill>
                  <a:srgbClr val="5F666E"/>
                </a:solidFill>
                <a:latin typeface="Segoe UI"/>
              </a:defRPr>
            </a:pPr>
            <a:r>
              <a:t>Візуалізація передачі паралельних запитів через сокети та бінарні потоки (Streams)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15568"/>
            <a:ext cx="11183112" cy="18288"/>
          </a:xfrm>
          <a:prstGeom prst="rect">
            <a:avLst/>
          </a:prstGeom>
          <a:solidFill>
            <a:srgbClr val="505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diag_02_http1_vs_http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4440"/>
            <a:ext cx="11183112" cy="4193667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02920" y="5486400"/>
            <a:ext cx="11183112" cy="822960"/>
          </a:xfrm>
          <a:prstGeom prst="rect">
            <a:avLst/>
          </a:prstGeom>
          <a:solidFill>
            <a:srgbClr val="F6F7F8"/>
          </a:solidFill>
          <a:ln w="12700">
            <a:solidFill>
              <a:srgbClr val="B9B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46304" rIns="182880" bIns="128016" rtlCol="0" anchor="t"/>
          <a:lstStyle/>
          <a:p>
            <a:pPr algn="ctr">
              <a:spcAft>
                <a:spcPts val="200"/>
              </a:spcAft>
            </a:pPr>
            <a:r>
              <a:rPr sz="1350" b="1">
                <a:solidFill>
                  <a:srgbClr val="111418"/>
                </a:solidFill>
                <a:latin typeface="Segoe UI"/>
              </a:rPr>
              <a:t>Ключові механізми HTTP/2 у gRPC: </a:t>
            </a:r>
            <a:r>
              <a:rPr sz="1350" b="0">
                <a:solidFill>
                  <a:srgbClr val="2D3238"/>
                </a:solidFill>
                <a:latin typeface="Segoe UI"/>
              </a:rPr>
              <a:t>1) Бінарний фреймінг (кадри HEADERS, DATA, WINDOW_UPDATE, PING, RST_STREAM);  2) Словникове стиснення заголовків HPACK (~85% економії);  3) Передача фінального коду grpc-status у завершальному кадрі TRAILERS.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19088"/>
            <a:ext cx="11183112" cy="13716"/>
          </a:xfrm>
          <a:prstGeom prst="rect">
            <a:avLst/>
          </a:prstGeom>
          <a:solidFill>
            <a:srgbClr val="B9B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464808"/>
            <a:ext cx="9509760" cy="29260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050">
                <a:solidFill>
                  <a:srgbClr val="5F666E"/>
                </a:solidFill>
                <a:latin typeface="Segoe UI"/>
              </a:rPr>
              <a:t>Специфікація транспорту gRPC over HTTP/2</a:t>
            </a:r>
            <a:r>
              <a:rPr sz="1050" b="1">
                <a:solidFill>
                  <a:srgbClr val="111418"/>
                </a:solidFill>
                <a:latin typeface="Segoe UI"/>
                <a:hlinkClick r:id="rId3"/>
              </a:rPr>
              <a:t>   |   Джерело: https://github.com/grpc/grpc/blob/master/doc/PROTOCOL-HTTP2.md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49840" y="6464808"/>
            <a:ext cx="1536192" cy="292608"/>
          </a:xfrm>
          <a:prstGeom prst="rect">
            <a:avLst/>
          </a:prstGeom>
          <a:noFill/>
        </p:spPr>
        <p:txBody>
          <a:bodyPr wrap="none" tIns="0" rIns="0">
            <a:spAutoFit/>
          </a:bodyPr>
          <a:lstStyle/>
          <a:p>
            <a:pPr algn="r">
              <a:defRPr sz="1100" b="1">
                <a:solidFill>
                  <a:srgbClr val="111418"/>
                </a:solidFill>
                <a:latin typeface="Segoe UI"/>
              </a:defRPr>
            </a:pPr>
            <a:r>
              <a:t>Слайд 4 з 28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11183112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5F666E"/>
                </a:solidFill>
                <a:latin typeface="Segoe UI"/>
              </a:defRPr>
            </a:pPr>
            <a:r>
              <a:t>РОЗДІЛ 2. БІНАРНА СЕРІАЛІЗАЦІЯ PROTOCOL BUFFERS V3</a:t>
            </a:r>
          </a:p>
          <a:p>
            <a:pPr>
              <a:defRPr sz="2400" b="1">
                <a:solidFill>
                  <a:srgbClr val="111418"/>
                </a:solidFill>
                <a:latin typeface="Segoe UI"/>
              </a:defRPr>
            </a:pPr>
            <a:r>
              <a:t>Як працює Protocol Buffers під капотом: схема TLV та Varint</a:t>
            </a:r>
          </a:p>
          <a:p>
            <a:pPr>
              <a:defRPr sz="1350">
                <a:solidFill>
                  <a:srgbClr val="5F666E"/>
                </a:solidFill>
                <a:latin typeface="Segoe UI"/>
              </a:defRPr>
            </a:pPr>
            <a:r>
              <a:t>Чому в бінарному пакеті Protobuf немає імен полів і чому теги '= 1', '= 2' є незмінними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15568"/>
            <a:ext cx="11183112" cy="18288"/>
          </a:xfrm>
          <a:prstGeom prst="rect">
            <a:avLst/>
          </a:prstGeom>
          <a:solidFill>
            <a:srgbClr val="505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diag_03_protobuf_wi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4440"/>
            <a:ext cx="11183112" cy="335493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02920" y="4663440"/>
            <a:ext cx="5440680" cy="1600200"/>
          </a:xfrm>
          <a:prstGeom prst="rect">
            <a:avLst/>
          </a:prstGeom>
          <a:solidFill>
            <a:srgbClr val="F6F7F8"/>
          </a:solidFill>
          <a:ln w="12700">
            <a:solidFill>
              <a:srgbClr val="B9B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46304" rIns="182880" bIns="128016" rtlCol="0" anchor="t"/>
          <a:lstStyle/>
          <a:p>
            <a:pPr algn="ctr">
              <a:spcAft>
                <a:spcPts val="800"/>
              </a:spcAft>
              <a:defRPr sz="1650" b="1">
                <a:solidFill>
                  <a:srgbClr val="111418"/>
                </a:solidFill>
                <a:latin typeface="Segoe UI"/>
              </a:defRPr>
            </a:pPr>
            <a:r>
              <a:t>Структура ключа Tag (Байт 1)</a:t>
            </a:r>
          </a:p>
          <a:p>
            <a:pPr>
              <a:spcAft>
                <a:spcPts val="400"/>
              </a:spcAft>
            </a:pPr>
            <a:r>
              <a:rPr sz="1400" b="1">
                <a:solidFill>
                  <a:srgbClr val="111418"/>
                </a:solidFill>
                <a:latin typeface="Segoe UI"/>
              </a:rPr>
              <a:t>• Формула бітового зсуву: </a:t>
            </a:r>
            <a:r>
              <a:rPr sz="1400" b="0">
                <a:solidFill>
                  <a:srgbClr val="2D3238"/>
                </a:solidFill>
                <a:latin typeface="Segoe UI"/>
              </a:rPr>
              <a:t>Tag = (field_number &lt;&lt; 3) | wire_type.</a:t>
            </a:r>
          </a:p>
          <a:p>
            <a:pPr>
              <a:spcAft>
                <a:spcPts val="400"/>
              </a:spcAft>
            </a:pPr>
            <a:r>
              <a:rPr sz="1400" b="1">
                <a:solidFill>
                  <a:srgbClr val="111418"/>
                </a:solidFill>
                <a:latin typeface="Segoe UI"/>
              </a:rPr>
              <a:t>• Значення '= 1' у .proto: </a:t>
            </a:r>
            <a:r>
              <a:rPr sz="1400" b="0">
                <a:solidFill>
                  <a:srgbClr val="2D3238"/>
                </a:solidFill>
                <a:latin typeface="Segoe UI"/>
              </a:rPr>
              <a:t>це унікальний числовий ідентифікатор поля в бінарному потоці, а НЕ значення за замовчуванням!</a:t>
            </a:r>
          </a:p>
        </p:txBody>
      </p:sp>
      <p:sp>
        <p:nvSpPr>
          <p:cNvPr id="6" name="Rectangle 5"/>
          <p:cNvSpPr/>
          <p:nvPr/>
        </p:nvSpPr>
        <p:spPr>
          <a:xfrm>
            <a:off x="6245352" y="4663440"/>
            <a:ext cx="5440680" cy="1600200"/>
          </a:xfrm>
          <a:prstGeom prst="rect">
            <a:avLst/>
          </a:prstGeom>
          <a:solidFill>
            <a:srgbClr val="F6F7F8"/>
          </a:solidFill>
          <a:ln w="12700">
            <a:solidFill>
              <a:srgbClr val="B9B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46304" rIns="182880" bIns="128016" rtlCol="0" anchor="t"/>
          <a:lstStyle/>
          <a:p>
            <a:pPr algn="ctr">
              <a:spcAft>
                <a:spcPts val="800"/>
              </a:spcAft>
              <a:defRPr sz="1650" b="1">
                <a:solidFill>
                  <a:srgbClr val="111418"/>
                </a:solidFill>
                <a:latin typeface="Segoe UI"/>
              </a:defRPr>
            </a:pPr>
            <a:r>
              <a:t>Правила зворотної сумісності (Schema Evolution)</a:t>
            </a:r>
          </a:p>
          <a:p>
            <a:pPr>
              <a:spcAft>
                <a:spcPts val="400"/>
              </a:spcAft>
            </a:pPr>
            <a:r>
              <a:rPr sz="1400" b="1">
                <a:solidFill>
                  <a:srgbClr val="111418"/>
                </a:solidFill>
                <a:latin typeface="Segoe UI"/>
              </a:rPr>
              <a:t>• Заборонено змінювати теги: </a:t>
            </a:r>
            <a:r>
              <a:rPr sz="1400" b="0">
                <a:solidFill>
                  <a:srgbClr val="2D3238"/>
                </a:solidFill>
                <a:latin typeface="Segoe UI"/>
              </a:rPr>
              <a:t>зміна номера наявного поля зламає десеріалізацію між клієнтом і сервером.</a:t>
            </a:r>
          </a:p>
          <a:p>
            <a:pPr>
              <a:spcAft>
                <a:spcPts val="400"/>
              </a:spcAft>
            </a:pPr>
            <a:r>
              <a:rPr sz="1400" b="1">
                <a:solidFill>
                  <a:srgbClr val="111418"/>
                </a:solidFill>
                <a:latin typeface="Segoe UI"/>
              </a:rPr>
              <a:t>• Видалення полів: </a:t>
            </a:r>
            <a:r>
              <a:rPr sz="1400" b="0">
                <a:solidFill>
                  <a:srgbClr val="2D3238"/>
                </a:solidFill>
                <a:latin typeface="Segoe UI"/>
              </a:rPr>
              <a:t>застарілі номери блокуються директивою reserved 4, 5;.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19088"/>
            <a:ext cx="11183112" cy="13716"/>
          </a:xfrm>
          <a:prstGeom prst="rect">
            <a:avLst/>
          </a:prstGeom>
          <a:solidFill>
            <a:srgbClr val="B9B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464808"/>
            <a:ext cx="9509760" cy="29260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050">
                <a:solidFill>
                  <a:srgbClr val="5F666E"/>
                </a:solidFill>
                <a:latin typeface="Segoe UI"/>
              </a:rPr>
              <a:t>Специфікація кодування Protocol Buffers Wire Format</a:t>
            </a:r>
            <a:r>
              <a:rPr sz="1050" b="1">
                <a:solidFill>
                  <a:srgbClr val="111418"/>
                </a:solidFill>
                <a:latin typeface="Segoe UI"/>
                <a:hlinkClick r:id="rId3"/>
              </a:rPr>
              <a:t>   |   Джерело: https://protobuf.dev/programming-guides/encoding/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49840" y="6464808"/>
            <a:ext cx="1536192" cy="292608"/>
          </a:xfrm>
          <a:prstGeom prst="rect">
            <a:avLst/>
          </a:prstGeom>
          <a:noFill/>
        </p:spPr>
        <p:txBody>
          <a:bodyPr wrap="none" tIns="0" rIns="0">
            <a:spAutoFit/>
          </a:bodyPr>
          <a:lstStyle/>
          <a:p>
            <a:pPr algn="r">
              <a:defRPr sz="1100" b="1">
                <a:solidFill>
                  <a:srgbClr val="111418"/>
                </a:solidFill>
                <a:latin typeface="Segoe UI"/>
              </a:defRPr>
            </a:pPr>
            <a:r>
              <a:t>Слайд 5 з 28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11183112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5F666E"/>
                </a:solidFill>
                <a:latin typeface="Segoe UI"/>
              </a:defRPr>
            </a:pPr>
            <a:r>
              <a:t>РОЗДІЛ 2. ТИПІЗАЦІЯ ДАНИХ У .NET 10</a:t>
            </a:r>
          </a:p>
          <a:p>
            <a:pPr>
              <a:defRPr sz="2400" b="1">
                <a:solidFill>
                  <a:srgbClr val="111418"/>
                </a:solidFill>
                <a:latin typeface="Segoe UI"/>
              </a:defRPr>
            </a:pPr>
            <a:r>
              <a:t>Таблиця відповідності типів Protocol Buffers v3 та мови C#</a:t>
            </a:r>
          </a:p>
          <a:p>
            <a:pPr>
              <a:defRPr sz="1350">
                <a:solidFill>
                  <a:srgbClr val="5F666E"/>
                </a:solidFill>
                <a:latin typeface="Segoe UI"/>
              </a:defRPr>
            </a:pPr>
            <a:r>
              <a:t>Як скалярні типи, колекції та специфічні структури .NET (Guid, DateTime, Decimal) передаються у gRPC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15568"/>
            <a:ext cx="11183112" cy="18288"/>
          </a:xfrm>
          <a:prstGeom prst="rect">
            <a:avLst/>
          </a:prstGeom>
          <a:solidFill>
            <a:srgbClr val="505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280160"/>
          <a:ext cx="11183112" cy="4892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651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11505">
                <a:tc>
                  <a:txBody>
                    <a:bodyPr/>
                    <a:lstStyle/>
                    <a:p>
                      <a:pPr>
                        <a:defRPr sz="1350" b="1">
                          <a:solidFill>
                            <a:srgbClr val="111418"/>
                          </a:solidFill>
                          <a:latin typeface="Segoe UI"/>
                        </a:defRPr>
                      </a:pPr>
                      <a:r>
                        <a:t>Тип у файлі .proto</a:t>
                      </a:r>
                    </a:p>
                  </a:txBody>
                  <a:tcPr marL="109728" marR="109728" marT="54864" marB="54864" anchor="ctr">
                    <a:solidFill>
                      <a:srgbClr val="DCE0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 b="1">
                          <a:solidFill>
                            <a:srgbClr val="111418"/>
                          </a:solidFill>
                          <a:latin typeface="Segoe UI"/>
                        </a:defRPr>
                      </a:pPr>
                      <a:r>
                        <a:t>Wire Type</a:t>
                      </a:r>
                    </a:p>
                  </a:txBody>
                  <a:tcPr marL="109728" marR="109728" marT="54864" marB="54864" anchor="ctr">
                    <a:solidFill>
                      <a:srgbClr val="DCE0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 b="1">
                          <a:solidFill>
                            <a:srgbClr val="111418"/>
                          </a:solidFill>
                          <a:latin typeface="Segoe UI"/>
                        </a:defRPr>
                      </a:pPr>
                      <a:r>
                        <a:t>Згенерований тип C#</a:t>
                      </a:r>
                    </a:p>
                  </a:txBody>
                  <a:tcPr marL="109728" marR="109728" marT="54864" marB="54864" anchor="ctr">
                    <a:solidFill>
                      <a:srgbClr val="DCE0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 b="1">
                          <a:solidFill>
                            <a:srgbClr val="111418"/>
                          </a:solidFill>
                          <a:latin typeface="Segoe UI"/>
                        </a:defRPr>
                      </a:pPr>
                      <a:r>
                        <a:t>Особливості використання в .NET 10 та CargoDeliveryService</a:t>
                      </a:r>
                    </a:p>
                  </a:txBody>
                  <a:tcPr marL="109728" marR="109728" marT="54864" marB="54864" anchor="ctr">
                    <a:solidFill>
                      <a:srgbClr val="DCE0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1505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11418"/>
                          </a:solidFill>
                          <a:latin typeface="Segoe UI"/>
                        </a:defRPr>
                      </a:pPr>
                      <a:r>
                        <a:t>string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2 (LEN)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string (UTF-8)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Передає GUID водія (driver_id = 1). У Protobuf v3 ніколи не буває null (порожній рядок "").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1505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11418"/>
                          </a:solidFill>
                          <a:latin typeface="Segoe UI"/>
                        </a:defRPr>
                      </a:pPr>
                      <a:r>
                        <a:t>int32 / int64</a:t>
                      </a:r>
                    </a:p>
                  </a:txBody>
                  <a:tcPr marL="109728" marR="109728" marT="54864" marB="54864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0 (Varint)</a:t>
                      </a:r>
                    </a:p>
                  </a:txBody>
                  <a:tcPr marL="109728" marR="109728" marT="54864" marB="54864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int / long</a:t>
                      </a:r>
                    </a:p>
                  </a:txBody>
                  <a:tcPr marL="109728" marR="109728" marT="54864" marB="54864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Динамічна довжина 1–10 байтів. Для від'ємних чисел використовуйте sint32 / sint64 (ZigZag).</a:t>
                      </a:r>
                    </a:p>
                  </a:txBody>
                  <a:tcPr marL="109728" marR="109728" marT="54864" marB="54864" anchor="ctr">
                    <a:solidFill>
                      <a:srgbClr val="F6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1505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11418"/>
                          </a:solidFill>
                          <a:latin typeface="Segoe UI"/>
                        </a:defRPr>
                      </a:pPr>
                      <a:r>
                        <a:t>bool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0 (Varint)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bool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Займає рівно 1 байт (0x00 або 0x01) замість 4–5 байтів тексту 'true'/'false' у JSON.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1505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11418"/>
                          </a:solidFill>
                          <a:latin typeface="Segoe UI"/>
                        </a:defRPr>
                      </a:pPr>
                      <a:r>
                        <a:t>double / float</a:t>
                      </a:r>
                    </a:p>
                  </a:txBody>
                  <a:tcPr marL="109728" marR="109728" marT="54864" marB="54864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1 / 5 (Fixed)</a:t>
                      </a:r>
                    </a:p>
                  </a:txBody>
                  <a:tcPr marL="109728" marR="109728" marT="54864" marB="54864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double / float</a:t>
                      </a:r>
                    </a:p>
                  </a:txBody>
                  <a:tcPr marL="109728" marR="109728" marT="54864" marB="54864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Фіксовані 8 або 4 байти (IEEE 754) — копіюються в сокет без текстового парсингу.</a:t>
                      </a:r>
                    </a:p>
                  </a:txBody>
                  <a:tcPr marL="109728" marR="109728" marT="54864" marB="54864" anchor="ctr">
                    <a:solidFill>
                      <a:srgbClr val="F6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1505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11418"/>
                          </a:solidFill>
                          <a:latin typeface="Segoe UI"/>
                        </a:defRPr>
                      </a:pPr>
                      <a:r>
                        <a:t>bytes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2 (LEN)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Google.Protobuf.ByteString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Сирі бінарні масиви. Підтримує Zero-Copy читання через ReadOnlySpan&lt;byte&gt;.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11505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11418"/>
                          </a:solidFill>
                          <a:latin typeface="Segoe UI"/>
                        </a:defRPr>
                      </a:pPr>
                      <a:r>
                        <a:t>repeated T</a:t>
                      </a:r>
                    </a:p>
                  </a:txBody>
                  <a:tcPr marL="109728" marR="109728" marT="54864" marB="54864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2 (LEN)</a:t>
                      </a:r>
                    </a:p>
                  </a:txBody>
                  <a:tcPr marL="109728" marR="109728" marT="54864" marB="54864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RepeatedField&lt;T&gt;</a:t>
                      </a:r>
                    </a:p>
                  </a:txBody>
                  <a:tcPr marL="109728" marR="109728" marT="54864" marB="54864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Колекція лише для читання властивості: заповнюється через response.Posts.Add(...).</a:t>
                      </a:r>
                    </a:p>
                  </a:txBody>
                  <a:tcPr marL="109728" marR="109728" marT="54864" marB="54864" anchor="ctr">
                    <a:solidFill>
                      <a:srgbClr val="F6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11505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11418"/>
                          </a:solidFill>
                          <a:latin typeface="Segoe UI"/>
                        </a:defRPr>
                      </a:pPr>
                      <a:r>
                        <a:t>Well-Known Types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2 (LEN)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Timestamp, Duration, wrappers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Для DateTimeOffset використовують google.protobuf.Timestamp; для Guid — string.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02920" y="6419088"/>
            <a:ext cx="11183112" cy="13716"/>
          </a:xfrm>
          <a:prstGeom prst="rect">
            <a:avLst/>
          </a:prstGeom>
          <a:solidFill>
            <a:srgbClr val="B9B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464808"/>
            <a:ext cx="9509760" cy="29260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050">
                <a:solidFill>
                  <a:srgbClr val="5F666E"/>
                </a:solidFill>
                <a:latin typeface="Segoe UI"/>
              </a:rPr>
              <a:t>Таблиця мапінгу типів Protobuf для .NET</a:t>
            </a:r>
            <a:r>
              <a:rPr sz="1050" b="1">
                <a:solidFill>
                  <a:srgbClr val="111418"/>
                </a:solidFill>
                <a:latin typeface="Segoe UI"/>
                <a:hlinkClick r:id="rId2"/>
              </a:rPr>
              <a:t>   |   Джерело: https://learn.microsoft.com/en-us/aspnet/core/grpc/protobuf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49840" y="6464808"/>
            <a:ext cx="1536192" cy="292608"/>
          </a:xfrm>
          <a:prstGeom prst="rect">
            <a:avLst/>
          </a:prstGeom>
          <a:noFill/>
        </p:spPr>
        <p:txBody>
          <a:bodyPr wrap="none" tIns="0" rIns="0">
            <a:spAutoFit/>
          </a:bodyPr>
          <a:lstStyle/>
          <a:p>
            <a:pPr algn="r">
              <a:defRPr sz="1100" b="1">
                <a:solidFill>
                  <a:srgbClr val="111418"/>
                </a:solidFill>
                <a:latin typeface="Segoe UI"/>
              </a:defRPr>
            </a:pPr>
            <a:r>
              <a:t>Слайд 6 з 28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11183112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5F666E"/>
                </a:solidFill>
                <a:latin typeface="Segoe UI"/>
              </a:defRPr>
            </a:pPr>
            <a:r>
              <a:rPr dirty="0"/>
              <a:t>РОЗДІЛ 2. РЕЖИМИ ВЗАЄМОДІЇ В GRPC</a:t>
            </a:r>
          </a:p>
          <a:p>
            <a:pPr>
              <a:defRPr sz="2400" b="1">
                <a:solidFill>
                  <a:srgbClr val="111418"/>
                </a:solidFill>
                <a:latin typeface="Segoe UI"/>
              </a:defRPr>
            </a:pPr>
            <a:r>
              <a:rPr dirty="0" err="1"/>
              <a:t>Чотири</a:t>
            </a:r>
            <a:r>
              <a:rPr dirty="0"/>
              <a:t> </a:t>
            </a:r>
            <a:r>
              <a:rPr dirty="0" err="1"/>
              <a:t>типи</a:t>
            </a:r>
            <a:r>
              <a:rPr dirty="0"/>
              <a:t> </a:t>
            </a:r>
            <a:r>
              <a:rPr dirty="0" err="1"/>
              <a:t>методів</a:t>
            </a:r>
            <a:r>
              <a:rPr dirty="0"/>
              <a:t> </a:t>
            </a:r>
            <a:r>
              <a:rPr dirty="0" err="1"/>
              <a:t>gRPC</a:t>
            </a:r>
            <a:r>
              <a:rPr dirty="0"/>
              <a:t>: </a:t>
            </a:r>
            <a:r>
              <a:rPr dirty="0" err="1"/>
              <a:t>від</a:t>
            </a:r>
            <a:r>
              <a:rPr dirty="0"/>
              <a:t> </a:t>
            </a:r>
            <a:r>
              <a:rPr dirty="0" err="1"/>
              <a:t>унарних</a:t>
            </a:r>
            <a:r>
              <a:rPr dirty="0"/>
              <a:t> </a:t>
            </a:r>
            <a:r>
              <a:rPr dirty="0" err="1"/>
              <a:t>викликів</a:t>
            </a:r>
            <a:r>
              <a:rPr dirty="0"/>
              <a:t> </a:t>
            </a:r>
            <a:r>
              <a:rPr dirty="0" err="1"/>
              <a:t>до</a:t>
            </a:r>
            <a:r>
              <a:rPr dirty="0"/>
              <a:t> </a:t>
            </a:r>
            <a:r>
              <a:rPr dirty="0" err="1"/>
              <a:t>двонаправлених</a:t>
            </a:r>
            <a:r>
              <a:rPr dirty="0"/>
              <a:t> </a:t>
            </a:r>
            <a:r>
              <a:rPr dirty="0" err="1"/>
              <a:t>потоків</a:t>
            </a:r>
            <a:endParaRPr dirty="0"/>
          </a:p>
          <a:p>
            <a:pPr>
              <a:defRPr sz="1350">
                <a:solidFill>
                  <a:srgbClr val="5F666E"/>
                </a:solidFill>
                <a:latin typeface="Segoe UI"/>
              </a:defRPr>
            </a:pPr>
            <a:r>
              <a:rPr dirty="0" err="1"/>
              <a:t>Як</a:t>
            </a:r>
            <a:r>
              <a:rPr dirty="0"/>
              <a:t> </a:t>
            </a:r>
            <a:r>
              <a:rPr dirty="0" err="1"/>
              <a:t>бінарні</a:t>
            </a:r>
            <a:r>
              <a:rPr dirty="0"/>
              <a:t> </a:t>
            </a:r>
            <a:r>
              <a:rPr dirty="0" err="1"/>
              <a:t>потоки</a:t>
            </a:r>
            <a:r>
              <a:rPr dirty="0"/>
              <a:t> HTTP/2 </a:t>
            </a:r>
            <a:r>
              <a:rPr dirty="0" err="1"/>
              <a:t>дозволяють</a:t>
            </a:r>
            <a:r>
              <a:rPr dirty="0"/>
              <a:t> </a:t>
            </a:r>
            <a:r>
              <a:rPr dirty="0" err="1"/>
              <a:t>будувати</a:t>
            </a:r>
            <a:r>
              <a:rPr dirty="0"/>
              <a:t> </a:t>
            </a:r>
            <a:r>
              <a:rPr dirty="0" err="1"/>
              <a:t>асинхронні</a:t>
            </a:r>
            <a:r>
              <a:rPr dirty="0"/>
              <a:t> </a:t>
            </a:r>
            <a:r>
              <a:rPr dirty="0" err="1"/>
              <a:t>конвеєри</a:t>
            </a:r>
            <a:r>
              <a:rPr dirty="0"/>
              <a:t> </a:t>
            </a:r>
            <a:r>
              <a:rPr dirty="0" err="1"/>
              <a:t>реального</a:t>
            </a:r>
            <a:r>
              <a:rPr dirty="0"/>
              <a:t> </a:t>
            </a:r>
            <a:r>
              <a:rPr dirty="0" err="1"/>
              <a:t>часу</a:t>
            </a:r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502920" y="1115568"/>
            <a:ext cx="11183112" cy="18288"/>
          </a:xfrm>
          <a:prstGeom prst="rect">
            <a:avLst/>
          </a:prstGeom>
          <a:solidFill>
            <a:srgbClr val="505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diag_04_streaming_mo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313" y="1391965"/>
            <a:ext cx="10487547" cy="419501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02920" y="5650992"/>
            <a:ext cx="11183112" cy="658368"/>
          </a:xfrm>
          <a:prstGeom prst="rect">
            <a:avLst/>
          </a:prstGeom>
          <a:solidFill>
            <a:srgbClr val="F6F7F8"/>
          </a:solidFill>
          <a:ln w="12700">
            <a:solidFill>
              <a:srgbClr val="B9B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46304" rIns="182880" bIns="128016" rtlCol="0" anchor="t"/>
          <a:lstStyle/>
          <a:p>
            <a:pPr algn="ctr">
              <a:spcAft>
                <a:spcPts val="200"/>
              </a:spcAft>
            </a:pPr>
            <a:r>
              <a:rPr sz="1350" b="1">
                <a:solidFill>
                  <a:srgbClr val="111418"/>
                </a:solidFill>
                <a:latin typeface="Segoe UI"/>
              </a:rPr>
              <a:t>Реалізація у C# (.NET 10): </a:t>
            </a:r>
            <a:r>
              <a:rPr sz="1350" b="0">
                <a:solidFill>
                  <a:srgbClr val="2D3238"/>
                </a:solidFill>
                <a:latin typeface="Segoe UI"/>
              </a:rPr>
              <a:t>1) Unary RPC використовує Task&lt;TResponse&gt; (саме цей режим працює у нашому Driver.proto -&gt; GetDriverWithPosts);  2) Потокові режими працюють через IAsyncStreamReader&lt;T&gt;, IClientStreamWriter&lt;T&gt; та конструкцію await foreach.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19088"/>
            <a:ext cx="11183112" cy="13716"/>
          </a:xfrm>
          <a:prstGeom prst="rect">
            <a:avLst/>
          </a:prstGeom>
          <a:solidFill>
            <a:srgbClr val="B9B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464808"/>
            <a:ext cx="9509760" cy="29260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050">
                <a:solidFill>
                  <a:srgbClr val="5F666E"/>
                </a:solidFill>
                <a:latin typeface="Segoe UI"/>
              </a:rPr>
              <a:t>Документація C# gRPC Basics: Unary та Streaming RPC</a:t>
            </a:r>
            <a:r>
              <a:rPr sz="1050" b="1">
                <a:solidFill>
                  <a:srgbClr val="111418"/>
                </a:solidFill>
                <a:latin typeface="Segoe UI"/>
                <a:hlinkClick r:id="rId3"/>
              </a:rPr>
              <a:t>   |   Джерело: https://grpc.io/docs/languages/csharp/basics/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49840" y="6464808"/>
            <a:ext cx="1536192" cy="292608"/>
          </a:xfrm>
          <a:prstGeom prst="rect">
            <a:avLst/>
          </a:prstGeom>
          <a:noFill/>
        </p:spPr>
        <p:txBody>
          <a:bodyPr wrap="none" tIns="0" rIns="0">
            <a:spAutoFit/>
          </a:bodyPr>
          <a:lstStyle/>
          <a:p>
            <a:pPr algn="r">
              <a:defRPr sz="1100" b="1">
                <a:solidFill>
                  <a:srgbClr val="111418"/>
                </a:solidFill>
                <a:latin typeface="Segoe UI"/>
              </a:defRPr>
            </a:pPr>
            <a:r>
              <a:t>Слайд 7 з 28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11183112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5F666E"/>
                </a:solidFill>
                <a:latin typeface="Segoe UI"/>
              </a:defRPr>
            </a:pPr>
            <a:r>
              <a:t>РОЗДІЛ 3. ПОРІВНЯЛЬНИЙ АНАЛІЗ АРХІТЕКТУР API</a:t>
            </a:r>
          </a:p>
          <a:p>
            <a:pPr>
              <a:defRPr sz="2400" b="1">
                <a:solidFill>
                  <a:srgbClr val="111418"/>
                </a:solidFill>
                <a:latin typeface="Segoe UI"/>
              </a:defRPr>
            </a:pPr>
            <a:r>
              <a:t>REST проти gRPC проти GraphQL: сильні сторони та архітектурні обмеження</a:t>
            </a:r>
          </a:p>
          <a:p>
            <a:pPr>
              <a:defRPr sz="1350">
                <a:solidFill>
                  <a:srgbClr val="5F666E"/>
                </a:solidFill>
                <a:latin typeface="Segoe UI"/>
              </a:defRPr>
            </a:pPr>
            <a:r>
              <a:t>Систематизація матеріалу базової презентації з розширеним аналізом для мікросервісів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15568"/>
            <a:ext cx="11183112" cy="18288"/>
          </a:xfrm>
          <a:prstGeom prst="rect">
            <a:avLst/>
          </a:prstGeom>
          <a:solidFill>
            <a:srgbClr val="505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1280160"/>
            <a:ext cx="3566160" cy="4937760"/>
          </a:xfrm>
          <a:prstGeom prst="rect">
            <a:avLst/>
          </a:prstGeom>
          <a:solidFill>
            <a:srgbClr val="F6F7F8"/>
          </a:solidFill>
          <a:ln w="12700">
            <a:solidFill>
              <a:srgbClr val="B9B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46304" rIns="182880" bIns="128016" rtlCol="0" anchor="t"/>
          <a:lstStyle/>
          <a:p>
            <a:pPr algn="ctr">
              <a:spcAft>
                <a:spcPts val="800"/>
              </a:spcAft>
              <a:defRPr sz="1650" b="1">
                <a:solidFill>
                  <a:srgbClr val="111418"/>
                </a:solidFill>
                <a:latin typeface="Segoe UI"/>
              </a:defRPr>
            </a:pPr>
            <a:r>
              <a:t>1. REST (HTTP + JSON)</a:t>
            </a:r>
          </a:p>
          <a:p>
            <a:pPr>
              <a:spcAft>
                <a:spcPts val="800"/>
              </a:spcAft>
            </a:pPr>
            <a:r>
              <a:rPr sz="1380" b="1">
                <a:solidFill>
                  <a:srgbClr val="111418"/>
                </a:solidFill>
                <a:latin typeface="Segoe UI"/>
              </a:rPr>
              <a:t>Переваги:
</a:t>
            </a:r>
            <a:r>
              <a:rPr sz="1380" b="0">
                <a:solidFill>
                  <a:srgbClr val="2D3238"/>
                </a:solidFill>
                <a:latin typeface="Segoe UI"/>
              </a:rPr>
              <a:t>• Зрозуміла ресурсна модель (CRUD: GET, POST, PUT, DELETE).
• Підтримка HTTP-кешування (CDN, проксі).
• Максимальна сумісність із браузерами.</a:t>
            </a:r>
          </a:p>
          <a:p>
            <a:pPr>
              <a:spcAft>
                <a:spcPts val="400"/>
              </a:spcAft>
            </a:pPr>
            <a:r>
              <a:rPr sz="1380" b="1">
                <a:solidFill>
                  <a:srgbClr val="111418"/>
                </a:solidFill>
                <a:latin typeface="Segoe UI"/>
              </a:rPr>
              <a:t>Проблеми:
</a:t>
            </a:r>
            <a:r>
              <a:rPr sz="1380" b="0">
                <a:solidFill>
                  <a:srgbClr val="2D3238"/>
                </a:solidFill>
                <a:latin typeface="Segoe UI"/>
              </a:rPr>
              <a:t>• Важко описати дії (Actions / RPC).
• Схильність до Underfetching (багато запитів) або Overfetching (зайві поля).
• Слабка типізація та важкий парсинг JSON.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4306824" y="1280160"/>
            <a:ext cx="3566160" cy="4937760"/>
          </a:xfrm>
          <a:prstGeom prst="rect">
            <a:avLst/>
          </a:prstGeom>
          <a:solidFill>
            <a:srgbClr val="F6F7F8"/>
          </a:solidFill>
          <a:ln w="12700">
            <a:solidFill>
              <a:srgbClr val="B9B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46304" rIns="182880" bIns="128016" rtlCol="0" anchor="t"/>
          <a:lstStyle/>
          <a:p>
            <a:pPr algn="ctr">
              <a:spcAft>
                <a:spcPts val="800"/>
              </a:spcAft>
              <a:defRPr sz="1650" b="1">
                <a:solidFill>
                  <a:srgbClr val="111418"/>
                </a:solidFill>
                <a:latin typeface="Segoe UI"/>
              </a:defRPr>
            </a:pPr>
            <a:r>
              <a:t>2. gRPC (HTTP/2 + Protobuf)</a:t>
            </a:r>
          </a:p>
          <a:p>
            <a:pPr>
              <a:spcAft>
                <a:spcPts val="800"/>
              </a:spcAft>
            </a:pPr>
            <a:r>
              <a:rPr sz="1380" b="1">
                <a:solidFill>
                  <a:srgbClr val="111418"/>
                </a:solidFill>
                <a:latin typeface="Segoe UI"/>
              </a:rPr>
              <a:t>Переваги:
</a:t>
            </a:r>
            <a:r>
              <a:rPr sz="1380" b="0">
                <a:solidFill>
                  <a:srgbClr val="2D3238"/>
                </a:solidFill>
                <a:latin typeface="Segoe UI"/>
              </a:rPr>
              <a:t>• Надвисока швидкість і малий розмір пакетів.
• Автогенерація клієнтів і серверів з .proto.
• Повна підтримка двонаправленого стрімінгу.
• Вбудовані дедлайни та скасування.</a:t>
            </a:r>
          </a:p>
          <a:p>
            <a:pPr>
              <a:spcAft>
                <a:spcPts val="400"/>
              </a:spcAft>
            </a:pPr>
            <a:r>
              <a:rPr sz="1380" b="1">
                <a:solidFill>
                  <a:srgbClr val="111418"/>
                </a:solidFill>
                <a:latin typeface="Segoe UI"/>
              </a:rPr>
              <a:t>Проблеми:
</a:t>
            </a:r>
            <a:r>
              <a:rPr sz="1380" b="0">
                <a:solidFill>
                  <a:srgbClr val="2D3238"/>
                </a:solidFill>
                <a:latin typeface="Segoe UI"/>
              </a:rPr>
              <a:t>• Бінарний формат не читається людиною без декодера.
• Браузери не підтримують gRPC напряму без gRPC-Web або JSON Transcoding.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8119872" y="1280160"/>
            <a:ext cx="3566160" cy="4937760"/>
          </a:xfrm>
          <a:prstGeom prst="rect">
            <a:avLst/>
          </a:prstGeom>
          <a:solidFill>
            <a:srgbClr val="F6F7F8"/>
          </a:solidFill>
          <a:ln w="12700">
            <a:solidFill>
              <a:srgbClr val="B9B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46304" rIns="182880" bIns="128016" rtlCol="0" anchor="t"/>
          <a:lstStyle/>
          <a:p>
            <a:pPr algn="ctr">
              <a:spcAft>
                <a:spcPts val="800"/>
              </a:spcAft>
              <a:defRPr sz="1650" b="1">
                <a:solidFill>
                  <a:srgbClr val="111418"/>
                </a:solidFill>
                <a:latin typeface="Segoe UI"/>
              </a:defRPr>
            </a:pPr>
            <a:r>
              <a:t>3. GraphQL</a:t>
            </a:r>
          </a:p>
          <a:p>
            <a:pPr>
              <a:spcAft>
                <a:spcPts val="800"/>
              </a:spcAft>
            </a:pPr>
            <a:r>
              <a:rPr sz="1380" b="1">
                <a:solidFill>
                  <a:srgbClr val="111418"/>
                </a:solidFill>
                <a:latin typeface="Segoe UI"/>
              </a:rPr>
              <a:t>Переваги:
</a:t>
            </a:r>
            <a:r>
              <a:rPr sz="1380" b="0">
                <a:solidFill>
                  <a:srgbClr val="2D3238"/>
                </a:solidFill>
                <a:latin typeface="Segoe UI"/>
              </a:rPr>
              <a:t>• Клієнт запитує лише потрібний набір полів за 1 запит.
• Зручна агрегація даних на рівні публічного шлюзу для фронтенду.</a:t>
            </a:r>
          </a:p>
          <a:p>
            <a:pPr>
              <a:spcAft>
                <a:spcPts val="400"/>
              </a:spcAft>
            </a:pPr>
            <a:r>
              <a:rPr sz="1380" b="1">
                <a:solidFill>
                  <a:srgbClr val="111418"/>
                </a:solidFill>
                <a:latin typeface="Segoe UI"/>
              </a:rPr>
              <a:t>Проблеми для міжсервісної взаємодії:
</a:t>
            </a:r>
            <a:r>
              <a:rPr sz="1380" b="0">
                <a:solidFill>
                  <a:srgbClr val="2D3238"/>
                </a:solidFill>
                <a:latin typeface="Segoe UI"/>
              </a:rPr>
              <a:t>• Швидкість відповіді дорівнює найповільнішому полю.
• Проблема N+1 запитів до БД.
• Ламає стандартне HTTP-кешування (усе йде через POST).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19088"/>
            <a:ext cx="11183112" cy="13716"/>
          </a:xfrm>
          <a:prstGeom prst="rect">
            <a:avLst/>
          </a:prstGeom>
          <a:solidFill>
            <a:srgbClr val="B9B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464808"/>
            <a:ext cx="9509760" cy="29260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050">
                <a:solidFill>
                  <a:srgbClr val="5F666E"/>
                </a:solidFill>
                <a:latin typeface="Segoe UI"/>
              </a:rPr>
              <a:t>Порівняння стилів API у розподілених системах</a:t>
            </a:r>
            <a:r>
              <a:rPr sz="1050" b="1">
                <a:solidFill>
                  <a:srgbClr val="111418"/>
                </a:solidFill>
                <a:latin typeface="Segoe UI"/>
                <a:hlinkClick r:id="rId2"/>
              </a:rPr>
              <a:t>   |   Джерело: https://learn.microsoft.com/en-us/aspnet/core/grpc/comparison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49840" y="6464808"/>
            <a:ext cx="1536192" cy="292608"/>
          </a:xfrm>
          <a:prstGeom prst="rect">
            <a:avLst/>
          </a:prstGeom>
          <a:noFill/>
        </p:spPr>
        <p:txBody>
          <a:bodyPr wrap="none" tIns="0" rIns="0">
            <a:spAutoFit/>
          </a:bodyPr>
          <a:lstStyle/>
          <a:p>
            <a:pPr algn="r">
              <a:defRPr sz="1100" b="1">
                <a:solidFill>
                  <a:srgbClr val="111418"/>
                </a:solidFill>
                <a:latin typeface="Segoe UI"/>
              </a:defRPr>
            </a:pPr>
            <a:r>
              <a:t>Слайд 8 з 28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11183112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5F666E"/>
                </a:solidFill>
                <a:latin typeface="Segoe UI"/>
              </a:defRPr>
            </a:pPr>
            <a:r>
              <a:t>РОЗДІЛ 3. КРИТЕРІЇ ВИБОРУ ТЕХНОЛОГІЇ</a:t>
            </a:r>
          </a:p>
          <a:p>
            <a:pPr>
              <a:defRPr sz="2400" b="1">
                <a:solidFill>
                  <a:srgbClr val="111418"/>
                </a:solidFill>
                <a:latin typeface="Segoe UI"/>
              </a:defRPr>
            </a:pPr>
            <a:r>
              <a:t>Матриця прийняття архітектурних рішень: коли обирати REST, gRPC чи GraphQL</a:t>
            </a:r>
          </a:p>
          <a:p>
            <a:pPr>
              <a:defRPr sz="1350">
                <a:solidFill>
                  <a:srgbClr val="5F666E"/>
                </a:solidFill>
                <a:latin typeface="Segoe UI"/>
              </a:defRPr>
            </a:pPr>
            <a:r>
              <a:t>Практичні правила вибору протоколу залежно від вимог домену та клієнтів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15568"/>
            <a:ext cx="11183112" cy="18288"/>
          </a:xfrm>
          <a:prstGeom prst="rect">
            <a:avLst/>
          </a:prstGeom>
          <a:solidFill>
            <a:srgbClr val="505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37801"/>
              </p:ext>
            </p:extLst>
          </p:nvPr>
        </p:nvGraphicFramePr>
        <p:xfrm>
          <a:off x="594803" y="1589902"/>
          <a:ext cx="10736120" cy="43869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24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091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969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76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8374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11418"/>
                          </a:solidFill>
                          <a:latin typeface="Segoe UI"/>
                        </a:defRPr>
                      </a:pPr>
                      <a:r>
                        <a:t>Критерій / Характеристика</a:t>
                      </a:r>
                    </a:p>
                  </a:txBody>
                  <a:tcPr marL="109728" marR="109728" marT="54864" marB="54864" anchor="ctr">
                    <a:solidFill>
                      <a:srgbClr val="DCE0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11418"/>
                          </a:solidFill>
                          <a:latin typeface="Segoe UI"/>
                        </a:defRPr>
                      </a:pPr>
                      <a:r>
                        <a:rPr dirty="0"/>
                        <a:t>REST (HTTP / JSON)</a:t>
                      </a:r>
                    </a:p>
                  </a:txBody>
                  <a:tcPr marL="109728" marR="109728" marT="54864" marB="54864" anchor="ctr">
                    <a:solidFill>
                      <a:srgbClr val="DCE0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11418"/>
                          </a:solidFill>
                          <a:latin typeface="Segoe UI"/>
                        </a:defRPr>
                      </a:pPr>
                      <a:r>
                        <a:t>gRPC (HTTP/2 / Protobuf)</a:t>
                      </a:r>
                    </a:p>
                  </a:txBody>
                  <a:tcPr marL="109728" marR="109728" marT="54864" marB="54864" anchor="ctr">
                    <a:solidFill>
                      <a:srgbClr val="DCE0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11418"/>
                          </a:solidFill>
                          <a:latin typeface="Segoe UI"/>
                        </a:defRPr>
                      </a:pPr>
                      <a:r>
                        <a:t>GraphQL</a:t>
                      </a:r>
                    </a:p>
                  </a:txBody>
                  <a:tcPr marL="109728" marR="109728" marT="54864" marB="54864" anchor="ctr">
                    <a:solidFill>
                      <a:srgbClr val="DCE0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374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111418"/>
                          </a:solidFill>
                          <a:latin typeface="Segoe UI"/>
                        </a:defRPr>
                      </a:pPr>
                      <a:r>
                        <a:t>Основна абстракція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Ресурси (Resources / Nouns)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Дії та процедури (Actions / RPC)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Граф даних та запити (Query Graph)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374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111418"/>
                          </a:solidFill>
                          <a:latin typeface="Segoe UI"/>
                        </a:defRPr>
                      </a:pPr>
                      <a:r>
                        <a:t>Транспорт і формат</a:t>
                      </a:r>
                    </a:p>
                  </a:txBody>
                  <a:tcPr marL="109728" marR="109728" marT="54864" marB="54864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HTTP/1.1 або HTTP/2, текст JSON</a:t>
                      </a:r>
                    </a:p>
                  </a:txBody>
                  <a:tcPr marL="109728" marR="109728" marT="54864" marB="54864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Виключно HTTP/2 (або HTTP/3), бінарний Protobuf</a:t>
                      </a:r>
                    </a:p>
                  </a:txBody>
                  <a:tcPr marL="109728" marR="109728" marT="54864" marB="54864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HTTP POST, текст JSON</a:t>
                      </a:r>
                    </a:p>
                  </a:txBody>
                  <a:tcPr marL="109728" marR="109728" marT="54864" marB="54864" anchor="ctr">
                    <a:solidFill>
                      <a:srgbClr val="F6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374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111418"/>
                          </a:solidFill>
                          <a:latin typeface="Segoe UI"/>
                        </a:defRPr>
                      </a:pPr>
                      <a:r>
                        <a:t>Контракт та типізація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Опціонально (OpenAPI / Swagger)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Обов'язковий строгий (.proto схема)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Обов'язковий строгий (GraphQL Schema)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374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111418"/>
                          </a:solidFill>
                          <a:latin typeface="Segoe UI"/>
                        </a:defRPr>
                      </a:pPr>
                      <a:r>
                        <a:t>Підтримка браузерів</a:t>
                      </a:r>
                    </a:p>
                  </a:txBody>
                  <a:tcPr marL="109728" marR="109728" marT="54864" marB="54864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100% нативна (Fetch / XHR)</a:t>
                      </a:r>
                    </a:p>
                  </a:txBody>
                  <a:tcPr marL="109728" marR="109728" marT="54864" marB="54864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Потребує gRPC-Web або JSON Transcoding</a:t>
                      </a:r>
                    </a:p>
                  </a:txBody>
                  <a:tcPr marL="109728" marR="109728" marT="54864" marB="54864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Висока (через HTTP POST / Apollo)</a:t>
                      </a:r>
                    </a:p>
                  </a:txBody>
                  <a:tcPr marL="109728" marR="109728" marT="54864" marB="54864" anchor="ctr">
                    <a:solidFill>
                      <a:srgbClr val="F6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374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111418"/>
                          </a:solidFill>
                          <a:latin typeface="Segoe UI"/>
                        </a:defRPr>
                      </a:pPr>
                      <a:r>
                        <a:t>Кешування на рівні проксі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Нативне (GET + HTTP ETag / Cache-Control)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Відсутнє (усі виклики є HTTP/2 POST)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Ускладнене (потребує Persisted Queries)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374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111418"/>
                          </a:solidFill>
                          <a:latin typeface="Segoe UI"/>
                        </a:defRPr>
                      </a:pPr>
                      <a:r>
                        <a:t>Ідеальний сценарій</a:t>
                      </a:r>
                    </a:p>
                  </a:txBody>
                  <a:tcPr marL="109728" marR="109728" marT="54864" marB="54864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Публічні веб-API, CRUD-додатки, BFF</a:t>
                      </a:r>
                    </a:p>
                  </a:txBody>
                  <a:tcPr marL="109728" marR="109728" marT="54864" marB="54864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Внутрішній зв'язок мікросервісів, IoT, стрімінг</a:t>
                      </a:r>
                    </a:p>
                  </a:txBody>
                  <a:tcPr marL="109728" marR="109728" marT="54864" marB="54864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Публічні API зі складними вибірками полів</a:t>
                      </a:r>
                    </a:p>
                  </a:txBody>
                  <a:tcPr marL="109728" marR="109728" marT="54864" marB="54864" anchor="ctr">
                    <a:solidFill>
                      <a:srgbClr val="F6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8374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111418"/>
                          </a:solidFill>
                          <a:latin typeface="Segoe UI"/>
                        </a:defRPr>
                      </a:pPr>
                      <a:r>
                        <a:t>Роль у CargoDeliveryService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Зовнішні контролери та BFF Aggregator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DriversManagement -&gt; DriversBlogManagement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rPr dirty="0" err="1"/>
                        <a:t>Не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використовується</a:t>
                      </a:r>
                      <a:r>
                        <a:rPr dirty="0"/>
                        <a:t> (</a:t>
                      </a:r>
                      <a:r>
                        <a:rPr dirty="0" err="1"/>
                        <a:t>замінено</a:t>
                      </a:r>
                      <a:r>
                        <a:rPr dirty="0"/>
                        <a:t> BFF Aggregator)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02920" y="6419088"/>
            <a:ext cx="11183112" cy="13716"/>
          </a:xfrm>
          <a:prstGeom prst="rect">
            <a:avLst/>
          </a:prstGeom>
          <a:solidFill>
            <a:srgbClr val="B9B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464808"/>
            <a:ext cx="9509760" cy="29260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050">
                <a:solidFill>
                  <a:srgbClr val="5F666E"/>
                </a:solidFill>
                <a:latin typeface="Segoe UI"/>
              </a:rPr>
              <a:t>Матриця вибору комунікаційних технологій</a:t>
            </a:r>
            <a:r>
              <a:rPr sz="1050" b="1">
                <a:solidFill>
                  <a:srgbClr val="111418"/>
                </a:solidFill>
                <a:latin typeface="Segoe UI"/>
                <a:hlinkClick r:id="rId2"/>
              </a:rPr>
              <a:t>   |   Джерело: https://grpc.io/docs/what-is-grpc/introduction/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49840" y="6464808"/>
            <a:ext cx="1536192" cy="292608"/>
          </a:xfrm>
          <a:prstGeom prst="rect">
            <a:avLst/>
          </a:prstGeom>
          <a:noFill/>
        </p:spPr>
        <p:txBody>
          <a:bodyPr wrap="none" tIns="0" rIns="0">
            <a:spAutoFit/>
          </a:bodyPr>
          <a:lstStyle/>
          <a:p>
            <a:pPr algn="r">
              <a:defRPr sz="1100" b="1">
                <a:solidFill>
                  <a:srgbClr val="111418"/>
                </a:solidFill>
                <a:latin typeface="Segoe UI"/>
              </a:defRPr>
            </a:pPr>
            <a:r>
              <a:t>Слайд 9 з 28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11183112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5F666E"/>
                </a:solidFill>
                <a:latin typeface="Segoe UI"/>
              </a:defRPr>
            </a:pPr>
            <a:r>
              <a:t>РОЗДІЛ 3. ПОРІВНЯННЯ ФОРМАТІВ СЕРІАЛІЗАЦІЇ</a:t>
            </a:r>
          </a:p>
          <a:p>
            <a:pPr>
              <a:defRPr sz="2400" b="1">
                <a:solidFill>
                  <a:srgbClr val="111418"/>
                </a:solidFill>
                <a:latin typeface="Segoe UI"/>
              </a:defRPr>
            </a:pPr>
            <a:r>
              <a:t>Protocol Buffers проти JSON, XML та MessagePack</a:t>
            </a:r>
          </a:p>
          <a:p>
            <a:pPr>
              <a:defRPr sz="1350">
                <a:solidFill>
                  <a:srgbClr val="5F666E"/>
                </a:solidFill>
                <a:latin typeface="Segoe UI"/>
              </a:defRPr>
            </a:pPr>
            <a:r>
              <a:t>Порівняльна таблиця характеристик форматів обміну даними (за матеріалами курсу та документації)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15568"/>
            <a:ext cx="11183112" cy="18288"/>
          </a:xfrm>
          <a:prstGeom prst="rect">
            <a:avLst/>
          </a:prstGeom>
          <a:solidFill>
            <a:srgbClr val="505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280160"/>
          <a:ext cx="11183112" cy="4892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305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11505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11418"/>
                          </a:solidFill>
                          <a:latin typeface="Segoe UI"/>
                        </a:defRPr>
                      </a:pPr>
                      <a:r>
                        <a:t>Характеристика</a:t>
                      </a:r>
                    </a:p>
                  </a:txBody>
                  <a:tcPr marL="109728" marR="109728" marT="54864" marB="54864" anchor="ctr">
                    <a:solidFill>
                      <a:srgbClr val="DCE0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11418"/>
                          </a:solidFill>
                          <a:latin typeface="Segoe UI"/>
                        </a:defRPr>
                      </a:pPr>
                      <a:r>
                        <a:t>Protocol Buffers (Protobuf)</a:t>
                      </a:r>
                    </a:p>
                  </a:txBody>
                  <a:tcPr marL="109728" marR="109728" marT="54864" marB="54864" anchor="ctr">
                    <a:solidFill>
                      <a:srgbClr val="DCE0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11418"/>
                          </a:solidFill>
                          <a:latin typeface="Segoe UI"/>
                        </a:defRPr>
                      </a:pPr>
                      <a:r>
                        <a:t>JSON (System.Text.Json)</a:t>
                      </a:r>
                    </a:p>
                  </a:txBody>
                  <a:tcPr marL="109728" marR="109728" marT="54864" marB="54864" anchor="ctr">
                    <a:solidFill>
                      <a:srgbClr val="DCE0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11418"/>
                          </a:solidFill>
                          <a:latin typeface="Segoe UI"/>
                        </a:defRPr>
                      </a:pPr>
                      <a:r>
                        <a:t>XML</a:t>
                      </a:r>
                    </a:p>
                  </a:txBody>
                  <a:tcPr marL="109728" marR="109728" marT="54864" marB="54864" anchor="ctr">
                    <a:solidFill>
                      <a:srgbClr val="DCE0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11418"/>
                          </a:solidFill>
                          <a:latin typeface="Segoe UI"/>
                        </a:defRPr>
                      </a:pPr>
                      <a:r>
                        <a:t>MessagePack</a:t>
                      </a:r>
                    </a:p>
                  </a:txBody>
                  <a:tcPr marL="109728" marR="109728" marT="54864" marB="54864" anchor="ctr">
                    <a:solidFill>
                      <a:srgbClr val="DCE0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1505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111418"/>
                          </a:solidFill>
                          <a:latin typeface="Segoe UI"/>
                        </a:defRPr>
                      </a:pPr>
                      <a:r>
                        <a:t>Тип формату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Бінарний (Binary TLV)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Текстовий (UTF-8)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Текстовий (Розмітка тегів)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Бінарний (Binary JSON-like)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1505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111418"/>
                          </a:solidFill>
                          <a:latin typeface="Segoe UI"/>
                        </a:defRPr>
                      </a:pPr>
                      <a:r>
                        <a:t>Читабельність людиною</a:t>
                      </a:r>
                    </a:p>
                  </a:txBody>
                  <a:tcPr marL="109728" marR="109728" marT="54864" marB="54864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Ні (потрібен декодер + .proto)</a:t>
                      </a:r>
                    </a:p>
                  </a:txBody>
                  <a:tcPr marL="109728" marR="109728" marT="54864" marB="54864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Так (відмінна)</a:t>
                      </a:r>
                    </a:p>
                  </a:txBody>
                  <a:tcPr marL="109728" marR="109728" marT="54864" marB="54864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Так (але надлишкова)</a:t>
                      </a:r>
                    </a:p>
                  </a:txBody>
                  <a:tcPr marL="109728" marR="109728" marT="54864" marB="54864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Ні (бінарний потік)</a:t>
                      </a:r>
                    </a:p>
                  </a:txBody>
                  <a:tcPr marL="109728" marR="109728" marT="54864" marB="54864" anchor="ctr">
                    <a:solidFill>
                      <a:srgbClr val="F6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1505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111418"/>
                          </a:solidFill>
                          <a:latin typeface="Segoe UI"/>
                        </a:defRPr>
                      </a:pPr>
                      <a:r>
                        <a:t>Наявність строгої схеми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Обов'язкова (.proto файл)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Необов'язкова (JSON Schema)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Обов'язкова або опціональна (XSD)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Необов'язкова (Schemaless)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1505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111418"/>
                          </a:solidFill>
                          <a:latin typeface="Segoe UI"/>
                        </a:defRPr>
                      </a:pPr>
                      <a:r>
                        <a:t>Передача назв полів у мережі</a:t>
                      </a:r>
                    </a:p>
                  </a:txBody>
                  <a:tcPr marL="109728" marR="109728" marT="54864" marB="54864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Ні (лише числові теги 1, 2, 3...)</a:t>
                      </a:r>
                    </a:p>
                  </a:txBody>
                  <a:tcPr marL="109728" marR="109728" marT="54864" marB="54864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Так (у кожному пакеті)</a:t>
                      </a:r>
                    </a:p>
                  </a:txBody>
                  <a:tcPr marL="109728" marR="109728" marT="54864" marB="54864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Так (відкриваючі й закриваючі теги)</a:t>
                      </a:r>
                    </a:p>
                  </a:txBody>
                  <a:tcPr marL="109728" marR="109728" marT="54864" marB="54864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Так (або індекси за атрибутами)</a:t>
                      </a:r>
                    </a:p>
                  </a:txBody>
                  <a:tcPr marL="109728" marR="109728" marT="54864" marB="54864" anchor="ctr">
                    <a:solidFill>
                      <a:srgbClr val="F6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1505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111418"/>
                          </a:solidFill>
                          <a:latin typeface="Segoe UI"/>
                        </a:defRPr>
                      </a:pPr>
                      <a:r>
                        <a:t>Відносний розмір пакета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Найменший (~25–35% від JSON)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Базовий (100%)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Найбільший (~180–300% від JSON)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Малий (~45–60% від JSON)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11505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111418"/>
                          </a:solidFill>
                          <a:latin typeface="Segoe UI"/>
                        </a:defRPr>
                      </a:pPr>
                      <a:r>
                        <a:t>Швидкість серіалізації CPU</a:t>
                      </a:r>
                    </a:p>
                  </a:txBody>
                  <a:tcPr marL="109728" marR="109728" marT="54864" marB="54864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Надвисока (5x–10x швидше JSON)</a:t>
                      </a:r>
                    </a:p>
                  </a:txBody>
                  <a:tcPr marL="109728" marR="109728" marT="54864" marB="54864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Середня (базова)</a:t>
                      </a:r>
                    </a:p>
                  </a:txBody>
                  <a:tcPr marL="109728" marR="109728" marT="54864" marB="54864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Низька (важкий парсинг DOM/SAX)</a:t>
                      </a:r>
                    </a:p>
                  </a:txBody>
                  <a:tcPr marL="109728" marR="109728" marT="54864" marB="54864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Висока (2x–4x швидше JSON)</a:t>
                      </a:r>
                    </a:p>
                  </a:txBody>
                  <a:tcPr marL="109728" marR="109728" marT="54864" marB="54864" anchor="ctr">
                    <a:solidFill>
                      <a:srgbClr val="F6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11505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111418"/>
                          </a:solidFill>
                          <a:latin typeface="Segoe UI"/>
                        </a:defRPr>
                      </a:pPr>
                      <a:r>
                        <a:t>Зворотна сумісність версій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Вбудована на рівні тегів полів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Ручна підтримка в коді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Через простори імен XSD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Обмежена при зміні структури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02920" y="6419088"/>
            <a:ext cx="11183112" cy="13716"/>
          </a:xfrm>
          <a:prstGeom prst="rect">
            <a:avLst/>
          </a:prstGeom>
          <a:solidFill>
            <a:srgbClr val="B9B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464808"/>
            <a:ext cx="9509760" cy="29260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050">
                <a:solidFill>
                  <a:srgbClr val="5F666E"/>
                </a:solidFill>
                <a:latin typeface="Segoe UI"/>
              </a:rPr>
              <a:t>Офіційний огляд Protocol Buffers від Google</a:t>
            </a:r>
            <a:r>
              <a:rPr sz="1050" b="1">
                <a:solidFill>
                  <a:srgbClr val="111418"/>
                </a:solidFill>
                <a:latin typeface="Segoe UI"/>
                <a:hlinkClick r:id="rId2"/>
              </a:rPr>
              <a:t>   |   Джерело: https://protobuf.dev/overview/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49840" y="6464808"/>
            <a:ext cx="1536192" cy="292608"/>
          </a:xfrm>
          <a:prstGeom prst="rect">
            <a:avLst/>
          </a:prstGeom>
          <a:noFill/>
        </p:spPr>
        <p:txBody>
          <a:bodyPr wrap="none" tIns="0" rIns="0">
            <a:spAutoFit/>
          </a:bodyPr>
          <a:lstStyle/>
          <a:p>
            <a:pPr algn="r">
              <a:defRPr sz="1100" b="1">
                <a:solidFill>
                  <a:srgbClr val="111418"/>
                </a:solidFill>
                <a:latin typeface="Segoe UI"/>
              </a:defRPr>
            </a:pPr>
            <a:r>
              <a:t>Слайд 10 з 28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11183112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5F666E"/>
                </a:solidFill>
                <a:latin typeface="Segoe UI"/>
              </a:defRPr>
            </a:pPr>
            <a:r>
              <a:t>РОЗДІЛ 3. ПРОДУКТИВНІСТЬ ТА БЕНЧМАРКИ</a:t>
            </a:r>
          </a:p>
          <a:p>
            <a:pPr>
              <a:defRPr sz="2400" b="1">
                <a:solidFill>
                  <a:srgbClr val="111418"/>
                </a:solidFill>
                <a:latin typeface="Segoe UI"/>
              </a:defRPr>
            </a:pPr>
            <a:r>
              <a:t>Результати вимірювань: gRPC проти REST (7x–10x) та прогрес у .NET 5 -&gt; .NET 10</a:t>
            </a:r>
          </a:p>
          <a:p>
            <a:pPr>
              <a:defRPr sz="1350">
                <a:solidFill>
                  <a:srgbClr val="5F666E"/>
                </a:solidFill>
                <a:latin typeface="Segoe UI"/>
              </a:defRPr>
            </a:pPr>
            <a:r>
              <a:t>Емпіричні дані з оригінальної презентації курсу та офіційних звітів команди ASP.NET Core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15568"/>
            <a:ext cx="11183112" cy="18288"/>
          </a:xfrm>
          <a:prstGeom prst="rect">
            <a:avLst/>
          </a:prstGeom>
          <a:solidFill>
            <a:srgbClr val="505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diag_05_benchmar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070" y="1397101"/>
            <a:ext cx="10718366" cy="375142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02920" y="5193792"/>
            <a:ext cx="11183112" cy="1097280"/>
          </a:xfrm>
          <a:prstGeom prst="rect">
            <a:avLst/>
          </a:prstGeom>
          <a:solidFill>
            <a:srgbClr val="F6F7F8"/>
          </a:solidFill>
          <a:ln w="12700">
            <a:solidFill>
              <a:srgbClr val="B9B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46304" rIns="182880" bIns="128016" rtlCol="0" anchor="t"/>
          <a:lstStyle/>
          <a:p>
            <a:pPr algn="ctr">
              <a:spcAft>
                <a:spcPts val="400"/>
              </a:spcAft>
            </a:pPr>
            <a:r>
              <a:rPr sz="1380" b="1">
                <a:solidFill>
                  <a:srgbClr val="111418"/>
                </a:solidFill>
                <a:latin typeface="Segoe UI"/>
              </a:rPr>
              <a:t>• Чому gRPC у 7 разів швидший при отриманні та у 10 разів при відправці: </a:t>
            </a:r>
            <a:r>
              <a:rPr sz="1380" b="0">
                <a:solidFill>
                  <a:srgbClr val="2D3238"/>
                </a:solidFill>
                <a:latin typeface="Segoe UI"/>
              </a:rPr>
              <a:t>відсутність парсингу текстових рядків JSON, бінарна упаковка Protobuf та відсутність повторних TCP/TLS-рукостискань завдяки HTTP/2.</a:t>
            </a:r>
          </a:p>
          <a:p>
            <a:pPr>
              <a:spcAft>
                <a:spcPts val="200"/>
              </a:spcAft>
            </a:pPr>
            <a:r>
              <a:rPr sz="1380" b="1">
                <a:solidFill>
                  <a:srgbClr val="111418"/>
                </a:solidFill>
                <a:latin typeface="Segoe UI"/>
              </a:rPr>
              <a:t>• Оптимізації в .NET 5 – .NET 10: </a:t>
            </a:r>
            <a:r>
              <a:rPr sz="1380" b="0">
                <a:solidFill>
                  <a:srgbClr val="2D3238"/>
                </a:solidFill>
                <a:latin typeface="Segoe UI"/>
              </a:rPr>
              <a:t>повністю керований стек на базі SocketsHttpHandler, пулінг HTTP/2-з'єднань та серіалізація без алокацій у купі (Span&lt;byte&gt; / IBufferWriter&lt;byte&gt;).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19088"/>
            <a:ext cx="11183112" cy="13716"/>
          </a:xfrm>
          <a:prstGeom prst="rect">
            <a:avLst/>
          </a:prstGeom>
          <a:solidFill>
            <a:srgbClr val="B9B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464808"/>
            <a:ext cx="9509760" cy="29260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050">
                <a:solidFill>
                  <a:srgbClr val="5F666E"/>
                </a:solidFill>
                <a:latin typeface="Segoe UI"/>
              </a:rPr>
              <a:t>Бенчмарк: github.com/EmperorRXF/RESTvsGRPC</a:t>
            </a:r>
            <a:r>
              <a:rPr sz="1050" b="1">
                <a:solidFill>
                  <a:srgbClr val="111418"/>
                </a:solidFill>
                <a:latin typeface="Segoe UI"/>
                <a:hlinkClick r:id="rId3"/>
              </a:rPr>
              <a:t>   |   Джерело: https://devblogs.microsoft.com/aspnet/grpc-performance-improvements-in-net-5/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49840" y="6464808"/>
            <a:ext cx="1536192" cy="292608"/>
          </a:xfrm>
          <a:prstGeom prst="rect">
            <a:avLst/>
          </a:prstGeom>
          <a:noFill/>
        </p:spPr>
        <p:txBody>
          <a:bodyPr wrap="none" tIns="0" rIns="0">
            <a:spAutoFit/>
          </a:bodyPr>
          <a:lstStyle/>
          <a:p>
            <a:pPr algn="r">
              <a:defRPr sz="1100" b="1">
                <a:solidFill>
                  <a:srgbClr val="111418"/>
                </a:solidFill>
                <a:latin typeface="Segoe UI"/>
              </a:defRPr>
            </a:pPr>
            <a:r>
              <a:t>Слайд 11 з 28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11183112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5F666E"/>
                </a:solidFill>
                <a:latin typeface="Segoe UI"/>
              </a:defRPr>
            </a:pPr>
            <a:r>
              <a:t>РОЗДІЛ 4. АРХІТЕКТУРА НАШОГО ПРОЄКТУ CARGO DELIVERY SERVICE</a:t>
            </a:r>
          </a:p>
          <a:p>
            <a:pPr>
              <a:defRPr sz="2400" b="1">
                <a:solidFill>
                  <a:srgbClr val="111418"/>
                </a:solidFill>
                <a:latin typeface="Segoe UI"/>
              </a:defRPr>
            </a:pPr>
            <a:r>
              <a:t>Топологія міжсервісних комунікацій у блоці 02-Microservices-Craftsman</a:t>
            </a:r>
          </a:p>
          <a:p>
            <a:pPr>
              <a:defRPr sz="1350">
                <a:solidFill>
                  <a:srgbClr val="5F666E"/>
                </a:solidFill>
                <a:latin typeface="Segoe UI"/>
              </a:defRPr>
            </a:pPr>
            <a:r>
              <a:t>Як три патерни (HTTP BFF Aggregator, синхронний gRPC та асинхронний RabbitMQ) працюють разом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15568"/>
            <a:ext cx="11183112" cy="18288"/>
          </a:xfrm>
          <a:prstGeom prst="rect">
            <a:avLst/>
          </a:prstGeom>
          <a:solidFill>
            <a:srgbClr val="505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diag_06_cargo_topolo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88720"/>
            <a:ext cx="11183112" cy="484601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02920" y="6419088"/>
            <a:ext cx="11183112" cy="13716"/>
          </a:xfrm>
          <a:prstGeom prst="rect">
            <a:avLst/>
          </a:prstGeom>
          <a:solidFill>
            <a:srgbClr val="B9B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464808"/>
            <a:ext cx="9509760" cy="29260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050">
                <a:solidFill>
                  <a:srgbClr val="5F666E"/>
                </a:solidFill>
                <a:latin typeface="Segoe UI"/>
              </a:rPr>
              <a:t>Файл топології: 02-02-Communication-Documentation/00_Communication_Matrix_Quick_Reference.md</a:t>
            </a:r>
            <a:r>
              <a:rPr sz="1050" b="1">
                <a:solidFill>
                  <a:srgbClr val="111418"/>
                </a:solidFill>
                <a:latin typeface="Segoe UI"/>
                <a:hlinkClick r:id="rId3"/>
              </a:rPr>
              <a:t>   |   Джерело: https://learn.microsoft.com/en-us/dotnet/aspire/get-started/aspire-overview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49840" y="6464808"/>
            <a:ext cx="1536192" cy="292608"/>
          </a:xfrm>
          <a:prstGeom prst="rect">
            <a:avLst/>
          </a:prstGeom>
          <a:noFill/>
        </p:spPr>
        <p:txBody>
          <a:bodyPr wrap="none" tIns="0" rIns="0">
            <a:spAutoFit/>
          </a:bodyPr>
          <a:lstStyle/>
          <a:p>
            <a:pPr algn="r">
              <a:defRPr sz="1100" b="1">
                <a:solidFill>
                  <a:srgbClr val="111418"/>
                </a:solidFill>
                <a:latin typeface="Segoe UI"/>
              </a:defRPr>
            </a:pPr>
            <a:r>
              <a:t>Слайд 12 з 28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11183112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5F666E"/>
                </a:solidFill>
                <a:latin typeface="Segoe UI"/>
              </a:defRPr>
            </a:pPr>
            <a:r>
              <a:t>РОЗДІЛ 4. МЕРЕЖЕВА КАРТА ПРОЄКТУ</a:t>
            </a:r>
          </a:p>
          <a:p>
            <a:pPr>
              <a:defRPr sz="2400" b="1">
                <a:solidFill>
                  <a:srgbClr val="111418"/>
                </a:solidFill>
                <a:latin typeface="Segoe UI"/>
              </a:defRPr>
            </a:pPr>
            <a:r>
              <a:t>Таблиця портів, адрес, баз даних та ролей сервісів у CargoDeliveryService</a:t>
            </a:r>
          </a:p>
          <a:p>
            <a:pPr>
              <a:defRPr sz="1350">
                <a:solidFill>
                  <a:srgbClr val="5F666E"/>
                </a:solidFill>
                <a:latin typeface="Segoe UI"/>
              </a:defRPr>
            </a:pPr>
            <a:r>
              <a:t>Повна конфігурація мікросервісів під управлінням оркестратора CargoDelivery.AppHost (.NET 10 Aspire)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15568"/>
            <a:ext cx="11183112" cy="18288"/>
          </a:xfrm>
          <a:prstGeom prst="rect">
            <a:avLst/>
          </a:prstGeom>
          <a:solidFill>
            <a:srgbClr val="505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280160"/>
          <a:ext cx="11183112" cy="4892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963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98862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11418"/>
                          </a:solidFill>
                          <a:latin typeface="Segoe UI"/>
                        </a:defRPr>
                      </a:pPr>
                      <a:r>
                        <a:t>Сервіс / Інфраструктура</a:t>
                      </a:r>
                    </a:p>
                  </a:txBody>
                  <a:tcPr marL="109728" marR="109728" marT="54864" marB="54864" anchor="ctr">
                    <a:solidFill>
                      <a:srgbClr val="DCE0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11418"/>
                          </a:solidFill>
                          <a:latin typeface="Segoe UI"/>
                        </a:defRPr>
                      </a:pPr>
                      <a:r>
                        <a:t>Локальна адреса та порт</a:t>
                      </a:r>
                    </a:p>
                  </a:txBody>
                  <a:tcPr marL="109728" marR="109728" marT="54864" marB="54864" anchor="ctr">
                    <a:solidFill>
                      <a:srgbClr val="DCE0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11418"/>
                          </a:solidFill>
                          <a:latin typeface="Segoe UI"/>
                        </a:defRPr>
                      </a:pPr>
                      <a:r>
                        <a:t>Логічне ім'я в Aspire</a:t>
                      </a:r>
                    </a:p>
                  </a:txBody>
                  <a:tcPr marL="109728" marR="109728" marT="54864" marB="54864" anchor="ctr">
                    <a:solidFill>
                      <a:srgbClr val="DCE0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11418"/>
                          </a:solidFill>
                          <a:latin typeface="Segoe UI"/>
                        </a:defRPr>
                      </a:pPr>
                      <a:r>
                        <a:t>База даних (MSSQL)</a:t>
                      </a:r>
                    </a:p>
                  </a:txBody>
                  <a:tcPr marL="109728" marR="109728" marT="54864" marB="54864" anchor="ctr">
                    <a:solidFill>
                      <a:srgbClr val="DCE0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11418"/>
                          </a:solidFill>
                          <a:latin typeface="Segoe UI"/>
                        </a:defRPr>
                      </a:pPr>
                      <a:r>
                        <a:t>Роль у gRPC та міжсервісній взаємодії</a:t>
                      </a:r>
                    </a:p>
                  </a:txBody>
                  <a:tcPr marL="109728" marR="109728" marT="54864" marB="54864" anchor="ctr">
                    <a:solidFill>
                      <a:srgbClr val="DCE0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8862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111418"/>
                          </a:solidFill>
                          <a:latin typeface="Segoe UI"/>
                        </a:defRPr>
                      </a:pPr>
                      <a:r>
                        <a:t>CargoDelivery.HttpAggregator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https://localhost:57390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cargodelivery-httpaggregator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Немає (Stateless BFF)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Зовнішній REST-шлюз (Scatter-Gather до 3 сервісів)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8862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111418"/>
                          </a:solidFill>
                          <a:latin typeface="Segoe UI"/>
                        </a:defRPr>
                      </a:pPr>
                      <a:r>
                        <a:t>DriversManagement</a:t>
                      </a:r>
                    </a:p>
                  </a:txBody>
                  <a:tcPr marL="109728" marR="109728" marT="54864" marB="54864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https://localhost:5001</a:t>
                      </a:r>
                    </a:p>
                  </a:txBody>
                  <a:tcPr marL="109728" marR="109728" marT="54864" marB="54864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driversmanagement</a:t>
                      </a:r>
                    </a:p>
                  </a:txBody>
                  <a:tcPr marL="109728" marR="109728" marT="54864" marB="54864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Port :1434 (dev_driversmanagement)</a:t>
                      </a:r>
                    </a:p>
                  </a:txBody>
                  <a:tcPr marL="109728" marR="109728" marT="54864" marB="54864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gRPC Клієнт (DriverRpcClient) + видавець подій RabbitMQ</a:t>
                      </a:r>
                    </a:p>
                  </a:txBody>
                  <a:tcPr marL="109728" marR="109728" marT="54864" marB="54864" anchor="ctr">
                    <a:solidFill>
                      <a:srgbClr val="F6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8862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111418"/>
                          </a:solidFill>
                          <a:latin typeface="Segoe UI"/>
                        </a:defRPr>
                      </a:pPr>
                      <a:r>
                        <a:t>DriversBlogManagement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https://localhost:5002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driversblogmanagement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Port :1435 (dev_driversblogmanagement)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gRPC Сервер (DriverRpcService) + консьюмер SyncDriver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8862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111418"/>
                          </a:solidFill>
                          <a:latin typeface="Segoe UI"/>
                        </a:defRPr>
                      </a:pPr>
                      <a:r>
                        <a:t>CargoOrderingService</a:t>
                      </a:r>
                    </a:p>
                  </a:txBody>
                  <a:tcPr marL="109728" marR="109728" marT="54864" marB="54864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https://localhost:5003</a:t>
                      </a:r>
                    </a:p>
                  </a:txBody>
                  <a:tcPr marL="109728" marR="109728" marT="54864" marB="54864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cargoorderingservice</a:t>
                      </a:r>
                    </a:p>
                  </a:txBody>
                  <a:tcPr marL="109728" marR="109728" marT="54864" marB="54864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Контейнер (dev_cargoorderingservice)</a:t>
                      </a:r>
                    </a:p>
                  </a:txBody>
                  <a:tcPr marL="109728" marR="109728" marT="54864" marB="54864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REST API доставок + консьюмер SyncDriverInOrdering</a:t>
                      </a:r>
                    </a:p>
                  </a:txBody>
                  <a:tcPr marL="109728" marR="109728" marT="54864" marB="54864" anchor="ctr">
                    <a:solidFill>
                      <a:srgbClr val="F6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8862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111418"/>
                          </a:solidFill>
                          <a:latin typeface="Segoe UI"/>
                        </a:defRPr>
                      </a:pPr>
                      <a:r>
                        <a:t>RabbitMQ 4.x Broker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amqp://localhost:5672 (UI :15672)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cargodelivery-rabbitmq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Quorum Queues на диску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Асинхронна реплікація водіїв (IDriverCreated / Updated)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98868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111418"/>
                          </a:solidFill>
                          <a:latin typeface="Segoe UI"/>
                        </a:defRPr>
                      </a:pPr>
                      <a:r>
                        <a:t>.NET 10 Aspire Dashboard</a:t>
                      </a:r>
                    </a:p>
                  </a:txBody>
                  <a:tcPr marL="109728" marR="109728" marT="54864" marB="54864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https://localhost:17xxx (OTLP :18889)</a:t>
                      </a:r>
                    </a:p>
                  </a:txBody>
                  <a:tcPr marL="109728" marR="109728" marT="54864" marB="54864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aspire-dashboard</a:t>
                      </a:r>
                    </a:p>
                  </a:txBody>
                  <a:tcPr marL="109728" marR="109728" marT="54864" marB="54864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In-Memory Telemetry</a:t>
                      </a:r>
                    </a:p>
                  </a:txBody>
                  <a:tcPr marL="109728" marR="109728" marT="54864" marB="54864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Прийом OTLP-спанів по gRPC, графіки трасування і метрик</a:t>
                      </a:r>
                    </a:p>
                  </a:txBody>
                  <a:tcPr marL="109728" marR="109728" marT="54864" marB="54864" anchor="ctr">
                    <a:solidFill>
                      <a:srgbClr val="F6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02920" y="6419088"/>
            <a:ext cx="11183112" cy="13716"/>
          </a:xfrm>
          <a:prstGeom prst="rect">
            <a:avLst/>
          </a:prstGeom>
          <a:solidFill>
            <a:srgbClr val="B9B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464808"/>
            <a:ext cx="9509760" cy="29260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050">
                <a:solidFill>
                  <a:srgbClr val="5F666E"/>
                </a:solidFill>
                <a:latin typeface="Segoe UI"/>
              </a:rPr>
              <a:t>Оркестратор: Aspire/CargoDelivery.AppHost/AppHost.cs#L1-L126</a:t>
            </a:r>
            <a:r>
              <a:rPr sz="1050" b="1">
                <a:solidFill>
                  <a:srgbClr val="111418"/>
                </a:solidFill>
                <a:latin typeface="Segoe UI"/>
                <a:hlinkClick r:id="rId2"/>
              </a:rPr>
              <a:t>   |   Джерело: https://learn.microsoft.com/en-us/dotnet/aspire/service-discovery/overview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49840" y="6464808"/>
            <a:ext cx="1536192" cy="292608"/>
          </a:xfrm>
          <a:prstGeom prst="rect">
            <a:avLst/>
          </a:prstGeom>
          <a:noFill/>
        </p:spPr>
        <p:txBody>
          <a:bodyPr wrap="none" tIns="0" rIns="0">
            <a:spAutoFit/>
          </a:bodyPr>
          <a:lstStyle/>
          <a:p>
            <a:pPr algn="r">
              <a:defRPr sz="1100" b="1">
                <a:solidFill>
                  <a:srgbClr val="111418"/>
                </a:solidFill>
                <a:latin typeface="Segoe UI"/>
              </a:defRPr>
            </a:pPr>
            <a:r>
              <a:t>Слайд 13 з 28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11183112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5F666E"/>
                </a:solidFill>
                <a:latin typeface="Segoe UI"/>
              </a:defRPr>
            </a:pPr>
            <a:r>
              <a:t>РОЗДІЛ 5. КОНТРАКТ PROTOCOL BUFFERS У НАШОМУ КОДІ</a:t>
            </a:r>
          </a:p>
          <a:p>
            <a:pPr>
              <a:defRPr sz="2400" b="1">
                <a:solidFill>
                  <a:srgbClr val="111418"/>
                </a:solidFill>
                <a:latin typeface="Segoe UI"/>
              </a:defRPr>
            </a:pPr>
            <a:r>
              <a:t>Повний розбір файлу контракту Driver.proto (Contract-First)</a:t>
            </a:r>
          </a:p>
          <a:p>
            <a:pPr>
              <a:defRPr sz="1350">
                <a:solidFill>
                  <a:srgbClr val="5F666E"/>
                </a:solidFill>
                <a:latin typeface="Segoe UI"/>
              </a:defRPr>
            </a:pPr>
            <a:r>
              <a:t>Шлях у репозиторії: DriversBlogManagement/src/DriversBlogManagement/Domain/Drivers/Protos/Driver.proto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15568"/>
            <a:ext cx="11183112" cy="18288"/>
          </a:xfrm>
          <a:prstGeom prst="rect">
            <a:avLst/>
          </a:prstGeom>
          <a:solidFill>
            <a:srgbClr val="505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1280160"/>
            <a:ext cx="5669280" cy="5152644"/>
          </a:xfrm>
          <a:prstGeom prst="rect">
            <a:avLst/>
          </a:prstGeom>
          <a:solidFill>
            <a:srgbClr val="EBEDF0"/>
          </a:solidFill>
          <a:ln w="15240">
            <a:solidFill>
              <a:srgbClr val="505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28016" rIns="137160" bIns="109728" rtlCol="0" anchor="t"/>
          <a:lstStyle/>
          <a:p>
            <a:pPr algn="ctr">
              <a:spcAft>
                <a:spcPts val="600"/>
              </a:spcAft>
              <a:defRPr sz="1300" b="1">
                <a:solidFill>
                  <a:srgbClr val="111418"/>
                </a:solidFill>
                <a:latin typeface="Segoe UI"/>
              </a:defRPr>
            </a:pPr>
            <a:r>
              <a:rPr dirty="0" err="1"/>
              <a:t>Файл</a:t>
            </a:r>
            <a:r>
              <a:rPr dirty="0"/>
              <a:t>: </a:t>
            </a:r>
            <a:r>
              <a:rPr dirty="0" err="1"/>
              <a:t>Driver.proto</a:t>
            </a:r>
            <a:r>
              <a:rPr dirty="0"/>
              <a:t> (</a:t>
            </a:r>
            <a:r>
              <a:rPr dirty="0" err="1"/>
              <a:t>рядки</a:t>
            </a:r>
            <a:r>
              <a:rPr dirty="0"/>
              <a:t> 22–57)</a:t>
            </a:r>
          </a:p>
          <a:p>
            <a:pPr>
              <a:spcAft>
                <a:spcPts val="200"/>
              </a:spcAft>
            </a:pPr>
            <a:r>
              <a:rPr sz="1200" dirty="0">
                <a:solidFill>
                  <a:srgbClr val="2D3238"/>
                </a:solidFill>
                <a:latin typeface="Consolas"/>
              </a:rPr>
              <a:t>syntax = "proto3";</a:t>
            </a:r>
          </a:p>
          <a:p>
            <a:pPr>
              <a:spcAft>
                <a:spcPts val="200"/>
              </a:spcAft>
            </a:pPr>
            <a:r>
              <a:rPr sz="1200" dirty="0">
                <a:solidFill>
                  <a:srgbClr val="2D3238"/>
                </a:solidFill>
                <a:latin typeface="Consolas"/>
              </a:rPr>
              <a:t>option </a:t>
            </a:r>
            <a:r>
              <a:rPr sz="1200" dirty="0" err="1">
                <a:solidFill>
                  <a:srgbClr val="2D3238"/>
                </a:solidFill>
                <a:latin typeface="Consolas"/>
              </a:rPr>
              <a:t>csharp_namespace</a:t>
            </a:r>
            <a:r>
              <a:rPr sz="1200" dirty="0">
                <a:solidFill>
                  <a:srgbClr val="2D3238"/>
                </a:solidFill>
                <a:latin typeface="Consolas"/>
              </a:rPr>
              <a:t> = "</a:t>
            </a:r>
            <a:r>
              <a:rPr sz="1200" dirty="0" err="1">
                <a:solidFill>
                  <a:srgbClr val="2D3238"/>
                </a:solidFill>
                <a:latin typeface="Consolas"/>
              </a:rPr>
              <a:t>DriversBlogManagement</a:t>
            </a:r>
            <a:r>
              <a:rPr sz="1200" dirty="0">
                <a:solidFill>
                  <a:srgbClr val="2D3238"/>
                </a:solidFill>
                <a:latin typeface="Consolas"/>
              </a:rPr>
              <a:t>";</a:t>
            </a:r>
          </a:p>
          <a:p>
            <a:pPr>
              <a:spcAft>
                <a:spcPts val="200"/>
              </a:spcAft>
            </a:pPr>
            <a:endParaRPr sz="1200" dirty="0">
              <a:solidFill>
                <a:srgbClr val="2D3238"/>
              </a:solidFill>
              <a:latin typeface="Consolas"/>
            </a:endParaRPr>
          </a:p>
          <a:p>
            <a:pPr>
              <a:spcAft>
                <a:spcPts val="200"/>
              </a:spcAft>
            </a:pPr>
            <a:r>
              <a:rPr sz="1200" dirty="0">
                <a:solidFill>
                  <a:srgbClr val="5F666E"/>
                </a:solidFill>
                <a:latin typeface="Consolas"/>
              </a:rPr>
              <a:t>// </a:t>
            </a:r>
            <a:r>
              <a:rPr sz="1200" dirty="0" err="1">
                <a:solidFill>
                  <a:srgbClr val="5F666E"/>
                </a:solidFill>
                <a:latin typeface="Consolas"/>
              </a:rPr>
              <a:t>Запит</a:t>
            </a:r>
            <a:r>
              <a:rPr sz="1200" dirty="0">
                <a:solidFill>
                  <a:srgbClr val="5F666E"/>
                </a:solidFill>
                <a:latin typeface="Consolas"/>
              </a:rPr>
              <a:t>: </a:t>
            </a:r>
            <a:r>
              <a:rPr sz="1200" dirty="0" err="1">
                <a:solidFill>
                  <a:srgbClr val="5F666E"/>
                </a:solidFill>
                <a:latin typeface="Consolas"/>
              </a:rPr>
              <a:t>отримати</a:t>
            </a:r>
            <a:r>
              <a:rPr sz="1200" dirty="0">
                <a:solidFill>
                  <a:srgbClr val="5F666E"/>
                </a:solidFill>
                <a:latin typeface="Consolas"/>
              </a:rPr>
              <a:t> </a:t>
            </a:r>
            <a:r>
              <a:rPr sz="1200" dirty="0" err="1">
                <a:solidFill>
                  <a:srgbClr val="5F666E"/>
                </a:solidFill>
                <a:latin typeface="Consolas"/>
              </a:rPr>
              <a:t>водія</a:t>
            </a:r>
            <a:r>
              <a:rPr sz="1200" dirty="0">
                <a:solidFill>
                  <a:srgbClr val="5F666E"/>
                </a:solidFill>
                <a:latin typeface="Consolas"/>
              </a:rPr>
              <a:t> </a:t>
            </a:r>
            <a:r>
              <a:rPr sz="1200" dirty="0" err="1">
                <a:solidFill>
                  <a:srgbClr val="5F666E"/>
                </a:solidFill>
                <a:latin typeface="Consolas"/>
              </a:rPr>
              <a:t>разом</a:t>
            </a:r>
            <a:r>
              <a:rPr sz="1200" dirty="0">
                <a:solidFill>
                  <a:srgbClr val="5F666E"/>
                </a:solidFill>
                <a:latin typeface="Consolas"/>
              </a:rPr>
              <a:t> </a:t>
            </a:r>
            <a:r>
              <a:rPr sz="1200" dirty="0" err="1">
                <a:solidFill>
                  <a:srgbClr val="5F666E"/>
                </a:solidFill>
                <a:latin typeface="Consolas"/>
              </a:rPr>
              <a:t>із</a:t>
            </a:r>
            <a:r>
              <a:rPr sz="1200" dirty="0">
                <a:solidFill>
                  <a:srgbClr val="5F666E"/>
                </a:solidFill>
                <a:latin typeface="Consolas"/>
              </a:rPr>
              <a:t> </a:t>
            </a:r>
            <a:r>
              <a:rPr sz="1200" dirty="0" err="1">
                <a:solidFill>
                  <a:srgbClr val="5F666E"/>
                </a:solidFill>
                <a:latin typeface="Consolas"/>
              </a:rPr>
              <a:t>його</a:t>
            </a:r>
            <a:r>
              <a:rPr sz="1200" dirty="0">
                <a:solidFill>
                  <a:srgbClr val="5F666E"/>
                </a:solidFill>
                <a:latin typeface="Consolas"/>
              </a:rPr>
              <a:t> </a:t>
            </a:r>
            <a:r>
              <a:rPr sz="1200" dirty="0" err="1">
                <a:solidFill>
                  <a:srgbClr val="5F666E"/>
                </a:solidFill>
                <a:latin typeface="Consolas"/>
              </a:rPr>
              <a:t>постами</a:t>
            </a:r>
            <a:r>
              <a:rPr sz="1200" dirty="0">
                <a:solidFill>
                  <a:srgbClr val="5F666E"/>
                </a:solidFill>
                <a:latin typeface="Consolas"/>
              </a:rPr>
              <a:t> ("= 1" — </a:t>
            </a:r>
            <a:r>
              <a:rPr sz="1200" dirty="0" err="1">
                <a:solidFill>
                  <a:srgbClr val="5F666E"/>
                </a:solidFill>
                <a:latin typeface="Consolas"/>
              </a:rPr>
              <a:t>бінарний</a:t>
            </a:r>
            <a:r>
              <a:rPr sz="1200" dirty="0">
                <a:solidFill>
                  <a:srgbClr val="5F666E"/>
                </a:solidFill>
                <a:latin typeface="Consolas"/>
              </a:rPr>
              <a:t> </a:t>
            </a:r>
            <a:r>
              <a:rPr sz="1200" dirty="0" err="1">
                <a:solidFill>
                  <a:srgbClr val="5F666E"/>
                </a:solidFill>
                <a:latin typeface="Consolas"/>
              </a:rPr>
              <a:t>тег</a:t>
            </a:r>
            <a:r>
              <a:rPr sz="1200" dirty="0">
                <a:solidFill>
                  <a:srgbClr val="5F666E"/>
                </a:solidFill>
                <a:latin typeface="Consolas"/>
              </a:rPr>
              <a:t> </a:t>
            </a:r>
            <a:r>
              <a:rPr sz="1200" dirty="0" err="1">
                <a:solidFill>
                  <a:srgbClr val="5F666E"/>
                </a:solidFill>
                <a:latin typeface="Consolas"/>
              </a:rPr>
              <a:t>поля</a:t>
            </a:r>
            <a:r>
              <a:rPr sz="1200" dirty="0">
                <a:solidFill>
                  <a:srgbClr val="5F666E"/>
                </a:solidFill>
                <a:latin typeface="Consolas"/>
              </a:rPr>
              <a:t>)</a:t>
            </a:r>
          </a:p>
          <a:p>
            <a:pPr>
              <a:spcAft>
                <a:spcPts val="200"/>
              </a:spcAft>
            </a:pPr>
            <a:r>
              <a:rPr sz="1200" b="1" dirty="0">
                <a:solidFill>
                  <a:srgbClr val="111418"/>
                </a:solidFill>
                <a:latin typeface="Consolas"/>
              </a:rPr>
              <a:t>message </a:t>
            </a:r>
            <a:r>
              <a:rPr sz="1200" b="1" dirty="0" err="1">
                <a:solidFill>
                  <a:srgbClr val="111418"/>
                </a:solidFill>
                <a:latin typeface="Consolas"/>
              </a:rPr>
              <a:t>DriverWithPostsRequest</a:t>
            </a:r>
            <a:r>
              <a:rPr sz="1200" b="1" dirty="0">
                <a:solidFill>
                  <a:srgbClr val="111418"/>
                </a:solidFill>
                <a:latin typeface="Consolas"/>
              </a:rPr>
              <a:t> {</a:t>
            </a:r>
          </a:p>
          <a:p>
            <a:pPr>
              <a:spcAft>
                <a:spcPts val="200"/>
              </a:spcAft>
            </a:pPr>
            <a:r>
              <a:rPr sz="1200" dirty="0">
                <a:solidFill>
                  <a:srgbClr val="2D3238"/>
                </a:solidFill>
                <a:latin typeface="Consolas"/>
              </a:rPr>
              <a:t>  string </a:t>
            </a:r>
            <a:r>
              <a:rPr sz="1200" dirty="0" err="1">
                <a:solidFill>
                  <a:srgbClr val="2D3238"/>
                </a:solidFill>
                <a:latin typeface="Consolas"/>
              </a:rPr>
              <a:t>driver_id</a:t>
            </a:r>
            <a:r>
              <a:rPr sz="1200" dirty="0">
                <a:solidFill>
                  <a:srgbClr val="2D3238"/>
                </a:solidFill>
                <a:latin typeface="Consolas"/>
              </a:rPr>
              <a:t> = 1; // GUID </a:t>
            </a:r>
            <a:r>
              <a:rPr sz="1200" dirty="0" err="1">
                <a:solidFill>
                  <a:srgbClr val="2D3238"/>
                </a:solidFill>
                <a:latin typeface="Consolas"/>
              </a:rPr>
              <a:t>водія</a:t>
            </a:r>
            <a:r>
              <a:rPr sz="1200" dirty="0">
                <a:solidFill>
                  <a:srgbClr val="2D3238"/>
                </a:solidFill>
                <a:latin typeface="Consolas"/>
              </a:rPr>
              <a:t> у </a:t>
            </a:r>
            <a:r>
              <a:rPr sz="1200" dirty="0" err="1">
                <a:solidFill>
                  <a:srgbClr val="2D3238"/>
                </a:solidFill>
                <a:latin typeface="Consolas"/>
              </a:rPr>
              <a:t>вигляді</a:t>
            </a:r>
            <a:r>
              <a:rPr sz="1200" dirty="0">
                <a:solidFill>
                  <a:srgbClr val="2D3238"/>
                </a:solidFill>
                <a:latin typeface="Consolas"/>
              </a:rPr>
              <a:t> </a:t>
            </a:r>
            <a:r>
              <a:rPr sz="1200" dirty="0" err="1">
                <a:solidFill>
                  <a:srgbClr val="2D3238"/>
                </a:solidFill>
                <a:latin typeface="Consolas"/>
              </a:rPr>
              <a:t>рядка</a:t>
            </a:r>
            <a:endParaRPr sz="1200" dirty="0">
              <a:solidFill>
                <a:srgbClr val="2D3238"/>
              </a:solidFill>
              <a:latin typeface="Consolas"/>
            </a:endParaRPr>
          </a:p>
          <a:p>
            <a:pPr>
              <a:spcAft>
                <a:spcPts val="200"/>
              </a:spcAft>
            </a:pPr>
            <a:r>
              <a:rPr sz="1200" dirty="0">
                <a:solidFill>
                  <a:srgbClr val="2D3238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</a:pPr>
            <a:endParaRPr sz="1200" dirty="0">
              <a:solidFill>
                <a:srgbClr val="2D3238"/>
              </a:solidFill>
              <a:latin typeface="Consolas"/>
            </a:endParaRPr>
          </a:p>
          <a:p>
            <a:pPr>
              <a:spcAft>
                <a:spcPts val="200"/>
              </a:spcAft>
            </a:pPr>
            <a:r>
              <a:rPr sz="1200" dirty="0">
                <a:solidFill>
                  <a:srgbClr val="5F666E"/>
                </a:solidFill>
                <a:latin typeface="Consolas"/>
              </a:rPr>
              <a:t>// </a:t>
            </a:r>
            <a:r>
              <a:rPr sz="1200" dirty="0" err="1">
                <a:solidFill>
                  <a:srgbClr val="5F666E"/>
                </a:solidFill>
                <a:latin typeface="Consolas"/>
              </a:rPr>
              <a:t>gRPC-сервіс</a:t>
            </a:r>
            <a:r>
              <a:rPr sz="1200" dirty="0">
                <a:solidFill>
                  <a:srgbClr val="5F666E"/>
                </a:solidFill>
                <a:latin typeface="Consolas"/>
              </a:rPr>
              <a:t>: </a:t>
            </a:r>
            <a:r>
              <a:rPr sz="1200" dirty="0" err="1">
                <a:solidFill>
                  <a:srgbClr val="5F666E"/>
                </a:solidFill>
                <a:latin typeface="Consolas"/>
              </a:rPr>
              <a:t>на</a:t>
            </a:r>
            <a:r>
              <a:rPr sz="1200" dirty="0">
                <a:solidFill>
                  <a:srgbClr val="5F666E"/>
                </a:solidFill>
                <a:latin typeface="Consolas"/>
              </a:rPr>
              <a:t> </a:t>
            </a:r>
            <a:r>
              <a:rPr sz="1200" dirty="0" err="1">
                <a:solidFill>
                  <a:srgbClr val="5F666E"/>
                </a:solidFill>
                <a:latin typeface="Consolas"/>
              </a:rPr>
              <a:t>транспорті</a:t>
            </a:r>
            <a:r>
              <a:rPr sz="1200" dirty="0">
                <a:solidFill>
                  <a:srgbClr val="5F666E"/>
                </a:solidFill>
                <a:latin typeface="Consolas"/>
              </a:rPr>
              <a:t> HTTP/2 POST /</a:t>
            </a:r>
            <a:r>
              <a:rPr sz="1200" dirty="0" err="1">
                <a:solidFill>
                  <a:srgbClr val="5F666E"/>
                </a:solidFill>
                <a:latin typeface="Consolas"/>
              </a:rPr>
              <a:t>DriverRpc</a:t>
            </a:r>
            <a:r>
              <a:rPr sz="1200" dirty="0">
                <a:solidFill>
                  <a:srgbClr val="5F666E"/>
                </a:solidFill>
                <a:latin typeface="Consolas"/>
              </a:rPr>
              <a:t>/</a:t>
            </a:r>
            <a:r>
              <a:rPr sz="1200" dirty="0" err="1">
                <a:solidFill>
                  <a:srgbClr val="5F666E"/>
                </a:solidFill>
                <a:latin typeface="Consolas"/>
              </a:rPr>
              <a:t>GetDriverWithPosts</a:t>
            </a:r>
            <a:endParaRPr sz="1200" dirty="0">
              <a:solidFill>
                <a:srgbClr val="5F666E"/>
              </a:solidFill>
              <a:latin typeface="Consolas"/>
            </a:endParaRPr>
          </a:p>
          <a:p>
            <a:pPr>
              <a:spcAft>
                <a:spcPts val="200"/>
              </a:spcAft>
            </a:pPr>
            <a:r>
              <a:rPr sz="1200" b="1" dirty="0">
                <a:solidFill>
                  <a:srgbClr val="111418"/>
                </a:solidFill>
                <a:latin typeface="Consolas"/>
              </a:rPr>
              <a:t>service </a:t>
            </a:r>
            <a:r>
              <a:rPr sz="1200" b="1" dirty="0" err="1">
                <a:solidFill>
                  <a:srgbClr val="111418"/>
                </a:solidFill>
                <a:latin typeface="Consolas"/>
              </a:rPr>
              <a:t>DriverRpc</a:t>
            </a:r>
            <a:r>
              <a:rPr sz="1200" b="1" dirty="0">
                <a:solidFill>
                  <a:srgbClr val="111418"/>
                </a:solidFill>
                <a:latin typeface="Consolas"/>
              </a:rPr>
              <a:t> {</a:t>
            </a:r>
          </a:p>
          <a:p>
            <a:pPr>
              <a:spcAft>
                <a:spcPts val="200"/>
              </a:spcAft>
            </a:pPr>
            <a:r>
              <a:rPr sz="1200" b="1" dirty="0">
                <a:solidFill>
                  <a:srgbClr val="111418"/>
                </a:solidFill>
                <a:latin typeface="Consolas"/>
              </a:rPr>
              <a:t>  </a:t>
            </a:r>
            <a:r>
              <a:rPr sz="1200" b="1" dirty="0" err="1">
                <a:solidFill>
                  <a:srgbClr val="111418"/>
                </a:solidFill>
                <a:latin typeface="Consolas"/>
              </a:rPr>
              <a:t>rpc</a:t>
            </a:r>
            <a:r>
              <a:rPr sz="1200" b="1" dirty="0">
                <a:solidFill>
                  <a:srgbClr val="111418"/>
                </a:solidFill>
                <a:latin typeface="Consolas"/>
              </a:rPr>
              <a:t> </a:t>
            </a:r>
            <a:r>
              <a:rPr sz="1200" b="1" dirty="0" err="1">
                <a:solidFill>
                  <a:srgbClr val="111418"/>
                </a:solidFill>
                <a:latin typeface="Consolas"/>
              </a:rPr>
              <a:t>GetDriverWithPosts</a:t>
            </a:r>
            <a:r>
              <a:rPr sz="1200" b="1" dirty="0">
                <a:solidFill>
                  <a:srgbClr val="111418"/>
                </a:solidFill>
                <a:latin typeface="Consolas"/>
              </a:rPr>
              <a:t>(</a:t>
            </a:r>
            <a:r>
              <a:rPr sz="1200" b="1" dirty="0" err="1">
                <a:solidFill>
                  <a:srgbClr val="111418"/>
                </a:solidFill>
                <a:latin typeface="Consolas"/>
              </a:rPr>
              <a:t>DriverWithPostsRequest</a:t>
            </a:r>
            <a:r>
              <a:rPr sz="1200" b="1" dirty="0">
                <a:solidFill>
                  <a:srgbClr val="111418"/>
                </a:solidFill>
                <a:latin typeface="Consolas"/>
              </a:rPr>
              <a:t>) returns (</a:t>
            </a:r>
            <a:r>
              <a:rPr sz="1200" b="1" dirty="0" err="1">
                <a:solidFill>
                  <a:srgbClr val="111418"/>
                </a:solidFill>
                <a:latin typeface="Consolas"/>
              </a:rPr>
              <a:t>DriverWithPostsResponse</a:t>
            </a:r>
            <a:r>
              <a:rPr sz="1200" b="1" dirty="0">
                <a:solidFill>
                  <a:srgbClr val="111418"/>
                </a:solidFill>
                <a:latin typeface="Consolas"/>
              </a:rPr>
              <a:t>);</a:t>
            </a:r>
          </a:p>
          <a:p>
            <a:pPr>
              <a:spcAft>
                <a:spcPts val="200"/>
              </a:spcAft>
            </a:pPr>
            <a:r>
              <a:rPr sz="1200" dirty="0">
                <a:solidFill>
                  <a:srgbClr val="2D3238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</a:pPr>
            <a:endParaRPr sz="1200" dirty="0">
              <a:solidFill>
                <a:srgbClr val="2D3238"/>
              </a:solidFill>
              <a:latin typeface="Consolas"/>
            </a:endParaRPr>
          </a:p>
          <a:p>
            <a:pPr>
              <a:spcAft>
                <a:spcPts val="200"/>
              </a:spcAft>
            </a:pPr>
            <a:r>
              <a:rPr sz="1200" b="1" dirty="0">
                <a:solidFill>
                  <a:srgbClr val="111418"/>
                </a:solidFill>
                <a:latin typeface="Consolas"/>
              </a:rPr>
              <a:t>message </a:t>
            </a:r>
            <a:r>
              <a:rPr sz="1200" b="1" dirty="0" err="1">
                <a:solidFill>
                  <a:srgbClr val="111418"/>
                </a:solidFill>
                <a:latin typeface="Consolas"/>
              </a:rPr>
              <a:t>DriverWithPostsResponse</a:t>
            </a:r>
            <a:r>
              <a:rPr sz="1200" b="1" dirty="0">
                <a:solidFill>
                  <a:srgbClr val="111418"/>
                </a:solidFill>
                <a:latin typeface="Consolas"/>
              </a:rPr>
              <a:t> {</a:t>
            </a:r>
          </a:p>
          <a:p>
            <a:pPr>
              <a:spcAft>
                <a:spcPts val="200"/>
              </a:spcAft>
            </a:pPr>
            <a:r>
              <a:rPr sz="1200" dirty="0">
                <a:solidFill>
                  <a:srgbClr val="2D3238"/>
                </a:solidFill>
                <a:latin typeface="Consolas"/>
              </a:rPr>
              <a:t>  string </a:t>
            </a:r>
            <a:r>
              <a:rPr sz="1200" dirty="0" err="1">
                <a:solidFill>
                  <a:srgbClr val="2D3238"/>
                </a:solidFill>
                <a:latin typeface="Consolas"/>
              </a:rPr>
              <a:t>driver_id</a:t>
            </a:r>
            <a:r>
              <a:rPr sz="1200" dirty="0">
                <a:solidFill>
                  <a:srgbClr val="2D3238"/>
                </a:solidFill>
                <a:latin typeface="Consolas"/>
              </a:rPr>
              <a:t> = 1;</a:t>
            </a:r>
          </a:p>
          <a:p>
            <a:pPr>
              <a:spcAft>
                <a:spcPts val="200"/>
              </a:spcAft>
            </a:pPr>
            <a:r>
              <a:rPr sz="1200" dirty="0">
                <a:solidFill>
                  <a:srgbClr val="2D3238"/>
                </a:solidFill>
                <a:latin typeface="Consolas"/>
              </a:rPr>
              <a:t>  string </a:t>
            </a:r>
            <a:r>
              <a:rPr sz="1200" dirty="0" err="1">
                <a:solidFill>
                  <a:srgbClr val="2D3238"/>
                </a:solidFill>
                <a:latin typeface="Consolas"/>
              </a:rPr>
              <a:t>first_name</a:t>
            </a:r>
            <a:r>
              <a:rPr sz="1200" dirty="0">
                <a:solidFill>
                  <a:srgbClr val="2D3238"/>
                </a:solidFill>
                <a:latin typeface="Consolas"/>
              </a:rPr>
              <a:t> = 2;</a:t>
            </a:r>
          </a:p>
          <a:p>
            <a:pPr>
              <a:spcAft>
                <a:spcPts val="200"/>
              </a:spcAft>
            </a:pPr>
            <a:r>
              <a:rPr sz="1200" dirty="0">
                <a:solidFill>
                  <a:srgbClr val="2D3238"/>
                </a:solidFill>
                <a:latin typeface="Consolas"/>
              </a:rPr>
              <a:t>  string </a:t>
            </a:r>
            <a:r>
              <a:rPr sz="1200" dirty="0" err="1">
                <a:solidFill>
                  <a:srgbClr val="2D3238"/>
                </a:solidFill>
                <a:latin typeface="Consolas"/>
              </a:rPr>
              <a:t>last_name</a:t>
            </a:r>
            <a:r>
              <a:rPr sz="1200" dirty="0">
                <a:solidFill>
                  <a:srgbClr val="2D3238"/>
                </a:solidFill>
                <a:latin typeface="Consolas"/>
              </a:rPr>
              <a:t> = 3;</a:t>
            </a:r>
          </a:p>
          <a:p>
            <a:pPr>
              <a:spcAft>
                <a:spcPts val="200"/>
              </a:spcAft>
            </a:pPr>
            <a:r>
              <a:rPr sz="1200" dirty="0">
                <a:solidFill>
                  <a:srgbClr val="2D3238"/>
                </a:solidFill>
                <a:latin typeface="Consolas"/>
              </a:rPr>
              <a:t>  repeated </a:t>
            </a:r>
            <a:r>
              <a:rPr sz="1200" dirty="0" err="1">
                <a:solidFill>
                  <a:srgbClr val="2D3238"/>
                </a:solidFill>
                <a:latin typeface="Consolas"/>
              </a:rPr>
              <a:t>PostAboutDriverResponse</a:t>
            </a:r>
            <a:r>
              <a:rPr sz="1200" dirty="0">
                <a:solidFill>
                  <a:srgbClr val="2D3238"/>
                </a:solidFill>
                <a:latin typeface="Consolas"/>
              </a:rPr>
              <a:t> posts = 4; // У C#: </a:t>
            </a:r>
            <a:r>
              <a:rPr sz="1200" dirty="0" err="1">
                <a:solidFill>
                  <a:srgbClr val="2D3238"/>
                </a:solidFill>
                <a:latin typeface="Consolas"/>
              </a:rPr>
              <a:t>RepeatedField</a:t>
            </a:r>
            <a:r>
              <a:rPr sz="1200" dirty="0">
                <a:solidFill>
                  <a:srgbClr val="2D3238"/>
                </a:solidFill>
                <a:latin typeface="Consolas"/>
              </a:rPr>
              <a:t>&lt;T&gt;</a:t>
            </a:r>
          </a:p>
          <a:p>
            <a:pPr>
              <a:spcAft>
                <a:spcPts val="200"/>
              </a:spcAft>
            </a:pPr>
            <a:r>
              <a:rPr sz="1200" dirty="0">
                <a:solidFill>
                  <a:srgbClr val="2D3238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</a:pPr>
            <a:endParaRPr sz="1200" dirty="0">
              <a:solidFill>
                <a:srgbClr val="2D3238"/>
              </a:solidFill>
              <a:latin typeface="Consolas"/>
            </a:endParaRPr>
          </a:p>
          <a:p>
            <a:pPr>
              <a:spcAft>
                <a:spcPts val="200"/>
              </a:spcAft>
            </a:pPr>
            <a:r>
              <a:rPr sz="1200" b="1" dirty="0">
                <a:solidFill>
                  <a:srgbClr val="111418"/>
                </a:solidFill>
                <a:latin typeface="Consolas"/>
              </a:rPr>
              <a:t>message </a:t>
            </a:r>
            <a:r>
              <a:rPr sz="1200" b="1" dirty="0" err="1">
                <a:solidFill>
                  <a:srgbClr val="111418"/>
                </a:solidFill>
                <a:latin typeface="Consolas"/>
              </a:rPr>
              <a:t>PostAboutDriverResponse</a:t>
            </a:r>
            <a:r>
              <a:rPr sz="1200" b="1" dirty="0">
                <a:solidFill>
                  <a:srgbClr val="111418"/>
                </a:solidFill>
                <a:latin typeface="Consolas"/>
              </a:rPr>
              <a:t> {</a:t>
            </a:r>
          </a:p>
          <a:p>
            <a:pPr>
              <a:spcAft>
                <a:spcPts val="200"/>
              </a:spcAft>
            </a:pPr>
            <a:r>
              <a:rPr sz="1200" dirty="0">
                <a:solidFill>
                  <a:srgbClr val="2D3238"/>
                </a:solidFill>
                <a:latin typeface="Consolas"/>
              </a:rPr>
              <a:t>  string id = 1;</a:t>
            </a:r>
          </a:p>
          <a:p>
            <a:pPr>
              <a:spcAft>
                <a:spcPts val="200"/>
              </a:spcAft>
            </a:pPr>
            <a:r>
              <a:rPr sz="1200" dirty="0">
                <a:solidFill>
                  <a:srgbClr val="2D3238"/>
                </a:solidFill>
                <a:latin typeface="Consolas"/>
              </a:rPr>
              <a:t>  string title = 2;</a:t>
            </a:r>
          </a:p>
          <a:p>
            <a:pPr>
              <a:spcAft>
                <a:spcPts val="200"/>
              </a:spcAft>
            </a:pPr>
            <a:r>
              <a:rPr sz="1200" dirty="0">
                <a:solidFill>
                  <a:srgbClr val="2D3238"/>
                </a:solidFill>
                <a:latin typeface="Consolas"/>
              </a:rPr>
              <a:t>  string content = 3;</a:t>
            </a:r>
          </a:p>
          <a:p>
            <a:pPr>
              <a:spcAft>
                <a:spcPts val="200"/>
              </a:spcAft>
            </a:pPr>
            <a:r>
              <a:rPr sz="1200" dirty="0">
                <a:solidFill>
                  <a:srgbClr val="2D3238"/>
                </a:solidFill>
                <a:latin typeface="Consolas"/>
              </a:rPr>
              <a:t>}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0" y="1280160"/>
            <a:ext cx="5285232" cy="4937760"/>
          </a:xfrm>
          <a:prstGeom prst="rect">
            <a:avLst/>
          </a:prstGeom>
          <a:solidFill>
            <a:srgbClr val="F6F7F8"/>
          </a:solidFill>
          <a:ln w="12700">
            <a:solidFill>
              <a:srgbClr val="B9B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46304" rIns="182880" bIns="128016" rtlCol="0" anchor="t"/>
          <a:lstStyle/>
          <a:p>
            <a:pPr algn="ctr">
              <a:spcAft>
                <a:spcPts val="800"/>
              </a:spcAft>
              <a:defRPr sz="1650" b="1">
                <a:solidFill>
                  <a:srgbClr val="111418"/>
                </a:solidFill>
                <a:latin typeface="Segoe UI"/>
              </a:defRPr>
            </a:pPr>
            <a:r>
              <a:t>Архітектурний аналіз контракту Driver.proto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11418"/>
                </a:solidFill>
                <a:latin typeface="Segoe UI"/>
              </a:rPr>
              <a:t>1. Простір імен (csharp_namespace):
</a:t>
            </a:r>
            <a:r>
              <a:rPr sz="1400" b="0">
                <a:solidFill>
                  <a:srgbClr val="2D3238"/>
                </a:solidFill>
                <a:latin typeface="Segoe UI"/>
              </a:rPr>
              <a:t>Директива option csharp_namespace = "DriversBlogManagement" визначає C#-простір імен для всіх згенерованих класів як на сервері, так і на клієнті.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11418"/>
                </a:solidFill>
                <a:latin typeface="Segoe UI"/>
              </a:rPr>
              <a:t>2. Автоматичне перетворення імен:
</a:t>
            </a:r>
            <a:r>
              <a:rPr sz="1400" b="0">
                <a:solidFill>
                  <a:srgbClr val="2D3238"/>
                </a:solidFill>
                <a:latin typeface="Segoe UI"/>
              </a:rPr>
              <a:t>Поля snake_case (driver_id, first_name) під час компіляції автоматично стають властивостями PascalCase у C# (DriverId, FirstName).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11418"/>
                </a:solidFill>
                <a:latin typeface="Segoe UI"/>
              </a:rPr>
              <a:t>3. Маршрутизація в HTTP/2:
</a:t>
            </a:r>
            <a:r>
              <a:rPr sz="1400" b="0">
                <a:solidFill>
                  <a:srgbClr val="2D3238"/>
                </a:solidFill>
                <a:latin typeface="Segoe UI"/>
              </a:rPr>
              <a:t>Оголошення service DriverRpc та методу rpc GetDriverWithPosts формує HTTP/2 POST маршрут: /DriverRpc/GetDriverWithPosts.</a:t>
            </a:r>
          </a:p>
          <a:p>
            <a:pPr>
              <a:spcAft>
                <a:spcPts val="400"/>
              </a:spcAft>
            </a:pPr>
            <a:r>
              <a:rPr sz="1400" b="1">
                <a:solidFill>
                  <a:srgbClr val="111418"/>
                </a:solidFill>
                <a:latin typeface="Segoe UI"/>
              </a:rPr>
              <a:t>4. Колекція repeated:
</a:t>
            </a:r>
            <a:r>
              <a:rPr sz="1400" b="0">
                <a:solidFill>
                  <a:srgbClr val="2D3238"/>
                </a:solidFill>
                <a:latin typeface="Segoe UI"/>
              </a:rPr>
              <a:t>Поле repeated PostAboutDriverResponse posts = 4 компілюється у властивість RepeatedField&lt;PostAboutDriverResponse&gt; Posts (лише для читання посилання, наповнюється через .Add()).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19088"/>
            <a:ext cx="11183112" cy="13716"/>
          </a:xfrm>
          <a:prstGeom prst="rect">
            <a:avLst/>
          </a:prstGeom>
          <a:solidFill>
            <a:srgbClr val="B9B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464808"/>
            <a:ext cx="9509760" cy="29260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050">
                <a:solidFill>
                  <a:srgbClr val="5F666E"/>
                </a:solidFill>
                <a:latin typeface="Segoe UI"/>
              </a:rPr>
              <a:t>Файл у проєкті: DriversBlogManagement/src/DriversBlogManagement/Domain/Drivers/Protos/Driver.proto#L22-L57</a:t>
            </a:r>
            <a:r>
              <a:rPr sz="1050" b="1">
                <a:solidFill>
                  <a:srgbClr val="111418"/>
                </a:solidFill>
                <a:latin typeface="Segoe UI"/>
                <a:hlinkClick r:id="rId2"/>
              </a:rPr>
              <a:t>   |   Джерело: https://protobuf.dev/programming-guides/proto3/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49840" y="6464808"/>
            <a:ext cx="1536192" cy="292608"/>
          </a:xfrm>
          <a:prstGeom prst="rect">
            <a:avLst/>
          </a:prstGeom>
          <a:noFill/>
        </p:spPr>
        <p:txBody>
          <a:bodyPr wrap="none" tIns="0" rIns="0">
            <a:spAutoFit/>
          </a:bodyPr>
          <a:lstStyle/>
          <a:p>
            <a:pPr algn="r">
              <a:defRPr sz="1100" b="1">
                <a:solidFill>
                  <a:srgbClr val="111418"/>
                </a:solidFill>
                <a:latin typeface="Segoe UI"/>
              </a:defRPr>
            </a:pPr>
            <a:r>
              <a:t>Слайд 14 з 28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11183112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5F666E"/>
                </a:solidFill>
                <a:latin typeface="Segoe UI"/>
              </a:defRPr>
            </a:pPr>
            <a:r>
              <a:t>РОЗДІЛ 5. КОДОГЕНЕРАЦІЯ C# ПІД ЧАС ЗБІРКИ</a:t>
            </a:r>
          </a:p>
          <a:p>
            <a:pPr>
              <a:defRPr sz="2400" b="1">
                <a:solidFill>
                  <a:srgbClr val="111418"/>
                </a:solidFill>
                <a:latin typeface="Segoe UI"/>
              </a:defRPr>
            </a:pPr>
            <a:r>
              <a:t>Механізм MSBuild Grpc.Tools: спільний файл Driver.proto для двох сервісів</a:t>
            </a:r>
          </a:p>
          <a:p>
            <a:pPr>
              <a:defRPr sz="1350">
                <a:solidFill>
                  <a:srgbClr val="5F666E"/>
                </a:solidFill>
                <a:latin typeface="Segoe UI"/>
              </a:defRPr>
            </a:pPr>
            <a:r>
              <a:t>Як один фізичний файл компілюється у серверний базовий клас та клієнтський стаб без дублювання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15568"/>
            <a:ext cx="11183112" cy="18288"/>
          </a:xfrm>
          <a:prstGeom prst="rect">
            <a:avLst/>
          </a:prstGeom>
          <a:solidFill>
            <a:srgbClr val="505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diag_07_codegen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07008"/>
            <a:ext cx="11183112" cy="335493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02920" y="4617720"/>
            <a:ext cx="5440680" cy="1664208"/>
          </a:xfrm>
          <a:prstGeom prst="rect">
            <a:avLst/>
          </a:prstGeom>
          <a:solidFill>
            <a:srgbClr val="EBEDF0"/>
          </a:solidFill>
          <a:ln w="15240">
            <a:solidFill>
              <a:srgbClr val="505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28016" rIns="137160" bIns="109728" rtlCol="0" anchor="t"/>
          <a:lstStyle/>
          <a:p>
            <a:pPr algn="ctr">
              <a:spcAft>
                <a:spcPts val="600"/>
              </a:spcAft>
              <a:defRPr sz="1300" b="1">
                <a:solidFill>
                  <a:srgbClr val="111418"/>
                </a:solidFill>
                <a:latin typeface="Segoe UI"/>
              </a:defRPr>
            </a:pPr>
            <a:r>
              <a:t>Файл: DriversBlogManagement.csproj#L72 (Сервер)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5F666E"/>
                </a:solidFill>
                <a:latin typeface="Consolas"/>
              </a:rPr>
              <a:t>&lt;!-- DriversBlogManagement.csproj (рядок 72) --&gt;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2D3238"/>
                </a:solidFill>
                <a:latin typeface="Consolas"/>
              </a:rPr>
              <a:t>&lt;ItemGroup&gt;</a:t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111418"/>
                </a:solidFill>
                <a:latin typeface="Consolas"/>
              </a:rPr>
              <a:t>  &lt;Protobuf Include="Domain\Drivers\Protos\Driver.proto"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2D3238"/>
                </a:solidFill>
                <a:latin typeface="Consolas"/>
              </a:rPr>
              <a:t>            GrpcServices="Both" /&gt;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2D3238"/>
                </a:solidFill>
                <a:latin typeface="Consolas"/>
              </a:rPr>
              <a:t>&lt;/ItemGroup&gt;</a:t>
            </a:r>
          </a:p>
        </p:txBody>
      </p:sp>
      <p:sp>
        <p:nvSpPr>
          <p:cNvPr id="6" name="Rectangle 5"/>
          <p:cNvSpPr/>
          <p:nvPr/>
        </p:nvSpPr>
        <p:spPr>
          <a:xfrm>
            <a:off x="6245352" y="4617720"/>
            <a:ext cx="5440680" cy="1664208"/>
          </a:xfrm>
          <a:prstGeom prst="rect">
            <a:avLst/>
          </a:prstGeom>
          <a:solidFill>
            <a:srgbClr val="EBEDF0"/>
          </a:solidFill>
          <a:ln w="15240">
            <a:solidFill>
              <a:srgbClr val="505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28016" rIns="137160" bIns="109728" rtlCol="0" anchor="t"/>
          <a:lstStyle/>
          <a:p>
            <a:pPr algn="ctr">
              <a:spcAft>
                <a:spcPts val="600"/>
              </a:spcAft>
              <a:defRPr sz="1300" b="1">
                <a:solidFill>
                  <a:srgbClr val="111418"/>
                </a:solidFill>
                <a:latin typeface="Segoe UI"/>
              </a:defRPr>
            </a:pPr>
            <a:r>
              <a:t>Файл: DriversManagement.csproj#L94 (Клієнт — Link)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5F666E"/>
                </a:solidFill>
                <a:latin typeface="Consolas"/>
              </a:rPr>
              <a:t>&lt;!-- DriversManagement.csproj (рядок 94) --&gt;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2D3238"/>
                </a:solidFill>
                <a:latin typeface="Consolas"/>
              </a:rPr>
              <a:t>&lt;ItemGroup&gt;</a:t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111418"/>
                </a:solidFill>
                <a:latin typeface="Consolas"/>
              </a:rPr>
              <a:t>  &lt;Protobuf Include="..\..\..\DriversBlogManagement\...\Driver.proto"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2D3238"/>
                </a:solidFill>
                <a:latin typeface="Consolas"/>
              </a:rPr>
              <a:t>            GrpcServices="Client" Link="Protos\Driver.proto" /&gt;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2D3238"/>
                </a:solidFill>
                <a:latin typeface="Consolas"/>
              </a:rPr>
              <a:t>&lt;/ItemGroup&gt;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19088"/>
            <a:ext cx="11183112" cy="13716"/>
          </a:xfrm>
          <a:prstGeom prst="rect">
            <a:avLst/>
          </a:prstGeom>
          <a:solidFill>
            <a:srgbClr val="B9B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464808"/>
            <a:ext cx="9509760" cy="29260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050">
                <a:solidFill>
                  <a:srgbClr val="5F666E"/>
                </a:solidFill>
                <a:latin typeface="Segoe UI"/>
              </a:rPr>
              <a:t>Файли проєктів: DriversBlogManagement.csproj#L72 та DriversManagement.csproj#L94</a:t>
            </a:r>
            <a:r>
              <a:rPr sz="1050" b="1">
                <a:solidFill>
                  <a:srgbClr val="111418"/>
                </a:solidFill>
                <a:latin typeface="Segoe UI"/>
                <a:hlinkClick r:id="rId3"/>
              </a:rPr>
              <a:t>   |   Джерело: https://learn.microsoft.com/en-us/aspnet/core/grpc/basics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49840" y="6464808"/>
            <a:ext cx="1536192" cy="292608"/>
          </a:xfrm>
          <a:prstGeom prst="rect">
            <a:avLst/>
          </a:prstGeom>
          <a:noFill/>
        </p:spPr>
        <p:txBody>
          <a:bodyPr wrap="none" tIns="0" rIns="0">
            <a:spAutoFit/>
          </a:bodyPr>
          <a:lstStyle/>
          <a:p>
            <a:pPr algn="r">
              <a:defRPr sz="1100" b="1">
                <a:solidFill>
                  <a:srgbClr val="111418"/>
                </a:solidFill>
                <a:latin typeface="Segoe UI"/>
              </a:defRPr>
            </a:pPr>
            <a:r>
              <a:t>Слайд 15 з 28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11183112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5F666E"/>
                </a:solidFill>
                <a:latin typeface="Segoe UI"/>
              </a:defRPr>
            </a:pPr>
            <a:r>
              <a:t>РОЗДІЛ 5. МЕЖІ ДОМЕНІВ (BOUNDED CONTEXTS)</a:t>
            </a:r>
          </a:p>
          <a:p>
            <a:pPr>
              <a:defRPr sz="2400" b="1">
                <a:solidFill>
                  <a:srgbClr val="111418"/>
                </a:solidFill>
                <a:latin typeface="Segoe UI"/>
              </a:defRPr>
            </a:pPr>
            <a:r>
              <a:t>Архітектурна дилема: чому Driver.proto НЕ винесено у SharedKernel?</a:t>
            </a:r>
          </a:p>
          <a:p>
            <a:pPr>
              <a:defRPr sz="1350">
                <a:solidFill>
                  <a:srgbClr val="5F666E"/>
                </a:solidFill>
                <a:latin typeface="Segoe UI"/>
              </a:defRPr>
            </a:pPr>
            <a:r>
              <a:t>Різниця між публічними доменними подіями (RabbitMQ) та приватним контрактом запиту даних (gRPC)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15568"/>
            <a:ext cx="11183112" cy="18288"/>
          </a:xfrm>
          <a:prstGeom prst="rect">
            <a:avLst/>
          </a:prstGeom>
          <a:solidFill>
            <a:srgbClr val="505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1280160"/>
            <a:ext cx="5440680" cy="4937760"/>
          </a:xfrm>
          <a:prstGeom prst="rect">
            <a:avLst/>
          </a:prstGeom>
          <a:solidFill>
            <a:srgbClr val="F6F7F8"/>
          </a:solidFill>
          <a:ln w="12700">
            <a:solidFill>
              <a:srgbClr val="B9B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46304" rIns="182880" bIns="128016" rtlCol="0" anchor="t"/>
          <a:lstStyle/>
          <a:p>
            <a:pPr algn="ctr">
              <a:spcAft>
                <a:spcPts val="800"/>
              </a:spcAft>
              <a:defRPr sz="1650" b="1">
                <a:solidFill>
                  <a:srgbClr val="111418"/>
                </a:solidFill>
                <a:latin typeface="Segoe UI"/>
              </a:defRPr>
            </a:pPr>
            <a:r>
              <a:t>Чому у SharedKernel лежать лише події RabbitMQ?</a:t>
            </a:r>
          </a:p>
          <a:p>
            <a:pPr>
              <a:spcAft>
                <a:spcPts val="1000"/>
              </a:spcAft>
            </a:pPr>
            <a:r>
              <a:rPr sz="1450" b="1">
                <a:solidFill>
                  <a:srgbClr val="111418"/>
                </a:solidFill>
                <a:latin typeface="Segoe UI"/>
              </a:rPr>
              <a:t>• Що містить SharedKernel:
</a:t>
            </a:r>
            <a:r>
              <a:rPr sz="1450" b="0">
                <a:solidFill>
                  <a:srgbClr val="2D3238"/>
                </a:solidFill>
                <a:latin typeface="Segoe UI"/>
              </a:rPr>
              <a:t>лише інтерфейси інтеграційних подій: IDriverCreated та IDriverUpdated (файл SharedKernel/Messages/IDriverCreated.cs).</a:t>
            </a:r>
          </a:p>
          <a:p>
            <a:pPr>
              <a:spcAft>
                <a:spcPts val="1000"/>
              </a:spcAft>
            </a:pPr>
            <a:r>
              <a:rPr sz="1450" b="1">
                <a:solidFill>
                  <a:srgbClr val="111418"/>
                </a:solidFill>
                <a:latin typeface="Segoe UI"/>
              </a:rPr>
              <a:t>• Природа події (Broadcast):
</a:t>
            </a:r>
            <a:r>
              <a:rPr sz="1450" b="0">
                <a:solidFill>
                  <a:srgbClr val="2D3238"/>
                </a:solidFill>
                <a:latin typeface="Segoe UI"/>
              </a:rPr>
              <a:t>подія сповіщає всю систему про факт ('Водія створено'). Видавець не знає, скільки мікросервісів підписано на цю подію.</a:t>
            </a:r>
          </a:p>
          <a:p>
            <a:pPr>
              <a:spcAft>
                <a:spcPts val="600"/>
              </a:spcAft>
            </a:pPr>
            <a:r>
              <a:rPr sz="1450" b="1">
                <a:solidFill>
                  <a:srgbClr val="111418"/>
                </a:solidFill>
                <a:latin typeface="Segoe UI"/>
              </a:rPr>
              <a:t>• Небезпека RPC у SharedKernel:
</a:t>
            </a:r>
            <a:r>
              <a:rPr sz="1450" b="0">
                <a:solidFill>
                  <a:srgbClr val="2D3238"/>
                </a:solidFill>
                <a:latin typeface="Segoe UI"/>
              </a:rPr>
              <a:t>якщо покласти gRPC-контракти блогу в спільну бібліотеку, кожен мікросервіс (навіть CargoOrderingService, якому пости не потрібні) отримає чужі залежності та перетворить SharedKernel на 'звалище контрактів'.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45352" y="1280160"/>
            <a:ext cx="5440680" cy="4937760"/>
          </a:xfrm>
          <a:prstGeom prst="rect">
            <a:avLst/>
          </a:prstGeom>
          <a:solidFill>
            <a:srgbClr val="F6F7F8"/>
          </a:solidFill>
          <a:ln w="12700">
            <a:solidFill>
              <a:srgbClr val="B9B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46304" rIns="182880" bIns="128016" rtlCol="0" anchor="t"/>
          <a:lstStyle/>
          <a:p>
            <a:pPr algn="ctr">
              <a:spcAft>
                <a:spcPts val="800"/>
              </a:spcAft>
              <a:defRPr sz="1650" b="1">
                <a:solidFill>
                  <a:srgbClr val="111418"/>
                </a:solidFill>
                <a:latin typeface="Segoe UI"/>
              </a:defRPr>
            </a:pPr>
            <a:r>
              <a:t>Чому підхід із &lt;Protobuf Link=... /&gt; є еталонним?</a:t>
            </a:r>
          </a:p>
          <a:p>
            <a:pPr>
              <a:spcAft>
                <a:spcPts val="1000"/>
              </a:spcAft>
            </a:pPr>
            <a:r>
              <a:rPr sz="1450" b="1">
                <a:solidFill>
                  <a:srgbClr val="111418"/>
                </a:solidFill>
                <a:latin typeface="Segoe UI"/>
              </a:rPr>
              <a:t>• Чітке володіння контрактом:
</a:t>
            </a:r>
            <a:r>
              <a:rPr sz="1450" b="0">
                <a:solidFill>
                  <a:srgbClr val="2D3238"/>
                </a:solidFill>
                <a:latin typeface="Segoe UI"/>
              </a:rPr>
              <a:t>файл Driver.proto фізично належить серверу — мікросервісу блогу (DriversBlogManagement).</a:t>
            </a:r>
          </a:p>
          <a:p>
            <a:pPr>
              <a:spcAft>
                <a:spcPts val="1000"/>
              </a:spcAft>
            </a:pPr>
            <a:r>
              <a:rPr sz="1450" b="1">
                <a:solidFill>
                  <a:srgbClr val="111418"/>
                </a:solidFill>
                <a:latin typeface="Segoe UI"/>
              </a:rPr>
              <a:t>• Пряме посилання лише там, де потрібно:
</a:t>
            </a:r>
            <a:r>
              <a:rPr sz="1450" b="0">
                <a:solidFill>
                  <a:srgbClr val="2D3238"/>
                </a:solidFill>
                <a:latin typeface="Segoe UI"/>
              </a:rPr>
              <a:t>лише клієнт DriversManagement підключає цей файл через директиву &lt;Protobuf Include="..." Link="Protos\Driver.proto" GrpcServices="Client" /&gt;.</a:t>
            </a:r>
          </a:p>
          <a:p>
            <a:pPr>
              <a:spcAft>
                <a:spcPts val="600"/>
              </a:spcAft>
            </a:pPr>
            <a:r>
              <a:rPr sz="1450" b="1">
                <a:solidFill>
                  <a:srgbClr val="111418"/>
                </a:solidFill>
                <a:latin typeface="Segoe UI"/>
              </a:rPr>
              <a:t>• Гарантія компілятора:
</a:t>
            </a:r>
            <a:r>
              <a:rPr sz="1450" b="0">
                <a:solidFill>
                  <a:srgbClr val="2D3238"/>
                </a:solidFill>
                <a:latin typeface="Segoe UI"/>
              </a:rPr>
              <a:t>обидва сервіси компілюють один фізичний файл на диску, але генерують класи у власних збірках без зайвого зв'язування інших мікросервісів.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19088"/>
            <a:ext cx="11183112" cy="13716"/>
          </a:xfrm>
          <a:prstGeom prst="rect">
            <a:avLst/>
          </a:prstGeom>
          <a:solidFill>
            <a:srgbClr val="B9B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464808"/>
            <a:ext cx="9509760" cy="29260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050">
                <a:solidFill>
                  <a:srgbClr val="5F666E"/>
                </a:solidFill>
                <a:latin typeface="Segoe UI"/>
              </a:rPr>
              <a:t>Розділ 2.1 документації: 02-02-Communication-Documentation/03_Patterns_Synchronous_gRPC_Communication.md</a:t>
            </a:r>
            <a:r>
              <a:rPr sz="1050" b="1">
                <a:solidFill>
                  <a:srgbClr val="111418"/>
                </a:solidFill>
                <a:latin typeface="Segoe UI"/>
                <a:hlinkClick r:id="rId2"/>
              </a:rPr>
              <a:t>   |   Джерело: https://microservices.io/patterns/decomposition/decompose-by-subdomain.html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49840" y="6464808"/>
            <a:ext cx="1536192" cy="292608"/>
          </a:xfrm>
          <a:prstGeom prst="rect">
            <a:avLst/>
          </a:prstGeom>
          <a:noFill/>
        </p:spPr>
        <p:txBody>
          <a:bodyPr wrap="none" tIns="0" rIns="0">
            <a:spAutoFit/>
          </a:bodyPr>
          <a:lstStyle/>
          <a:p>
            <a:pPr algn="r">
              <a:defRPr sz="1100" b="1">
                <a:solidFill>
                  <a:srgbClr val="111418"/>
                </a:solidFill>
                <a:latin typeface="Segoe UI"/>
              </a:defRPr>
            </a:pPr>
            <a:r>
              <a:t>Слайд 16 з 28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11183112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5F666E"/>
                </a:solidFill>
                <a:latin typeface="Segoe UI"/>
              </a:defRPr>
            </a:pPr>
            <a:r>
              <a:t>РОЗДІЛ 6. РЕАЛІЗАЦІЯ GRPC-СЕРВЕРА (DRIVERSBLOGMANAGEMENT :5002)</a:t>
            </a:r>
          </a:p>
          <a:p>
            <a:pPr>
              <a:defRPr sz="2400" b="1">
                <a:solidFill>
                  <a:srgbClr val="111418"/>
                </a:solidFill>
                <a:latin typeface="Segoe UI"/>
              </a:defRPr>
            </a:pPr>
            <a:r>
              <a:t>Серверний обробник DriverRpcService.cs: код та алгоритм роботи</a:t>
            </a:r>
          </a:p>
          <a:p>
            <a:pPr>
              <a:defRPr sz="1350">
                <a:solidFill>
                  <a:srgbClr val="5F666E"/>
                </a:solidFill>
                <a:latin typeface="Segoe UI"/>
              </a:defRPr>
            </a:pPr>
            <a:r>
              <a:t>Шлях: DriversBlogManagement/src/DriversBlogManagement/Domain/Drivers/Services/DriverRpcService.cs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15568"/>
            <a:ext cx="11183112" cy="18288"/>
          </a:xfrm>
          <a:prstGeom prst="rect">
            <a:avLst/>
          </a:prstGeom>
          <a:solidFill>
            <a:srgbClr val="505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diag_08_server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55560"/>
            <a:ext cx="11853118" cy="355593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02920" y="6419088"/>
            <a:ext cx="11183112" cy="13716"/>
          </a:xfrm>
          <a:prstGeom prst="rect">
            <a:avLst/>
          </a:prstGeom>
          <a:solidFill>
            <a:srgbClr val="B9B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464808"/>
            <a:ext cx="7647286" cy="369332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050" dirty="0" err="1">
                <a:solidFill>
                  <a:srgbClr val="5F666E"/>
                </a:solidFill>
                <a:latin typeface="Segoe UI"/>
              </a:rPr>
              <a:t>Серверний</a:t>
            </a:r>
            <a:r>
              <a:rPr sz="1050" dirty="0">
                <a:solidFill>
                  <a:srgbClr val="5F666E"/>
                </a:solidFill>
                <a:latin typeface="Segoe UI"/>
              </a:rPr>
              <a:t> </a:t>
            </a:r>
            <a:r>
              <a:rPr sz="1050" dirty="0" err="1">
                <a:solidFill>
                  <a:srgbClr val="5F666E"/>
                </a:solidFill>
                <a:latin typeface="Segoe UI"/>
              </a:rPr>
              <a:t>код</a:t>
            </a:r>
            <a:r>
              <a:rPr sz="1050" dirty="0">
                <a:solidFill>
                  <a:srgbClr val="5F666E"/>
                </a:solidFill>
                <a:latin typeface="Segoe UI"/>
              </a:rPr>
              <a:t>: </a:t>
            </a:r>
            <a:r>
              <a:rPr sz="1050" dirty="0" err="1">
                <a:solidFill>
                  <a:srgbClr val="5F666E"/>
                </a:solidFill>
                <a:latin typeface="Segoe UI"/>
              </a:rPr>
              <a:t>DriversBlogManagement</a:t>
            </a:r>
            <a:r>
              <a:rPr sz="1050" dirty="0">
                <a:solidFill>
                  <a:srgbClr val="5F666E"/>
                </a:solidFill>
                <a:latin typeface="Segoe UI"/>
              </a:rPr>
              <a:t>/</a:t>
            </a:r>
            <a:r>
              <a:rPr sz="1050" dirty="0" err="1">
                <a:solidFill>
                  <a:srgbClr val="5F666E"/>
                </a:solidFill>
                <a:latin typeface="Segoe UI"/>
              </a:rPr>
              <a:t>src</a:t>
            </a:r>
            <a:r>
              <a:rPr sz="1050" dirty="0">
                <a:solidFill>
                  <a:srgbClr val="5F666E"/>
                </a:solidFill>
                <a:latin typeface="Segoe UI"/>
              </a:rPr>
              <a:t>/</a:t>
            </a:r>
            <a:r>
              <a:rPr sz="1050" dirty="0" err="1">
                <a:solidFill>
                  <a:srgbClr val="5F666E"/>
                </a:solidFill>
                <a:latin typeface="Segoe UI"/>
              </a:rPr>
              <a:t>DriversBlogManagement</a:t>
            </a:r>
            <a:r>
              <a:rPr sz="1050" dirty="0">
                <a:solidFill>
                  <a:srgbClr val="5F666E"/>
                </a:solidFill>
                <a:latin typeface="Segoe UI"/>
              </a:rPr>
              <a:t>/Domain/Drivers/Services/DriverRpcService.cs#L31-L108</a:t>
            </a:r>
            <a:br>
              <a:rPr lang="uk-UA" sz="1050" dirty="0">
                <a:solidFill>
                  <a:srgbClr val="5F666E"/>
                </a:solidFill>
                <a:latin typeface="Segoe UI"/>
              </a:rPr>
            </a:br>
            <a:r>
              <a:rPr sz="1050" b="1" dirty="0">
                <a:solidFill>
                  <a:srgbClr val="111418"/>
                </a:solidFill>
                <a:latin typeface="Segoe UI"/>
                <a:hlinkClick r:id="rId3"/>
              </a:rPr>
              <a:t>   |   </a:t>
            </a:r>
            <a:r>
              <a:rPr sz="1050" b="1" dirty="0" err="1">
                <a:solidFill>
                  <a:srgbClr val="111418"/>
                </a:solidFill>
                <a:latin typeface="Segoe UI"/>
                <a:hlinkClick r:id="rId3"/>
              </a:rPr>
              <a:t>Джерело</a:t>
            </a:r>
            <a:r>
              <a:rPr sz="1050" b="1" dirty="0">
                <a:solidFill>
                  <a:srgbClr val="111418"/>
                </a:solidFill>
                <a:latin typeface="Segoe UI"/>
                <a:hlinkClick r:id="rId3"/>
              </a:rPr>
              <a:t>: https://learn.microsoft.com/en-us/aspnet/core/grpc/services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49840" y="6464808"/>
            <a:ext cx="1536192" cy="292608"/>
          </a:xfrm>
          <a:prstGeom prst="rect">
            <a:avLst/>
          </a:prstGeom>
          <a:noFill/>
        </p:spPr>
        <p:txBody>
          <a:bodyPr wrap="none" tIns="0" rIns="0">
            <a:spAutoFit/>
          </a:bodyPr>
          <a:lstStyle/>
          <a:p>
            <a:pPr algn="r">
              <a:defRPr sz="1100" b="1">
                <a:solidFill>
                  <a:srgbClr val="111418"/>
                </a:solidFill>
                <a:latin typeface="Segoe UI"/>
              </a:defRPr>
            </a:pPr>
            <a:r>
              <a:t>Слайд 17 з 28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11183112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5F666E"/>
                </a:solidFill>
                <a:latin typeface="Segoe UI"/>
              </a:defRPr>
            </a:pPr>
            <a:r>
              <a:t>РОЗДІЛ 6. РЕАЛІЗАЦІЯ GRPC-СЕРВЕРА (DRIVERSBLOGMANAGEMENT :5002)</a:t>
            </a:r>
          </a:p>
          <a:p>
            <a:pPr>
              <a:defRPr sz="2400" b="1">
                <a:solidFill>
                  <a:srgbClr val="111418"/>
                </a:solidFill>
                <a:latin typeface="Segoe UI"/>
              </a:defRPr>
            </a:pPr>
            <a:r>
              <a:t>Серверний обробник DriverRpcService.cs: код та алгоритм роботи</a:t>
            </a:r>
          </a:p>
          <a:p>
            <a:pPr>
              <a:defRPr sz="1350">
                <a:solidFill>
                  <a:srgbClr val="5F666E"/>
                </a:solidFill>
                <a:latin typeface="Segoe UI"/>
              </a:defRPr>
            </a:pPr>
            <a:r>
              <a:t>Шлях: DriversBlogManagement/src/DriversBlogManagement/Domain/Drivers/Services/DriverRpcService.cs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15568"/>
            <a:ext cx="11183112" cy="18288"/>
          </a:xfrm>
          <a:prstGeom prst="rect">
            <a:avLst/>
          </a:prstGeom>
          <a:solidFill>
            <a:srgbClr val="505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26275" y="1267274"/>
            <a:ext cx="11183112" cy="5087805"/>
          </a:xfrm>
          <a:prstGeom prst="rect">
            <a:avLst/>
          </a:prstGeom>
          <a:solidFill>
            <a:srgbClr val="EBEDF0"/>
          </a:solidFill>
          <a:ln w="15240">
            <a:solidFill>
              <a:srgbClr val="505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28016" rIns="137160" bIns="109728" rtlCol="0" anchor="t"/>
          <a:lstStyle/>
          <a:p>
            <a:pPr algn="ctr">
              <a:spcAft>
                <a:spcPts val="600"/>
              </a:spcAft>
              <a:defRPr sz="1300" b="1">
                <a:solidFill>
                  <a:srgbClr val="111418"/>
                </a:solidFill>
                <a:latin typeface="Segoe UI"/>
              </a:defRPr>
            </a:pPr>
            <a:r>
              <a:rPr sz="1600" dirty="0" err="1"/>
              <a:t>Файл</a:t>
            </a:r>
            <a:r>
              <a:rPr sz="1600" dirty="0"/>
              <a:t>: </a:t>
            </a:r>
            <a:r>
              <a:rPr sz="1600" dirty="0" err="1"/>
              <a:t>DriverRpcService.cs</a:t>
            </a:r>
            <a:r>
              <a:rPr sz="1600" dirty="0"/>
              <a:t> (</a:t>
            </a:r>
            <a:r>
              <a:rPr sz="1600" dirty="0" err="1"/>
              <a:t>рядки</a:t>
            </a:r>
            <a:r>
              <a:rPr sz="1600" dirty="0"/>
              <a:t> 31–96)</a:t>
            </a:r>
          </a:p>
          <a:p>
            <a:pPr>
              <a:spcAft>
                <a:spcPts val="200"/>
              </a:spcAft>
            </a:pPr>
            <a:r>
              <a:rPr sz="1100" dirty="0">
                <a:solidFill>
                  <a:srgbClr val="2D3238"/>
                </a:solidFill>
                <a:latin typeface="Consolas"/>
              </a:rPr>
              <a:t>public class </a:t>
            </a:r>
            <a:r>
              <a:rPr sz="1100" dirty="0" err="1">
                <a:solidFill>
                  <a:srgbClr val="2D3238"/>
                </a:solidFill>
                <a:latin typeface="Consolas"/>
              </a:rPr>
              <a:t>DriverRpcService</a:t>
            </a:r>
            <a:r>
              <a:rPr sz="1100" dirty="0">
                <a:solidFill>
                  <a:srgbClr val="2D3238"/>
                </a:solidFill>
                <a:latin typeface="Consolas"/>
              </a:rPr>
              <a:t> : </a:t>
            </a:r>
            <a:r>
              <a:rPr sz="1100" dirty="0" err="1">
                <a:solidFill>
                  <a:srgbClr val="2D3238"/>
                </a:solidFill>
                <a:latin typeface="Consolas"/>
              </a:rPr>
              <a:t>DriverRpc.DriverRpcBase</a:t>
            </a:r>
            <a:endParaRPr sz="1100" dirty="0">
              <a:solidFill>
                <a:srgbClr val="2D3238"/>
              </a:solidFill>
              <a:latin typeface="Consolas"/>
            </a:endParaRPr>
          </a:p>
          <a:p>
            <a:pPr>
              <a:spcAft>
                <a:spcPts val="200"/>
              </a:spcAft>
            </a:pPr>
            <a:r>
              <a:rPr sz="1100" dirty="0">
                <a:solidFill>
                  <a:srgbClr val="2D3238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</a:pPr>
            <a:r>
              <a:rPr sz="1100" dirty="0">
                <a:solidFill>
                  <a:srgbClr val="2D3238"/>
                </a:solidFill>
                <a:latin typeface="Consolas"/>
              </a:rPr>
              <a:t>    private </a:t>
            </a:r>
            <a:r>
              <a:rPr sz="1100" dirty="0" err="1">
                <a:solidFill>
                  <a:srgbClr val="2D3238"/>
                </a:solidFill>
                <a:latin typeface="Consolas"/>
              </a:rPr>
              <a:t>readonly</a:t>
            </a:r>
            <a:r>
              <a:rPr sz="1100" dirty="0">
                <a:solidFill>
                  <a:srgbClr val="2D3238"/>
                </a:solidFill>
                <a:latin typeface="Consolas"/>
              </a:rPr>
              <a:t> </a:t>
            </a:r>
            <a:r>
              <a:rPr sz="1100" dirty="0" err="1">
                <a:solidFill>
                  <a:srgbClr val="2D3238"/>
                </a:solidFill>
                <a:latin typeface="Consolas"/>
              </a:rPr>
              <a:t>IDriverRepository</a:t>
            </a:r>
            <a:r>
              <a:rPr sz="1100" dirty="0">
                <a:solidFill>
                  <a:srgbClr val="2D3238"/>
                </a:solidFill>
                <a:latin typeface="Consolas"/>
              </a:rPr>
              <a:t> _</a:t>
            </a:r>
            <a:r>
              <a:rPr sz="1100" dirty="0" err="1">
                <a:solidFill>
                  <a:srgbClr val="2D3238"/>
                </a:solidFill>
                <a:latin typeface="Consolas"/>
              </a:rPr>
              <a:t>driverRepository</a:t>
            </a:r>
            <a:r>
              <a:rPr sz="1100" dirty="0">
                <a:solidFill>
                  <a:srgbClr val="2D3238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</a:pPr>
            <a:r>
              <a:rPr sz="1100" dirty="0">
                <a:solidFill>
                  <a:srgbClr val="2D3238"/>
                </a:solidFill>
                <a:latin typeface="Consolas"/>
              </a:rPr>
              <a:t>    public </a:t>
            </a:r>
            <a:r>
              <a:rPr sz="1100" dirty="0" err="1">
                <a:solidFill>
                  <a:srgbClr val="2D3238"/>
                </a:solidFill>
                <a:latin typeface="Consolas"/>
              </a:rPr>
              <a:t>DriverRpcService</a:t>
            </a:r>
            <a:r>
              <a:rPr sz="1100" dirty="0">
                <a:solidFill>
                  <a:srgbClr val="2D3238"/>
                </a:solidFill>
                <a:latin typeface="Consolas"/>
              </a:rPr>
              <a:t>(</a:t>
            </a:r>
            <a:r>
              <a:rPr sz="1100" dirty="0" err="1">
                <a:solidFill>
                  <a:srgbClr val="2D3238"/>
                </a:solidFill>
                <a:latin typeface="Consolas"/>
              </a:rPr>
              <a:t>IDriverRepository</a:t>
            </a:r>
            <a:r>
              <a:rPr sz="1100" dirty="0">
                <a:solidFill>
                  <a:srgbClr val="2D3238"/>
                </a:solidFill>
                <a:latin typeface="Consolas"/>
              </a:rPr>
              <a:t> </a:t>
            </a:r>
            <a:r>
              <a:rPr sz="1100" dirty="0" err="1">
                <a:solidFill>
                  <a:srgbClr val="2D3238"/>
                </a:solidFill>
                <a:latin typeface="Consolas"/>
              </a:rPr>
              <a:t>driverRepository</a:t>
            </a:r>
            <a:r>
              <a:rPr sz="1100" dirty="0">
                <a:solidFill>
                  <a:srgbClr val="2D3238"/>
                </a:solidFill>
                <a:latin typeface="Consolas"/>
              </a:rPr>
              <a:t>) =&gt; _</a:t>
            </a:r>
            <a:r>
              <a:rPr sz="1100" dirty="0" err="1">
                <a:solidFill>
                  <a:srgbClr val="2D3238"/>
                </a:solidFill>
                <a:latin typeface="Consolas"/>
              </a:rPr>
              <a:t>driverRepository</a:t>
            </a:r>
            <a:r>
              <a:rPr sz="1100" dirty="0">
                <a:solidFill>
                  <a:srgbClr val="2D3238"/>
                </a:solidFill>
                <a:latin typeface="Consolas"/>
              </a:rPr>
              <a:t> = </a:t>
            </a:r>
            <a:r>
              <a:rPr sz="1100" dirty="0" err="1">
                <a:solidFill>
                  <a:srgbClr val="2D3238"/>
                </a:solidFill>
                <a:latin typeface="Consolas"/>
              </a:rPr>
              <a:t>driverRepository</a:t>
            </a:r>
            <a:r>
              <a:rPr sz="1100" dirty="0">
                <a:solidFill>
                  <a:srgbClr val="2D3238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</a:pPr>
            <a:endParaRPr sz="1100" dirty="0">
              <a:solidFill>
                <a:srgbClr val="2D3238"/>
              </a:solidFill>
              <a:latin typeface="Consolas"/>
            </a:endParaRPr>
          </a:p>
          <a:p>
            <a:pPr>
              <a:spcAft>
                <a:spcPts val="200"/>
              </a:spcAft>
            </a:pPr>
            <a:r>
              <a:rPr sz="1100" b="1" dirty="0">
                <a:solidFill>
                  <a:srgbClr val="111418"/>
                </a:solidFill>
                <a:latin typeface="Consolas"/>
              </a:rPr>
              <a:t>    public override async Task&lt;</a:t>
            </a:r>
            <a:r>
              <a:rPr sz="1100" b="1" dirty="0" err="1">
                <a:solidFill>
                  <a:srgbClr val="111418"/>
                </a:solidFill>
                <a:latin typeface="Consolas"/>
              </a:rPr>
              <a:t>DriverWithPostsResponse</a:t>
            </a:r>
            <a:r>
              <a:rPr sz="1100" b="1" dirty="0">
                <a:solidFill>
                  <a:srgbClr val="111418"/>
                </a:solidFill>
                <a:latin typeface="Consolas"/>
              </a:rPr>
              <a:t>&gt; </a:t>
            </a:r>
            <a:r>
              <a:rPr sz="1100" b="1" dirty="0" err="1">
                <a:solidFill>
                  <a:srgbClr val="111418"/>
                </a:solidFill>
                <a:latin typeface="Consolas"/>
              </a:rPr>
              <a:t>GetDriverWithPosts</a:t>
            </a:r>
            <a:r>
              <a:rPr sz="1100" b="1" dirty="0">
                <a:solidFill>
                  <a:srgbClr val="111418"/>
                </a:solidFill>
                <a:latin typeface="Consolas"/>
              </a:rPr>
              <a:t>(</a:t>
            </a:r>
          </a:p>
          <a:p>
            <a:pPr>
              <a:spcAft>
                <a:spcPts val="200"/>
              </a:spcAft>
            </a:pPr>
            <a:r>
              <a:rPr sz="1100" dirty="0">
                <a:solidFill>
                  <a:srgbClr val="2D3238"/>
                </a:solidFill>
                <a:latin typeface="Consolas"/>
              </a:rPr>
              <a:t>        </a:t>
            </a:r>
            <a:r>
              <a:rPr sz="1100" dirty="0" err="1">
                <a:solidFill>
                  <a:srgbClr val="2D3238"/>
                </a:solidFill>
                <a:latin typeface="Consolas"/>
              </a:rPr>
              <a:t>DriverWithPostsRequest</a:t>
            </a:r>
            <a:r>
              <a:rPr sz="1100" dirty="0">
                <a:solidFill>
                  <a:srgbClr val="2D3238"/>
                </a:solidFill>
                <a:latin typeface="Consolas"/>
              </a:rPr>
              <a:t> request, </a:t>
            </a:r>
            <a:r>
              <a:rPr sz="1100" dirty="0" err="1">
                <a:solidFill>
                  <a:srgbClr val="2D3238"/>
                </a:solidFill>
                <a:latin typeface="Consolas"/>
              </a:rPr>
              <a:t>ServerCallContext</a:t>
            </a:r>
            <a:r>
              <a:rPr sz="1100" dirty="0">
                <a:solidFill>
                  <a:srgbClr val="2D3238"/>
                </a:solidFill>
                <a:latin typeface="Consolas"/>
              </a:rPr>
              <a:t> context)</a:t>
            </a:r>
          </a:p>
          <a:p>
            <a:pPr>
              <a:spcAft>
                <a:spcPts val="200"/>
              </a:spcAft>
            </a:pPr>
            <a:r>
              <a:rPr sz="1100" dirty="0">
                <a:solidFill>
                  <a:srgbClr val="2D3238"/>
                </a:solidFill>
                <a:latin typeface="Consolas"/>
              </a:rPr>
              <a:t>    {</a:t>
            </a:r>
          </a:p>
          <a:p>
            <a:pPr>
              <a:spcAft>
                <a:spcPts val="200"/>
              </a:spcAft>
            </a:pPr>
            <a:r>
              <a:rPr sz="1100" dirty="0">
                <a:solidFill>
                  <a:srgbClr val="2D3238"/>
                </a:solidFill>
                <a:latin typeface="Consolas"/>
              </a:rPr>
              <a:t>        if (!</a:t>
            </a:r>
            <a:r>
              <a:rPr sz="1100" dirty="0" err="1">
                <a:solidFill>
                  <a:srgbClr val="2D3238"/>
                </a:solidFill>
                <a:latin typeface="Consolas"/>
              </a:rPr>
              <a:t>Guid.TryParse</a:t>
            </a:r>
            <a:r>
              <a:rPr sz="1100" dirty="0">
                <a:solidFill>
                  <a:srgbClr val="2D3238"/>
                </a:solidFill>
                <a:latin typeface="Consolas"/>
              </a:rPr>
              <a:t>(</a:t>
            </a:r>
            <a:r>
              <a:rPr sz="1100" dirty="0" err="1">
                <a:solidFill>
                  <a:srgbClr val="2D3238"/>
                </a:solidFill>
                <a:latin typeface="Consolas"/>
              </a:rPr>
              <a:t>request.DriverId</a:t>
            </a:r>
            <a:r>
              <a:rPr sz="1100" dirty="0">
                <a:solidFill>
                  <a:srgbClr val="2D3238"/>
                </a:solidFill>
                <a:latin typeface="Consolas"/>
              </a:rPr>
              <a:t>, out var </a:t>
            </a:r>
            <a:r>
              <a:rPr sz="1100" dirty="0" err="1">
                <a:solidFill>
                  <a:srgbClr val="2D3238"/>
                </a:solidFill>
                <a:latin typeface="Consolas"/>
              </a:rPr>
              <a:t>driverId</a:t>
            </a:r>
            <a:r>
              <a:rPr sz="1100" dirty="0">
                <a:solidFill>
                  <a:srgbClr val="2D3238"/>
                </a:solidFill>
                <a:latin typeface="Consolas"/>
              </a:rPr>
              <a:t>))</a:t>
            </a:r>
          </a:p>
          <a:p>
            <a:pPr>
              <a:spcAft>
                <a:spcPts val="200"/>
              </a:spcAft>
            </a:pPr>
            <a:r>
              <a:rPr sz="1100" b="1" dirty="0">
                <a:solidFill>
                  <a:srgbClr val="111418"/>
                </a:solidFill>
                <a:latin typeface="Consolas"/>
              </a:rPr>
              <a:t>            throw new </a:t>
            </a:r>
            <a:r>
              <a:rPr sz="1100" b="1" dirty="0" err="1">
                <a:solidFill>
                  <a:srgbClr val="111418"/>
                </a:solidFill>
                <a:latin typeface="Consolas"/>
              </a:rPr>
              <a:t>RpcException</a:t>
            </a:r>
            <a:r>
              <a:rPr sz="1100" b="1" dirty="0">
                <a:solidFill>
                  <a:srgbClr val="111418"/>
                </a:solidFill>
                <a:latin typeface="Consolas"/>
              </a:rPr>
              <a:t>(new Status(</a:t>
            </a:r>
            <a:r>
              <a:rPr sz="1100" b="1" dirty="0" err="1">
                <a:solidFill>
                  <a:srgbClr val="111418"/>
                </a:solidFill>
                <a:latin typeface="Consolas"/>
              </a:rPr>
              <a:t>StatusCode.InvalidArgument</a:t>
            </a:r>
            <a:r>
              <a:rPr sz="1100" b="1" dirty="0">
                <a:solidFill>
                  <a:srgbClr val="111418"/>
                </a:solidFill>
                <a:latin typeface="Consolas"/>
              </a:rPr>
              <a:t>, "</a:t>
            </a:r>
            <a:r>
              <a:rPr sz="1100" b="1" dirty="0" err="1">
                <a:solidFill>
                  <a:srgbClr val="111418"/>
                </a:solidFill>
                <a:latin typeface="Consolas"/>
              </a:rPr>
              <a:t>Невалідний</a:t>
            </a:r>
            <a:r>
              <a:rPr sz="1100" b="1" dirty="0">
                <a:solidFill>
                  <a:srgbClr val="111418"/>
                </a:solidFill>
                <a:latin typeface="Consolas"/>
              </a:rPr>
              <a:t> </a:t>
            </a:r>
            <a:r>
              <a:rPr sz="1100" b="1" dirty="0" err="1">
                <a:solidFill>
                  <a:srgbClr val="111418"/>
                </a:solidFill>
                <a:latin typeface="Consolas"/>
              </a:rPr>
              <a:t>формат</a:t>
            </a:r>
            <a:r>
              <a:rPr sz="1100" b="1" dirty="0">
                <a:solidFill>
                  <a:srgbClr val="111418"/>
                </a:solidFill>
                <a:latin typeface="Consolas"/>
              </a:rPr>
              <a:t> GUID"));</a:t>
            </a:r>
          </a:p>
          <a:p>
            <a:pPr>
              <a:spcAft>
                <a:spcPts val="200"/>
              </a:spcAft>
            </a:pPr>
            <a:endParaRPr sz="1100" b="1" dirty="0">
              <a:solidFill>
                <a:srgbClr val="111418"/>
              </a:solidFill>
              <a:latin typeface="Consolas"/>
            </a:endParaRPr>
          </a:p>
          <a:p>
            <a:pPr>
              <a:spcAft>
                <a:spcPts val="200"/>
              </a:spcAft>
            </a:pPr>
            <a:r>
              <a:rPr sz="1100" dirty="0">
                <a:solidFill>
                  <a:srgbClr val="2D3238"/>
                </a:solidFill>
                <a:latin typeface="Consolas"/>
              </a:rPr>
              <a:t>        var </a:t>
            </a:r>
            <a:r>
              <a:rPr sz="1100" dirty="0" err="1">
                <a:solidFill>
                  <a:srgbClr val="2D3238"/>
                </a:solidFill>
                <a:latin typeface="Consolas"/>
              </a:rPr>
              <a:t>dto</a:t>
            </a:r>
            <a:r>
              <a:rPr sz="1100" dirty="0">
                <a:solidFill>
                  <a:srgbClr val="2D3238"/>
                </a:solidFill>
                <a:latin typeface="Consolas"/>
              </a:rPr>
              <a:t> = await _</a:t>
            </a:r>
            <a:r>
              <a:rPr sz="1100" dirty="0" err="1">
                <a:solidFill>
                  <a:srgbClr val="2D3238"/>
                </a:solidFill>
                <a:latin typeface="Consolas"/>
              </a:rPr>
              <a:t>driverRepository.GetDriverWithPosts</a:t>
            </a:r>
            <a:r>
              <a:rPr sz="1100" dirty="0">
                <a:solidFill>
                  <a:srgbClr val="2D3238"/>
                </a:solidFill>
                <a:latin typeface="Consolas"/>
              </a:rPr>
              <a:t>(</a:t>
            </a:r>
            <a:r>
              <a:rPr sz="1100" dirty="0" err="1">
                <a:solidFill>
                  <a:srgbClr val="2D3238"/>
                </a:solidFill>
                <a:latin typeface="Consolas"/>
              </a:rPr>
              <a:t>driverId</a:t>
            </a:r>
            <a:r>
              <a:rPr sz="1100" dirty="0">
                <a:solidFill>
                  <a:srgbClr val="2D3238"/>
                </a:solidFill>
                <a:latin typeface="Consolas"/>
              </a:rPr>
              <a:t>); // EF Core Include(Posts)</a:t>
            </a:r>
          </a:p>
          <a:p>
            <a:pPr>
              <a:spcAft>
                <a:spcPts val="200"/>
              </a:spcAft>
            </a:pPr>
            <a:r>
              <a:rPr sz="1100" dirty="0">
                <a:solidFill>
                  <a:srgbClr val="2D3238"/>
                </a:solidFill>
                <a:latin typeface="Consolas"/>
              </a:rPr>
              <a:t>        if (</a:t>
            </a:r>
            <a:r>
              <a:rPr sz="1100" dirty="0" err="1">
                <a:solidFill>
                  <a:srgbClr val="2D3238"/>
                </a:solidFill>
                <a:latin typeface="Consolas"/>
              </a:rPr>
              <a:t>dto</a:t>
            </a:r>
            <a:r>
              <a:rPr sz="1100" dirty="0">
                <a:solidFill>
                  <a:srgbClr val="2D3238"/>
                </a:solidFill>
                <a:latin typeface="Consolas"/>
              </a:rPr>
              <a:t> == null)</a:t>
            </a:r>
          </a:p>
          <a:p>
            <a:pPr>
              <a:spcAft>
                <a:spcPts val="200"/>
              </a:spcAft>
            </a:pPr>
            <a:r>
              <a:rPr sz="1100" b="1" dirty="0">
                <a:solidFill>
                  <a:srgbClr val="111418"/>
                </a:solidFill>
                <a:latin typeface="Consolas"/>
              </a:rPr>
              <a:t>            throw new </a:t>
            </a:r>
            <a:r>
              <a:rPr sz="1100" b="1" dirty="0" err="1">
                <a:solidFill>
                  <a:srgbClr val="111418"/>
                </a:solidFill>
                <a:latin typeface="Consolas"/>
              </a:rPr>
              <a:t>RpcException</a:t>
            </a:r>
            <a:r>
              <a:rPr sz="1100" b="1" dirty="0">
                <a:solidFill>
                  <a:srgbClr val="111418"/>
                </a:solidFill>
                <a:latin typeface="Consolas"/>
              </a:rPr>
              <a:t>(new Status(</a:t>
            </a:r>
            <a:r>
              <a:rPr sz="1100" b="1" dirty="0" err="1">
                <a:solidFill>
                  <a:srgbClr val="111418"/>
                </a:solidFill>
                <a:latin typeface="Consolas"/>
              </a:rPr>
              <a:t>StatusCode.NotFound</a:t>
            </a:r>
            <a:r>
              <a:rPr sz="1100" b="1" dirty="0">
                <a:solidFill>
                  <a:srgbClr val="111418"/>
                </a:solidFill>
                <a:latin typeface="Consolas"/>
              </a:rPr>
              <a:t>, $"</a:t>
            </a:r>
            <a:r>
              <a:rPr sz="1100" b="1" dirty="0" err="1">
                <a:solidFill>
                  <a:srgbClr val="111418"/>
                </a:solidFill>
                <a:latin typeface="Consolas"/>
              </a:rPr>
              <a:t>Водія</a:t>
            </a:r>
            <a:r>
              <a:rPr sz="1100" b="1" dirty="0">
                <a:solidFill>
                  <a:srgbClr val="111418"/>
                </a:solidFill>
                <a:latin typeface="Consolas"/>
              </a:rPr>
              <a:t> {</a:t>
            </a:r>
            <a:r>
              <a:rPr sz="1100" b="1" dirty="0" err="1">
                <a:solidFill>
                  <a:srgbClr val="111418"/>
                </a:solidFill>
                <a:latin typeface="Consolas"/>
              </a:rPr>
              <a:t>driverId</a:t>
            </a:r>
            <a:r>
              <a:rPr sz="1100" b="1" dirty="0">
                <a:solidFill>
                  <a:srgbClr val="111418"/>
                </a:solidFill>
                <a:latin typeface="Consolas"/>
              </a:rPr>
              <a:t>} </a:t>
            </a:r>
            <a:r>
              <a:rPr sz="1100" b="1" dirty="0" err="1">
                <a:solidFill>
                  <a:srgbClr val="111418"/>
                </a:solidFill>
                <a:latin typeface="Consolas"/>
              </a:rPr>
              <a:t>не</a:t>
            </a:r>
            <a:r>
              <a:rPr sz="1100" b="1" dirty="0">
                <a:solidFill>
                  <a:srgbClr val="111418"/>
                </a:solidFill>
                <a:latin typeface="Consolas"/>
              </a:rPr>
              <a:t> </a:t>
            </a:r>
            <a:r>
              <a:rPr sz="1100" b="1" dirty="0" err="1">
                <a:solidFill>
                  <a:srgbClr val="111418"/>
                </a:solidFill>
                <a:latin typeface="Consolas"/>
              </a:rPr>
              <a:t>знайдено</a:t>
            </a:r>
            <a:r>
              <a:rPr sz="1100" b="1" dirty="0">
                <a:solidFill>
                  <a:srgbClr val="111418"/>
                </a:solidFill>
                <a:latin typeface="Consolas"/>
              </a:rPr>
              <a:t>"));</a:t>
            </a:r>
          </a:p>
          <a:p>
            <a:pPr>
              <a:spcAft>
                <a:spcPts val="200"/>
              </a:spcAft>
            </a:pPr>
            <a:endParaRPr sz="1100" b="1" dirty="0">
              <a:solidFill>
                <a:srgbClr val="111418"/>
              </a:solidFill>
              <a:latin typeface="Consolas"/>
            </a:endParaRPr>
          </a:p>
          <a:p>
            <a:pPr>
              <a:spcAft>
                <a:spcPts val="200"/>
              </a:spcAft>
            </a:pPr>
            <a:r>
              <a:rPr sz="1100" dirty="0">
                <a:solidFill>
                  <a:srgbClr val="2D3238"/>
                </a:solidFill>
                <a:latin typeface="Consolas"/>
              </a:rPr>
              <a:t>        var response = new </a:t>
            </a:r>
            <a:r>
              <a:rPr sz="1100" dirty="0" err="1">
                <a:solidFill>
                  <a:srgbClr val="2D3238"/>
                </a:solidFill>
                <a:latin typeface="Consolas"/>
              </a:rPr>
              <a:t>DriverWithPostsResponse</a:t>
            </a:r>
            <a:r>
              <a:rPr sz="1100" dirty="0">
                <a:solidFill>
                  <a:srgbClr val="2D3238"/>
                </a:solidFill>
                <a:latin typeface="Consolas"/>
              </a:rPr>
              <a:t> {</a:t>
            </a:r>
          </a:p>
          <a:p>
            <a:pPr>
              <a:spcAft>
                <a:spcPts val="200"/>
              </a:spcAft>
            </a:pPr>
            <a:r>
              <a:rPr sz="1100" dirty="0">
                <a:solidFill>
                  <a:srgbClr val="2D3238"/>
                </a:solidFill>
                <a:latin typeface="Consolas"/>
              </a:rPr>
              <a:t>            </a:t>
            </a:r>
            <a:r>
              <a:rPr sz="1100" dirty="0" err="1">
                <a:solidFill>
                  <a:srgbClr val="2D3238"/>
                </a:solidFill>
                <a:latin typeface="Consolas"/>
              </a:rPr>
              <a:t>DriverId</a:t>
            </a:r>
            <a:r>
              <a:rPr sz="1100" dirty="0">
                <a:solidFill>
                  <a:srgbClr val="2D3238"/>
                </a:solidFill>
                <a:latin typeface="Consolas"/>
              </a:rPr>
              <a:t> = </a:t>
            </a:r>
            <a:r>
              <a:rPr sz="1100" dirty="0" err="1">
                <a:solidFill>
                  <a:srgbClr val="2D3238"/>
                </a:solidFill>
                <a:latin typeface="Consolas"/>
              </a:rPr>
              <a:t>dto.DriverId.ToString</a:t>
            </a:r>
            <a:r>
              <a:rPr sz="1100" dirty="0">
                <a:solidFill>
                  <a:srgbClr val="2D3238"/>
                </a:solidFill>
                <a:latin typeface="Consolas"/>
              </a:rPr>
              <a:t>(), FirstName = </a:t>
            </a:r>
            <a:r>
              <a:rPr sz="1100" dirty="0" err="1">
                <a:solidFill>
                  <a:srgbClr val="2D3238"/>
                </a:solidFill>
                <a:latin typeface="Consolas"/>
              </a:rPr>
              <a:t>dto.FirstName</a:t>
            </a:r>
            <a:r>
              <a:rPr sz="1100" dirty="0">
                <a:solidFill>
                  <a:srgbClr val="2D3238"/>
                </a:solidFill>
                <a:latin typeface="Consolas"/>
              </a:rPr>
              <a:t> ?? "", </a:t>
            </a:r>
            <a:r>
              <a:rPr sz="1100" dirty="0" err="1">
                <a:solidFill>
                  <a:srgbClr val="2D3238"/>
                </a:solidFill>
                <a:latin typeface="Consolas"/>
              </a:rPr>
              <a:t>LastName</a:t>
            </a:r>
            <a:r>
              <a:rPr sz="1100" dirty="0">
                <a:solidFill>
                  <a:srgbClr val="2D3238"/>
                </a:solidFill>
                <a:latin typeface="Consolas"/>
              </a:rPr>
              <a:t> = </a:t>
            </a:r>
            <a:r>
              <a:rPr sz="1100" dirty="0" err="1">
                <a:solidFill>
                  <a:srgbClr val="2D3238"/>
                </a:solidFill>
                <a:latin typeface="Consolas"/>
              </a:rPr>
              <a:t>dto.LastName</a:t>
            </a:r>
            <a:r>
              <a:rPr sz="1100" dirty="0">
                <a:solidFill>
                  <a:srgbClr val="2D3238"/>
                </a:solidFill>
                <a:latin typeface="Consolas"/>
              </a:rPr>
              <a:t> ?? ""</a:t>
            </a:r>
          </a:p>
          <a:p>
            <a:pPr>
              <a:spcAft>
                <a:spcPts val="200"/>
              </a:spcAft>
            </a:pPr>
            <a:r>
              <a:rPr sz="1100" dirty="0">
                <a:solidFill>
                  <a:srgbClr val="2D3238"/>
                </a:solidFill>
                <a:latin typeface="Consolas"/>
              </a:rPr>
              <a:t>        };</a:t>
            </a:r>
          </a:p>
          <a:p>
            <a:pPr>
              <a:spcAft>
                <a:spcPts val="200"/>
              </a:spcAft>
            </a:pPr>
            <a:r>
              <a:rPr sz="1100" dirty="0">
                <a:solidFill>
                  <a:srgbClr val="2D3238"/>
                </a:solidFill>
                <a:latin typeface="Consolas"/>
              </a:rPr>
              <a:t>        foreach (var p in </a:t>
            </a:r>
            <a:r>
              <a:rPr sz="1100" dirty="0" err="1">
                <a:solidFill>
                  <a:srgbClr val="2D3238"/>
                </a:solidFill>
                <a:latin typeface="Consolas"/>
              </a:rPr>
              <a:t>dto.Posts</a:t>
            </a:r>
            <a:r>
              <a:rPr sz="1100" dirty="0">
                <a:solidFill>
                  <a:srgbClr val="2D3238"/>
                </a:solidFill>
                <a:latin typeface="Consolas"/>
              </a:rPr>
              <a:t>)</a:t>
            </a:r>
          </a:p>
          <a:p>
            <a:pPr>
              <a:spcAft>
                <a:spcPts val="200"/>
              </a:spcAft>
            </a:pPr>
            <a:r>
              <a:rPr sz="1100" dirty="0">
                <a:solidFill>
                  <a:srgbClr val="2D3238"/>
                </a:solidFill>
                <a:latin typeface="Consolas"/>
              </a:rPr>
              <a:t>            </a:t>
            </a:r>
            <a:r>
              <a:rPr sz="1100" dirty="0" err="1">
                <a:solidFill>
                  <a:srgbClr val="2D3238"/>
                </a:solidFill>
                <a:latin typeface="Consolas"/>
              </a:rPr>
              <a:t>response.Posts.Add</a:t>
            </a:r>
            <a:r>
              <a:rPr sz="1100" dirty="0">
                <a:solidFill>
                  <a:srgbClr val="2D3238"/>
                </a:solidFill>
                <a:latin typeface="Consolas"/>
              </a:rPr>
              <a:t>(new </a:t>
            </a:r>
            <a:r>
              <a:rPr sz="1100" dirty="0" err="1">
                <a:solidFill>
                  <a:srgbClr val="2D3238"/>
                </a:solidFill>
                <a:latin typeface="Consolas"/>
              </a:rPr>
              <a:t>PostAboutDriverResponse</a:t>
            </a:r>
            <a:r>
              <a:rPr sz="1100" dirty="0">
                <a:solidFill>
                  <a:srgbClr val="2D3238"/>
                </a:solidFill>
                <a:latin typeface="Consolas"/>
              </a:rPr>
              <a:t> { Id = </a:t>
            </a:r>
            <a:r>
              <a:rPr sz="1100" dirty="0" err="1">
                <a:solidFill>
                  <a:srgbClr val="2D3238"/>
                </a:solidFill>
                <a:latin typeface="Consolas"/>
              </a:rPr>
              <a:t>p.Id.ToString</a:t>
            </a:r>
            <a:r>
              <a:rPr sz="1100" dirty="0">
                <a:solidFill>
                  <a:srgbClr val="2D3238"/>
                </a:solidFill>
                <a:latin typeface="Consolas"/>
              </a:rPr>
              <a:t>(), Title = </a:t>
            </a:r>
            <a:r>
              <a:rPr sz="1100" dirty="0" err="1">
                <a:solidFill>
                  <a:srgbClr val="2D3238"/>
                </a:solidFill>
                <a:latin typeface="Consolas"/>
              </a:rPr>
              <a:t>p.Title</a:t>
            </a:r>
            <a:r>
              <a:rPr sz="1100" dirty="0">
                <a:solidFill>
                  <a:srgbClr val="2D3238"/>
                </a:solidFill>
                <a:latin typeface="Consolas"/>
              </a:rPr>
              <a:t> ?? "", Content = </a:t>
            </a:r>
            <a:r>
              <a:rPr sz="1100" dirty="0" err="1">
                <a:solidFill>
                  <a:srgbClr val="2D3238"/>
                </a:solidFill>
                <a:latin typeface="Consolas"/>
              </a:rPr>
              <a:t>p.Content</a:t>
            </a:r>
            <a:r>
              <a:rPr sz="1100" dirty="0">
                <a:solidFill>
                  <a:srgbClr val="2D3238"/>
                </a:solidFill>
                <a:latin typeface="Consolas"/>
              </a:rPr>
              <a:t> ?? "" });</a:t>
            </a:r>
          </a:p>
          <a:p>
            <a:pPr>
              <a:spcAft>
                <a:spcPts val="200"/>
              </a:spcAft>
            </a:pPr>
            <a:r>
              <a:rPr sz="1100" dirty="0">
                <a:solidFill>
                  <a:srgbClr val="2D3238"/>
                </a:solidFill>
                <a:latin typeface="Consolas"/>
              </a:rPr>
              <a:t>        return response;</a:t>
            </a:r>
          </a:p>
          <a:p>
            <a:pPr>
              <a:spcAft>
                <a:spcPts val="200"/>
              </a:spcAft>
            </a:pPr>
            <a:r>
              <a:rPr sz="1100" dirty="0">
                <a:solidFill>
                  <a:srgbClr val="2D3238"/>
                </a:solidFill>
                <a:latin typeface="Consolas"/>
              </a:rPr>
              <a:t>    }</a:t>
            </a:r>
          </a:p>
          <a:p>
            <a:pPr>
              <a:spcAft>
                <a:spcPts val="200"/>
              </a:spcAft>
            </a:pPr>
            <a:r>
              <a:rPr sz="1100" dirty="0">
                <a:solidFill>
                  <a:srgbClr val="2D3238"/>
                </a:solidFill>
                <a:latin typeface="Consolas"/>
              </a:rPr>
              <a:t>}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19088"/>
            <a:ext cx="11183112" cy="13716"/>
          </a:xfrm>
          <a:prstGeom prst="rect">
            <a:avLst/>
          </a:prstGeom>
          <a:solidFill>
            <a:srgbClr val="B9B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464808"/>
            <a:ext cx="7721024" cy="369332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050" dirty="0" err="1">
                <a:solidFill>
                  <a:srgbClr val="5F666E"/>
                </a:solidFill>
                <a:latin typeface="Segoe UI"/>
              </a:rPr>
              <a:t>Серверний</a:t>
            </a:r>
            <a:r>
              <a:rPr sz="1050" dirty="0">
                <a:solidFill>
                  <a:srgbClr val="5F666E"/>
                </a:solidFill>
                <a:latin typeface="Segoe UI"/>
              </a:rPr>
              <a:t> </a:t>
            </a:r>
            <a:r>
              <a:rPr sz="1050" dirty="0" err="1">
                <a:solidFill>
                  <a:srgbClr val="5F666E"/>
                </a:solidFill>
                <a:latin typeface="Segoe UI"/>
              </a:rPr>
              <a:t>код</a:t>
            </a:r>
            <a:r>
              <a:rPr sz="1050" dirty="0">
                <a:solidFill>
                  <a:srgbClr val="5F666E"/>
                </a:solidFill>
                <a:latin typeface="Segoe UI"/>
              </a:rPr>
              <a:t>: </a:t>
            </a:r>
            <a:r>
              <a:rPr sz="1050" dirty="0" err="1">
                <a:solidFill>
                  <a:srgbClr val="5F666E"/>
                </a:solidFill>
                <a:latin typeface="Segoe UI"/>
              </a:rPr>
              <a:t>DriversBlogManagement</a:t>
            </a:r>
            <a:r>
              <a:rPr sz="1050" dirty="0">
                <a:solidFill>
                  <a:srgbClr val="5F666E"/>
                </a:solidFill>
                <a:latin typeface="Segoe UI"/>
              </a:rPr>
              <a:t>/</a:t>
            </a:r>
            <a:r>
              <a:rPr sz="1050" dirty="0" err="1">
                <a:solidFill>
                  <a:srgbClr val="5F666E"/>
                </a:solidFill>
                <a:latin typeface="Segoe UI"/>
              </a:rPr>
              <a:t>src</a:t>
            </a:r>
            <a:r>
              <a:rPr sz="1050" dirty="0">
                <a:solidFill>
                  <a:srgbClr val="5F666E"/>
                </a:solidFill>
                <a:latin typeface="Segoe UI"/>
              </a:rPr>
              <a:t>/</a:t>
            </a:r>
            <a:r>
              <a:rPr sz="1050" dirty="0" err="1">
                <a:solidFill>
                  <a:srgbClr val="5F666E"/>
                </a:solidFill>
                <a:latin typeface="Segoe UI"/>
              </a:rPr>
              <a:t>DriversBlogManagement</a:t>
            </a:r>
            <a:r>
              <a:rPr sz="1050" dirty="0">
                <a:solidFill>
                  <a:srgbClr val="5F666E"/>
                </a:solidFill>
                <a:latin typeface="Segoe UI"/>
              </a:rPr>
              <a:t>/Domain/Drivers/Services/DriverRpcService.cs#L31-L108</a:t>
            </a:r>
            <a:r>
              <a:rPr sz="1050" b="1" dirty="0">
                <a:solidFill>
                  <a:srgbClr val="111418"/>
                </a:solidFill>
                <a:latin typeface="Segoe UI"/>
                <a:hlinkClick r:id="rId2"/>
              </a:rPr>
              <a:t>  </a:t>
            </a:r>
            <a:br>
              <a:rPr lang="uk-UA" sz="1050" b="1" dirty="0">
                <a:solidFill>
                  <a:srgbClr val="111418"/>
                </a:solidFill>
                <a:latin typeface="Segoe UI"/>
                <a:hlinkClick r:id="rId2"/>
              </a:rPr>
            </a:br>
            <a:r>
              <a:rPr sz="1050" b="1" dirty="0">
                <a:solidFill>
                  <a:srgbClr val="111418"/>
                </a:solidFill>
                <a:latin typeface="Segoe UI"/>
                <a:hlinkClick r:id="rId2"/>
              </a:rPr>
              <a:t> |   </a:t>
            </a:r>
            <a:r>
              <a:rPr sz="1050" b="1" dirty="0" err="1">
                <a:solidFill>
                  <a:srgbClr val="111418"/>
                </a:solidFill>
                <a:latin typeface="Segoe UI"/>
                <a:hlinkClick r:id="rId2"/>
              </a:rPr>
              <a:t>Джерело</a:t>
            </a:r>
            <a:r>
              <a:rPr sz="1050" b="1" dirty="0">
                <a:solidFill>
                  <a:srgbClr val="111418"/>
                </a:solidFill>
                <a:latin typeface="Segoe UI"/>
                <a:hlinkClick r:id="rId2"/>
              </a:rPr>
              <a:t>: https://learn.microsoft.com/en-us/aspnet/core/grpc/services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49840" y="6464808"/>
            <a:ext cx="1536192" cy="292608"/>
          </a:xfrm>
          <a:prstGeom prst="rect">
            <a:avLst/>
          </a:prstGeom>
          <a:noFill/>
        </p:spPr>
        <p:txBody>
          <a:bodyPr wrap="none" tIns="0" rIns="0">
            <a:spAutoFit/>
          </a:bodyPr>
          <a:lstStyle/>
          <a:p>
            <a:pPr algn="r">
              <a:defRPr sz="1100" b="1">
                <a:solidFill>
                  <a:srgbClr val="111418"/>
                </a:solidFill>
                <a:latin typeface="Segoe UI"/>
              </a:defRPr>
            </a:pPr>
            <a:r>
              <a:t>Слайд 17 з 28</a:t>
            </a:r>
          </a:p>
        </p:txBody>
      </p:sp>
    </p:spTree>
    <p:extLst>
      <p:ext uri="{BB962C8B-B14F-4D97-AF65-F5344CB8AC3E}">
        <p14:creationId xmlns:p14="http://schemas.microsoft.com/office/powerpoint/2010/main" val="21288148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11183112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5F666E"/>
                </a:solidFill>
                <a:latin typeface="Segoe UI"/>
              </a:defRPr>
            </a:pPr>
            <a:r>
              <a:t>РОЗДІЛ 6. КОНВЕЄР ASP.NET CORE ТА EF CORE НА СЕРВЕРІ</a:t>
            </a:r>
          </a:p>
          <a:p>
            <a:pPr>
              <a:defRPr sz="2400" b="1">
                <a:solidFill>
                  <a:srgbClr val="111418"/>
                </a:solidFill>
                <a:latin typeface="Segoe UI"/>
              </a:defRPr>
            </a:pPr>
            <a:r>
              <a:t>Реєстрація gRPC у Program.cs та вибірка постів у DriverRepository.cs</a:t>
            </a:r>
          </a:p>
          <a:p>
            <a:pPr>
              <a:defRPr sz="1350">
                <a:solidFill>
                  <a:srgbClr val="5F666E"/>
                </a:solidFill>
                <a:latin typeface="Segoe UI"/>
              </a:defRPr>
            </a:pPr>
            <a:r>
              <a:t>Як Kestrel маршрутизує HTTP/2-запити до DriverRpcService та виконує JOIN у базі блогу (:1435)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15568"/>
            <a:ext cx="11183112" cy="18288"/>
          </a:xfrm>
          <a:prstGeom prst="rect">
            <a:avLst/>
          </a:prstGeom>
          <a:solidFill>
            <a:srgbClr val="505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1280160"/>
            <a:ext cx="5440680" cy="2880360"/>
          </a:xfrm>
          <a:prstGeom prst="rect">
            <a:avLst/>
          </a:prstGeom>
          <a:solidFill>
            <a:srgbClr val="EBEDF0"/>
          </a:solidFill>
          <a:ln w="15240">
            <a:solidFill>
              <a:srgbClr val="505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28016" rIns="137160" bIns="109728" rtlCol="0" anchor="t"/>
          <a:lstStyle/>
          <a:p>
            <a:pPr algn="ctr">
              <a:spcAft>
                <a:spcPts val="600"/>
              </a:spcAft>
              <a:defRPr sz="1300" b="1">
                <a:solidFill>
                  <a:srgbClr val="111418"/>
                </a:solidFill>
                <a:latin typeface="Segoe UI"/>
              </a:defRPr>
            </a:pPr>
            <a:r>
              <a:rPr sz="1100" dirty="0" err="1"/>
              <a:t>Файл</a:t>
            </a:r>
            <a:r>
              <a:rPr sz="1100" dirty="0"/>
              <a:t>: WebAppServiceConfiguration.cs#L47 </a:t>
            </a:r>
            <a:r>
              <a:rPr sz="1100" dirty="0" err="1"/>
              <a:t>та</a:t>
            </a:r>
            <a:r>
              <a:rPr sz="1100" dirty="0"/>
              <a:t> Program.cs#L39</a:t>
            </a:r>
          </a:p>
          <a:p>
            <a:pPr>
              <a:spcAft>
                <a:spcPts val="200"/>
              </a:spcAft>
            </a:pPr>
            <a:r>
              <a:rPr sz="1100" dirty="0">
                <a:solidFill>
                  <a:srgbClr val="5F666E"/>
                </a:solidFill>
                <a:latin typeface="Consolas"/>
              </a:rPr>
              <a:t>// 1. </a:t>
            </a:r>
            <a:r>
              <a:rPr sz="1100" dirty="0" err="1">
                <a:solidFill>
                  <a:srgbClr val="5F666E"/>
                </a:solidFill>
                <a:latin typeface="Consolas"/>
              </a:rPr>
              <a:t>WebAppServiceConfiguration.cs</a:t>
            </a:r>
            <a:r>
              <a:rPr sz="1100" dirty="0">
                <a:solidFill>
                  <a:srgbClr val="5F666E"/>
                </a:solidFill>
                <a:latin typeface="Consolas"/>
              </a:rPr>
              <a:t> (</a:t>
            </a:r>
            <a:r>
              <a:rPr sz="1100" dirty="0" err="1">
                <a:solidFill>
                  <a:srgbClr val="5F666E"/>
                </a:solidFill>
                <a:latin typeface="Consolas"/>
              </a:rPr>
              <a:t>рядки</a:t>
            </a:r>
            <a:r>
              <a:rPr sz="1100" dirty="0">
                <a:solidFill>
                  <a:srgbClr val="5F666E"/>
                </a:solidFill>
                <a:latin typeface="Consolas"/>
              </a:rPr>
              <a:t> 47–50):</a:t>
            </a:r>
          </a:p>
          <a:p>
            <a:pPr>
              <a:spcAft>
                <a:spcPts val="200"/>
              </a:spcAft>
            </a:pPr>
            <a:r>
              <a:rPr sz="1100" b="1" dirty="0" err="1">
                <a:solidFill>
                  <a:srgbClr val="111418"/>
                </a:solidFill>
                <a:latin typeface="Consolas"/>
              </a:rPr>
              <a:t>builder.Services.AddGrpc</a:t>
            </a:r>
            <a:r>
              <a:rPr sz="1100" b="1" dirty="0">
                <a:solidFill>
                  <a:srgbClr val="111418"/>
                </a:solidFill>
                <a:latin typeface="Consolas"/>
              </a:rPr>
              <a:t>(options =&gt; {</a:t>
            </a:r>
          </a:p>
          <a:p>
            <a:pPr>
              <a:spcAft>
                <a:spcPts val="200"/>
              </a:spcAft>
            </a:pPr>
            <a:r>
              <a:rPr sz="1100" dirty="0">
                <a:solidFill>
                  <a:srgbClr val="2D3238"/>
                </a:solidFill>
                <a:latin typeface="Consolas"/>
              </a:rPr>
              <a:t>    </a:t>
            </a:r>
            <a:r>
              <a:rPr sz="1100" dirty="0" err="1">
                <a:solidFill>
                  <a:srgbClr val="2D3238"/>
                </a:solidFill>
                <a:latin typeface="Consolas"/>
              </a:rPr>
              <a:t>options.EnableDetailedErrors</a:t>
            </a:r>
            <a:r>
              <a:rPr sz="1100" dirty="0">
                <a:solidFill>
                  <a:srgbClr val="2D3238"/>
                </a:solidFill>
                <a:latin typeface="Consolas"/>
              </a:rPr>
              <a:t> = true;</a:t>
            </a:r>
          </a:p>
          <a:p>
            <a:pPr>
              <a:spcAft>
                <a:spcPts val="200"/>
              </a:spcAft>
            </a:pPr>
            <a:r>
              <a:rPr sz="1100" dirty="0">
                <a:solidFill>
                  <a:srgbClr val="2D3238"/>
                </a:solidFill>
                <a:latin typeface="Consolas"/>
              </a:rPr>
              <a:t>});</a:t>
            </a:r>
          </a:p>
          <a:p>
            <a:pPr>
              <a:spcAft>
                <a:spcPts val="200"/>
              </a:spcAft>
            </a:pPr>
            <a:endParaRPr sz="1100" dirty="0">
              <a:solidFill>
                <a:srgbClr val="2D3238"/>
              </a:solidFill>
              <a:latin typeface="Consolas"/>
            </a:endParaRPr>
          </a:p>
          <a:p>
            <a:pPr>
              <a:spcAft>
                <a:spcPts val="200"/>
              </a:spcAft>
            </a:pPr>
            <a:r>
              <a:rPr sz="1100" dirty="0">
                <a:solidFill>
                  <a:srgbClr val="5F666E"/>
                </a:solidFill>
                <a:latin typeface="Consolas"/>
              </a:rPr>
              <a:t>// 2. </a:t>
            </a:r>
            <a:r>
              <a:rPr sz="1100" dirty="0" err="1">
                <a:solidFill>
                  <a:srgbClr val="5F666E"/>
                </a:solidFill>
                <a:latin typeface="Consolas"/>
              </a:rPr>
              <a:t>WebAppServiceConfiguration.cs</a:t>
            </a:r>
            <a:r>
              <a:rPr sz="1100" dirty="0">
                <a:solidFill>
                  <a:srgbClr val="5F666E"/>
                </a:solidFill>
                <a:latin typeface="Consolas"/>
              </a:rPr>
              <a:t> (</a:t>
            </a:r>
            <a:r>
              <a:rPr sz="1100" dirty="0" err="1">
                <a:solidFill>
                  <a:srgbClr val="5F666E"/>
                </a:solidFill>
                <a:latin typeface="Consolas"/>
              </a:rPr>
              <a:t>рядки</a:t>
            </a:r>
            <a:r>
              <a:rPr sz="1100" dirty="0">
                <a:solidFill>
                  <a:srgbClr val="5F666E"/>
                </a:solidFill>
                <a:latin typeface="Consolas"/>
              </a:rPr>
              <a:t> 64–80):</a:t>
            </a:r>
          </a:p>
          <a:p>
            <a:pPr>
              <a:spcAft>
                <a:spcPts val="200"/>
              </a:spcAft>
            </a:pPr>
            <a:r>
              <a:rPr sz="1100" dirty="0">
                <a:solidFill>
                  <a:srgbClr val="5F666E"/>
                </a:solidFill>
                <a:latin typeface="Consolas"/>
              </a:rPr>
              <a:t>// </a:t>
            </a:r>
            <a:r>
              <a:rPr sz="1100" dirty="0" err="1">
                <a:solidFill>
                  <a:srgbClr val="5F666E"/>
                </a:solidFill>
                <a:latin typeface="Consolas"/>
              </a:rPr>
              <a:t>Автоматична</a:t>
            </a:r>
            <a:r>
              <a:rPr sz="1100" dirty="0">
                <a:solidFill>
                  <a:srgbClr val="5F666E"/>
                </a:solidFill>
                <a:latin typeface="Consolas"/>
              </a:rPr>
              <a:t> </a:t>
            </a:r>
            <a:r>
              <a:rPr sz="1100" dirty="0" err="1">
                <a:solidFill>
                  <a:srgbClr val="5F666E"/>
                </a:solidFill>
                <a:latin typeface="Consolas"/>
              </a:rPr>
              <a:t>Scrutor-реєстрація</a:t>
            </a:r>
            <a:r>
              <a:rPr sz="1100" dirty="0">
                <a:solidFill>
                  <a:srgbClr val="5F666E"/>
                </a:solidFill>
                <a:latin typeface="Consolas"/>
              </a:rPr>
              <a:t> </a:t>
            </a:r>
            <a:r>
              <a:rPr sz="1100" dirty="0" err="1">
                <a:solidFill>
                  <a:srgbClr val="5F666E"/>
                </a:solidFill>
                <a:latin typeface="Consolas"/>
              </a:rPr>
              <a:t>за</a:t>
            </a:r>
            <a:r>
              <a:rPr sz="1100" dirty="0">
                <a:solidFill>
                  <a:srgbClr val="5F666E"/>
                </a:solidFill>
                <a:latin typeface="Consolas"/>
              </a:rPr>
              <a:t> </a:t>
            </a:r>
            <a:r>
              <a:rPr sz="1100" dirty="0" err="1">
                <a:solidFill>
                  <a:srgbClr val="5F666E"/>
                </a:solidFill>
                <a:latin typeface="Consolas"/>
              </a:rPr>
              <a:t>конвенцією</a:t>
            </a:r>
            <a:r>
              <a:rPr sz="1100" dirty="0">
                <a:solidFill>
                  <a:srgbClr val="5F666E"/>
                </a:solidFill>
                <a:latin typeface="Consolas"/>
              </a:rPr>
              <a:t> </a:t>
            </a:r>
            <a:r>
              <a:rPr sz="1100" dirty="0" err="1">
                <a:solidFill>
                  <a:srgbClr val="5F666E"/>
                </a:solidFill>
                <a:latin typeface="Consolas"/>
              </a:rPr>
              <a:t>імен</a:t>
            </a:r>
            <a:r>
              <a:rPr sz="1100" dirty="0">
                <a:solidFill>
                  <a:srgbClr val="5F666E"/>
                </a:solidFill>
                <a:latin typeface="Consolas"/>
              </a:rPr>
              <a:t>:</a:t>
            </a:r>
          </a:p>
          <a:p>
            <a:pPr>
              <a:spcAft>
                <a:spcPts val="200"/>
              </a:spcAft>
            </a:pPr>
            <a:r>
              <a:rPr sz="1100" dirty="0">
                <a:solidFill>
                  <a:srgbClr val="5F666E"/>
                </a:solidFill>
                <a:latin typeface="Consolas"/>
              </a:rPr>
              <a:t>// </a:t>
            </a:r>
            <a:r>
              <a:rPr sz="1100" dirty="0" err="1">
                <a:solidFill>
                  <a:srgbClr val="5F666E"/>
                </a:solidFill>
                <a:latin typeface="Consolas"/>
              </a:rPr>
              <a:t>Клас</a:t>
            </a:r>
            <a:r>
              <a:rPr sz="1100" dirty="0">
                <a:solidFill>
                  <a:srgbClr val="5F666E"/>
                </a:solidFill>
                <a:latin typeface="Consolas"/>
              </a:rPr>
              <a:t> </a:t>
            </a:r>
            <a:r>
              <a:rPr sz="1100" dirty="0" err="1">
                <a:solidFill>
                  <a:srgbClr val="5F666E"/>
                </a:solidFill>
                <a:latin typeface="Consolas"/>
              </a:rPr>
              <a:t>DriverRepository</a:t>
            </a:r>
            <a:r>
              <a:rPr sz="1100" dirty="0">
                <a:solidFill>
                  <a:srgbClr val="5F666E"/>
                </a:solidFill>
                <a:latin typeface="Consolas"/>
              </a:rPr>
              <a:t> </a:t>
            </a:r>
            <a:r>
              <a:rPr sz="1100" dirty="0" err="1">
                <a:solidFill>
                  <a:srgbClr val="5F666E"/>
                </a:solidFill>
                <a:latin typeface="Consolas"/>
              </a:rPr>
              <a:t>реєструється</a:t>
            </a:r>
            <a:r>
              <a:rPr sz="1100" dirty="0">
                <a:solidFill>
                  <a:srgbClr val="5F666E"/>
                </a:solidFill>
                <a:latin typeface="Consolas"/>
              </a:rPr>
              <a:t> </a:t>
            </a:r>
            <a:r>
              <a:rPr sz="1100" dirty="0" err="1">
                <a:solidFill>
                  <a:srgbClr val="5F666E"/>
                </a:solidFill>
                <a:latin typeface="Consolas"/>
              </a:rPr>
              <a:t>як</a:t>
            </a:r>
            <a:r>
              <a:rPr sz="1100" dirty="0">
                <a:solidFill>
                  <a:srgbClr val="5F666E"/>
                </a:solidFill>
                <a:latin typeface="Consolas"/>
              </a:rPr>
              <a:t> </a:t>
            </a:r>
            <a:r>
              <a:rPr sz="1100" dirty="0" err="1">
                <a:solidFill>
                  <a:srgbClr val="5F666E"/>
                </a:solidFill>
                <a:latin typeface="Consolas"/>
              </a:rPr>
              <a:t>IDriverRepository</a:t>
            </a:r>
            <a:r>
              <a:rPr sz="1100" dirty="0">
                <a:solidFill>
                  <a:srgbClr val="5F666E"/>
                </a:solidFill>
                <a:latin typeface="Consolas"/>
              </a:rPr>
              <a:t>!</a:t>
            </a:r>
          </a:p>
          <a:p>
            <a:pPr>
              <a:spcAft>
                <a:spcPts val="200"/>
              </a:spcAft>
            </a:pPr>
            <a:r>
              <a:rPr sz="1100" dirty="0" err="1">
                <a:solidFill>
                  <a:srgbClr val="2D3238"/>
                </a:solidFill>
                <a:latin typeface="Consolas"/>
              </a:rPr>
              <a:t>services.AddBoundaryServices</a:t>
            </a:r>
            <a:r>
              <a:rPr sz="1100" dirty="0">
                <a:solidFill>
                  <a:srgbClr val="2D3238"/>
                </a:solidFill>
                <a:latin typeface="Consolas"/>
              </a:rPr>
              <a:t>(</a:t>
            </a:r>
            <a:r>
              <a:rPr sz="1100" dirty="0" err="1">
                <a:solidFill>
                  <a:srgbClr val="2D3238"/>
                </a:solidFill>
                <a:latin typeface="Consolas"/>
              </a:rPr>
              <a:t>Assembly.GetExecutingAssembly</a:t>
            </a:r>
            <a:r>
              <a:rPr sz="1100" dirty="0">
                <a:solidFill>
                  <a:srgbClr val="2D3238"/>
                </a:solidFill>
                <a:latin typeface="Consolas"/>
              </a:rPr>
              <a:t>());</a:t>
            </a:r>
          </a:p>
          <a:p>
            <a:pPr>
              <a:spcAft>
                <a:spcPts val="200"/>
              </a:spcAft>
            </a:pPr>
            <a:endParaRPr sz="1100" dirty="0">
              <a:solidFill>
                <a:srgbClr val="2D3238"/>
              </a:solidFill>
              <a:latin typeface="Consolas"/>
            </a:endParaRPr>
          </a:p>
          <a:p>
            <a:pPr>
              <a:spcAft>
                <a:spcPts val="200"/>
              </a:spcAft>
            </a:pPr>
            <a:r>
              <a:rPr sz="1100" dirty="0">
                <a:solidFill>
                  <a:srgbClr val="5F666E"/>
                </a:solidFill>
                <a:latin typeface="Consolas"/>
              </a:rPr>
              <a:t>// 3. </a:t>
            </a:r>
            <a:r>
              <a:rPr sz="1100" dirty="0" err="1">
                <a:solidFill>
                  <a:srgbClr val="5F666E"/>
                </a:solidFill>
                <a:latin typeface="Consolas"/>
              </a:rPr>
              <a:t>Program.cs</a:t>
            </a:r>
            <a:r>
              <a:rPr sz="1100" dirty="0">
                <a:solidFill>
                  <a:srgbClr val="5F666E"/>
                </a:solidFill>
                <a:latin typeface="Consolas"/>
              </a:rPr>
              <a:t> (</a:t>
            </a:r>
            <a:r>
              <a:rPr sz="1100" dirty="0" err="1">
                <a:solidFill>
                  <a:srgbClr val="5F666E"/>
                </a:solidFill>
                <a:latin typeface="Consolas"/>
              </a:rPr>
              <a:t>рядок</a:t>
            </a:r>
            <a:r>
              <a:rPr sz="1100" dirty="0">
                <a:solidFill>
                  <a:srgbClr val="5F666E"/>
                </a:solidFill>
                <a:latin typeface="Consolas"/>
              </a:rPr>
              <a:t> 39):</a:t>
            </a:r>
          </a:p>
          <a:p>
            <a:pPr>
              <a:spcAft>
                <a:spcPts val="200"/>
              </a:spcAft>
            </a:pPr>
            <a:r>
              <a:rPr sz="1100" b="1" dirty="0" err="1">
                <a:solidFill>
                  <a:srgbClr val="111418"/>
                </a:solidFill>
                <a:latin typeface="Consolas"/>
              </a:rPr>
              <a:t>app.MapGrpcService</a:t>
            </a:r>
            <a:r>
              <a:rPr sz="1100" b="1" dirty="0">
                <a:solidFill>
                  <a:srgbClr val="111418"/>
                </a:solidFill>
                <a:latin typeface="Consolas"/>
              </a:rPr>
              <a:t>&lt;</a:t>
            </a:r>
            <a:r>
              <a:rPr sz="1100" b="1" dirty="0" err="1">
                <a:solidFill>
                  <a:srgbClr val="111418"/>
                </a:solidFill>
                <a:latin typeface="Consolas"/>
              </a:rPr>
              <a:t>DriverRpcService</a:t>
            </a:r>
            <a:r>
              <a:rPr sz="1100" b="1" dirty="0">
                <a:solidFill>
                  <a:srgbClr val="111418"/>
                </a:solidFill>
                <a:latin typeface="Consolas"/>
              </a:rPr>
              <a:t>&gt;();</a:t>
            </a:r>
          </a:p>
        </p:txBody>
      </p:sp>
      <p:sp>
        <p:nvSpPr>
          <p:cNvPr id="5" name="Rectangle 4"/>
          <p:cNvSpPr/>
          <p:nvPr/>
        </p:nvSpPr>
        <p:spPr>
          <a:xfrm>
            <a:off x="6245352" y="1280160"/>
            <a:ext cx="5440680" cy="2971710"/>
          </a:xfrm>
          <a:prstGeom prst="rect">
            <a:avLst/>
          </a:prstGeom>
          <a:solidFill>
            <a:srgbClr val="EBEDF0"/>
          </a:solidFill>
          <a:ln w="15240">
            <a:solidFill>
              <a:srgbClr val="505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28016" rIns="137160" bIns="109728" rtlCol="0" anchor="t"/>
          <a:lstStyle/>
          <a:p>
            <a:pPr algn="ctr">
              <a:spcAft>
                <a:spcPts val="600"/>
              </a:spcAft>
              <a:defRPr sz="1300" b="1">
                <a:solidFill>
                  <a:srgbClr val="111418"/>
                </a:solidFill>
                <a:latin typeface="Segoe UI"/>
              </a:defRPr>
            </a:pPr>
            <a:r>
              <a:rPr sz="1050" dirty="0" err="1"/>
              <a:t>Файл</a:t>
            </a:r>
            <a:r>
              <a:rPr sz="1050" dirty="0"/>
              <a:t>: DriverRepository.cs#L24-L48 (EF Core </a:t>
            </a:r>
            <a:r>
              <a:rPr sz="1050" dirty="0" err="1"/>
              <a:t>проекція</a:t>
            </a:r>
            <a:r>
              <a:rPr sz="1050" dirty="0"/>
              <a:t>)</a:t>
            </a:r>
          </a:p>
          <a:p>
            <a:pPr>
              <a:spcAft>
                <a:spcPts val="200"/>
              </a:spcAft>
            </a:pPr>
            <a:r>
              <a:rPr sz="1000" dirty="0">
                <a:solidFill>
                  <a:srgbClr val="5F666E"/>
                </a:solidFill>
                <a:latin typeface="Consolas"/>
              </a:rPr>
              <a:t>// </a:t>
            </a:r>
            <a:r>
              <a:rPr sz="1000" dirty="0" err="1">
                <a:solidFill>
                  <a:srgbClr val="5F666E"/>
                </a:solidFill>
                <a:latin typeface="Consolas"/>
              </a:rPr>
              <a:t>DriverRepository.cs</a:t>
            </a:r>
            <a:r>
              <a:rPr sz="1000" dirty="0">
                <a:solidFill>
                  <a:srgbClr val="5F666E"/>
                </a:solidFill>
                <a:latin typeface="Consolas"/>
              </a:rPr>
              <a:t> (</a:t>
            </a:r>
            <a:r>
              <a:rPr sz="1000" dirty="0" err="1">
                <a:solidFill>
                  <a:srgbClr val="5F666E"/>
                </a:solidFill>
                <a:latin typeface="Consolas"/>
              </a:rPr>
              <a:t>рядки</a:t>
            </a:r>
            <a:r>
              <a:rPr sz="1000" dirty="0">
                <a:solidFill>
                  <a:srgbClr val="5F666E"/>
                </a:solidFill>
                <a:latin typeface="Consolas"/>
              </a:rPr>
              <a:t> 24–48):</a:t>
            </a:r>
          </a:p>
          <a:p>
            <a:pPr>
              <a:spcAft>
                <a:spcPts val="200"/>
              </a:spcAft>
            </a:pPr>
            <a:r>
              <a:rPr sz="1000" dirty="0">
                <a:solidFill>
                  <a:srgbClr val="2D3238"/>
                </a:solidFill>
                <a:latin typeface="Consolas"/>
              </a:rPr>
              <a:t>public async Task&lt;</a:t>
            </a:r>
            <a:r>
              <a:rPr sz="1000" dirty="0" err="1">
                <a:solidFill>
                  <a:srgbClr val="2D3238"/>
                </a:solidFill>
                <a:latin typeface="Consolas"/>
              </a:rPr>
              <a:t>DriverWithPostsDto</a:t>
            </a:r>
            <a:r>
              <a:rPr sz="1000" dirty="0">
                <a:solidFill>
                  <a:srgbClr val="2D3238"/>
                </a:solidFill>
                <a:latin typeface="Consolas"/>
              </a:rPr>
              <a:t>?&gt; </a:t>
            </a:r>
            <a:r>
              <a:rPr sz="1000" dirty="0" err="1">
                <a:solidFill>
                  <a:srgbClr val="2D3238"/>
                </a:solidFill>
                <a:latin typeface="Consolas"/>
              </a:rPr>
              <a:t>GetDriverWithPosts</a:t>
            </a:r>
            <a:r>
              <a:rPr sz="1000" dirty="0">
                <a:solidFill>
                  <a:srgbClr val="2D3238"/>
                </a:solidFill>
                <a:latin typeface="Consolas"/>
              </a:rPr>
              <a:t>(</a:t>
            </a:r>
            <a:r>
              <a:rPr sz="1000" dirty="0" err="1">
                <a:solidFill>
                  <a:srgbClr val="2D3238"/>
                </a:solidFill>
                <a:latin typeface="Consolas"/>
              </a:rPr>
              <a:t>Guid</a:t>
            </a:r>
            <a:r>
              <a:rPr sz="1000" dirty="0">
                <a:solidFill>
                  <a:srgbClr val="2D3238"/>
                </a:solidFill>
                <a:latin typeface="Consolas"/>
              </a:rPr>
              <a:t> </a:t>
            </a:r>
            <a:r>
              <a:rPr sz="1000" dirty="0" err="1">
                <a:solidFill>
                  <a:srgbClr val="2D3238"/>
                </a:solidFill>
                <a:latin typeface="Consolas"/>
              </a:rPr>
              <a:t>driverId</a:t>
            </a:r>
            <a:r>
              <a:rPr sz="1000" dirty="0">
                <a:solidFill>
                  <a:srgbClr val="2D3238"/>
                </a:solidFill>
                <a:latin typeface="Consolas"/>
              </a:rPr>
              <a:t>)</a:t>
            </a:r>
          </a:p>
          <a:p>
            <a:pPr>
              <a:spcAft>
                <a:spcPts val="200"/>
              </a:spcAft>
            </a:pPr>
            <a:r>
              <a:rPr sz="1000" dirty="0">
                <a:solidFill>
                  <a:srgbClr val="2D3238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</a:pPr>
            <a:r>
              <a:rPr sz="1000" dirty="0">
                <a:solidFill>
                  <a:srgbClr val="2D3238"/>
                </a:solidFill>
                <a:latin typeface="Consolas"/>
              </a:rPr>
              <a:t>    return await _</a:t>
            </a:r>
            <a:r>
              <a:rPr sz="1000" dirty="0" err="1">
                <a:solidFill>
                  <a:srgbClr val="2D3238"/>
                </a:solidFill>
                <a:latin typeface="Consolas"/>
              </a:rPr>
              <a:t>dbContext.Drivers</a:t>
            </a:r>
            <a:endParaRPr sz="1000" dirty="0">
              <a:solidFill>
                <a:srgbClr val="2D3238"/>
              </a:solidFill>
              <a:latin typeface="Consolas"/>
            </a:endParaRPr>
          </a:p>
          <a:p>
            <a:pPr>
              <a:spcAft>
                <a:spcPts val="200"/>
              </a:spcAft>
            </a:pPr>
            <a:r>
              <a:rPr sz="1000" dirty="0">
                <a:solidFill>
                  <a:srgbClr val="2D3238"/>
                </a:solidFill>
                <a:latin typeface="Consolas"/>
              </a:rPr>
              <a:t>        .Include(d =&gt; </a:t>
            </a:r>
            <a:r>
              <a:rPr sz="1000" dirty="0" err="1">
                <a:solidFill>
                  <a:srgbClr val="2D3238"/>
                </a:solidFill>
                <a:latin typeface="Consolas"/>
              </a:rPr>
              <a:t>d.Posts</a:t>
            </a:r>
            <a:r>
              <a:rPr sz="1000" dirty="0">
                <a:solidFill>
                  <a:srgbClr val="2D3238"/>
                </a:solidFill>
                <a:latin typeface="Consolas"/>
              </a:rPr>
              <a:t>)</a:t>
            </a:r>
          </a:p>
          <a:p>
            <a:pPr>
              <a:spcAft>
                <a:spcPts val="200"/>
              </a:spcAft>
            </a:pPr>
            <a:r>
              <a:rPr sz="1000" dirty="0">
                <a:solidFill>
                  <a:srgbClr val="2D3238"/>
                </a:solidFill>
                <a:latin typeface="Consolas"/>
              </a:rPr>
              <a:t>        .Where(d =&gt; </a:t>
            </a:r>
            <a:r>
              <a:rPr sz="1000" dirty="0" err="1">
                <a:solidFill>
                  <a:srgbClr val="2D3238"/>
                </a:solidFill>
                <a:latin typeface="Consolas"/>
              </a:rPr>
              <a:t>d.Id</a:t>
            </a:r>
            <a:r>
              <a:rPr sz="1000" dirty="0">
                <a:solidFill>
                  <a:srgbClr val="2D3238"/>
                </a:solidFill>
                <a:latin typeface="Consolas"/>
              </a:rPr>
              <a:t> == </a:t>
            </a:r>
            <a:r>
              <a:rPr sz="1000" dirty="0" err="1">
                <a:solidFill>
                  <a:srgbClr val="2D3238"/>
                </a:solidFill>
                <a:latin typeface="Consolas"/>
              </a:rPr>
              <a:t>driverId</a:t>
            </a:r>
            <a:r>
              <a:rPr sz="1000" dirty="0">
                <a:solidFill>
                  <a:srgbClr val="2D3238"/>
                </a:solidFill>
                <a:latin typeface="Consolas"/>
              </a:rPr>
              <a:t>)</a:t>
            </a:r>
          </a:p>
          <a:p>
            <a:pPr>
              <a:spcAft>
                <a:spcPts val="200"/>
              </a:spcAft>
            </a:pPr>
            <a:r>
              <a:rPr sz="1000" dirty="0">
                <a:solidFill>
                  <a:srgbClr val="2D3238"/>
                </a:solidFill>
                <a:latin typeface="Consolas"/>
              </a:rPr>
              <a:t>        .Select(d =&gt; new </a:t>
            </a:r>
            <a:r>
              <a:rPr sz="1000" dirty="0" err="1">
                <a:solidFill>
                  <a:srgbClr val="2D3238"/>
                </a:solidFill>
                <a:latin typeface="Consolas"/>
              </a:rPr>
              <a:t>DriverWithPostsDto</a:t>
            </a:r>
            <a:r>
              <a:rPr sz="1000" dirty="0">
                <a:solidFill>
                  <a:srgbClr val="2D3238"/>
                </a:solidFill>
                <a:latin typeface="Consolas"/>
              </a:rPr>
              <a:t> {</a:t>
            </a:r>
          </a:p>
          <a:p>
            <a:pPr>
              <a:spcAft>
                <a:spcPts val="200"/>
              </a:spcAft>
            </a:pPr>
            <a:r>
              <a:rPr sz="1000" dirty="0">
                <a:solidFill>
                  <a:srgbClr val="2D3238"/>
                </a:solidFill>
                <a:latin typeface="Consolas"/>
              </a:rPr>
              <a:t>            </a:t>
            </a:r>
            <a:r>
              <a:rPr sz="1000" dirty="0" err="1">
                <a:solidFill>
                  <a:srgbClr val="2D3238"/>
                </a:solidFill>
                <a:latin typeface="Consolas"/>
              </a:rPr>
              <a:t>DriverId</a:t>
            </a:r>
            <a:r>
              <a:rPr sz="1000" dirty="0">
                <a:solidFill>
                  <a:srgbClr val="2D3238"/>
                </a:solidFill>
                <a:latin typeface="Consolas"/>
              </a:rPr>
              <a:t> = </a:t>
            </a:r>
            <a:r>
              <a:rPr sz="1000" dirty="0" err="1">
                <a:solidFill>
                  <a:srgbClr val="2D3238"/>
                </a:solidFill>
                <a:latin typeface="Consolas"/>
              </a:rPr>
              <a:t>d.Id</a:t>
            </a:r>
            <a:r>
              <a:rPr sz="1000" dirty="0">
                <a:solidFill>
                  <a:srgbClr val="2D3238"/>
                </a:solidFill>
                <a:latin typeface="Consolas"/>
              </a:rPr>
              <a:t>,</a:t>
            </a:r>
          </a:p>
          <a:p>
            <a:pPr>
              <a:spcAft>
                <a:spcPts val="200"/>
              </a:spcAft>
            </a:pPr>
            <a:r>
              <a:rPr sz="1000" dirty="0">
                <a:solidFill>
                  <a:srgbClr val="2D3238"/>
                </a:solidFill>
                <a:latin typeface="Consolas"/>
              </a:rPr>
              <a:t>            FirstName = </a:t>
            </a:r>
            <a:r>
              <a:rPr sz="1000" dirty="0" err="1">
                <a:solidFill>
                  <a:srgbClr val="2D3238"/>
                </a:solidFill>
                <a:latin typeface="Consolas"/>
              </a:rPr>
              <a:t>d.FirstName</a:t>
            </a:r>
            <a:r>
              <a:rPr sz="1000" dirty="0">
                <a:solidFill>
                  <a:srgbClr val="2D3238"/>
                </a:solidFill>
                <a:latin typeface="Consolas"/>
              </a:rPr>
              <a:t>,</a:t>
            </a:r>
          </a:p>
          <a:p>
            <a:pPr>
              <a:spcAft>
                <a:spcPts val="200"/>
              </a:spcAft>
            </a:pPr>
            <a:r>
              <a:rPr sz="1000" dirty="0">
                <a:solidFill>
                  <a:srgbClr val="2D3238"/>
                </a:solidFill>
                <a:latin typeface="Consolas"/>
              </a:rPr>
              <a:t>            </a:t>
            </a:r>
            <a:r>
              <a:rPr sz="1000" dirty="0" err="1">
                <a:solidFill>
                  <a:srgbClr val="2D3238"/>
                </a:solidFill>
                <a:latin typeface="Consolas"/>
              </a:rPr>
              <a:t>LastName</a:t>
            </a:r>
            <a:r>
              <a:rPr sz="1000" dirty="0">
                <a:solidFill>
                  <a:srgbClr val="2D3238"/>
                </a:solidFill>
                <a:latin typeface="Consolas"/>
              </a:rPr>
              <a:t> = </a:t>
            </a:r>
            <a:r>
              <a:rPr sz="1000" dirty="0" err="1">
                <a:solidFill>
                  <a:srgbClr val="2D3238"/>
                </a:solidFill>
                <a:latin typeface="Consolas"/>
              </a:rPr>
              <a:t>d.LastName</a:t>
            </a:r>
            <a:r>
              <a:rPr sz="1000" dirty="0">
                <a:solidFill>
                  <a:srgbClr val="2D3238"/>
                </a:solidFill>
                <a:latin typeface="Consolas"/>
              </a:rPr>
              <a:t>,</a:t>
            </a:r>
          </a:p>
          <a:p>
            <a:pPr>
              <a:spcAft>
                <a:spcPts val="200"/>
              </a:spcAft>
            </a:pPr>
            <a:r>
              <a:rPr sz="1000" dirty="0">
                <a:solidFill>
                  <a:srgbClr val="2D3238"/>
                </a:solidFill>
                <a:latin typeface="Consolas"/>
              </a:rPr>
              <a:t>            Posts = </a:t>
            </a:r>
            <a:r>
              <a:rPr sz="1000" dirty="0" err="1">
                <a:solidFill>
                  <a:srgbClr val="2D3238"/>
                </a:solidFill>
                <a:latin typeface="Consolas"/>
              </a:rPr>
              <a:t>d.Posts.Select</a:t>
            </a:r>
            <a:r>
              <a:rPr sz="1000" dirty="0">
                <a:solidFill>
                  <a:srgbClr val="2D3238"/>
                </a:solidFill>
                <a:latin typeface="Consolas"/>
              </a:rPr>
              <a:t>(p =&gt; new </a:t>
            </a:r>
            <a:r>
              <a:rPr sz="1000" dirty="0" err="1">
                <a:solidFill>
                  <a:srgbClr val="2D3238"/>
                </a:solidFill>
                <a:latin typeface="Consolas"/>
              </a:rPr>
              <a:t>PostDto</a:t>
            </a:r>
            <a:r>
              <a:rPr sz="1000" dirty="0">
                <a:solidFill>
                  <a:srgbClr val="2D3238"/>
                </a:solidFill>
                <a:latin typeface="Consolas"/>
              </a:rPr>
              <a:t> {</a:t>
            </a:r>
          </a:p>
          <a:p>
            <a:pPr>
              <a:spcAft>
                <a:spcPts val="200"/>
              </a:spcAft>
            </a:pPr>
            <a:r>
              <a:rPr sz="1000" dirty="0">
                <a:solidFill>
                  <a:srgbClr val="2D3238"/>
                </a:solidFill>
                <a:latin typeface="Consolas"/>
              </a:rPr>
              <a:t>                Id = </a:t>
            </a:r>
            <a:r>
              <a:rPr sz="1000" dirty="0" err="1">
                <a:solidFill>
                  <a:srgbClr val="2D3238"/>
                </a:solidFill>
                <a:latin typeface="Consolas"/>
              </a:rPr>
              <a:t>p.Id</a:t>
            </a:r>
            <a:r>
              <a:rPr sz="1000" dirty="0">
                <a:solidFill>
                  <a:srgbClr val="2D3238"/>
                </a:solidFill>
                <a:latin typeface="Consolas"/>
              </a:rPr>
              <a:t>, Title = </a:t>
            </a:r>
            <a:r>
              <a:rPr sz="1000" dirty="0" err="1">
                <a:solidFill>
                  <a:srgbClr val="2D3238"/>
                </a:solidFill>
                <a:latin typeface="Consolas"/>
              </a:rPr>
              <a:t>p.Title</a:t>
            </a:r>
            <a:r>
              <a:rPr sz="1000" dirty="0">
                <a:solidFill>
                  <a:srgbClr val="2D3238"/>
                </a:solidFill>
                <a:latin typeface="Consolas"/>
              </a:rPr>
              <a:t>, Content = </a:t>
            </a:r>
            <a:r>
              <a:rPr sz="1000" dirty="0" err="1">
                <a:solidFill>
                  <a:srgbClr val="2D3238"/>
                </a:solidFill>
                <a:latin typeface="Consolas"/>
              </a:rPr>
              <a:t>p.Content</a:t>
            </a:r>
            <a:endParaRPr sz="1000" dirty="0">
              <a:solidFill>
                <a:srgbClr val="2D3238"/>
              </a:solidFill>
              <a:latin typeface="Consolas"/>
            </a:endParaRPr>
          </a:p>
          <a:p>
            <a:pPr>
              <a:spcAft>
                <a:spcPts val="200"/>
              </a:spcAft>
            </a:pPr>
            <a:r>
              <a:rPr sz="1000" dirty="0">
                <a:solidFill>
                  <a:srgbClr val="2D3238"/>
                </a:solidFill>
                <a:latin typeface="Consolas"/>
              </a:rPr>
              <a:t>            }).</a:t>
            </a:r>
            <a:r>
              <a:rPr sz="1000" dirty="0" err="1">
                <a:solidFill>
                  <a:srgbClr val="2D3238"/>
                </a:solidFill>
                <a:latin typeface="Consolas"/>
              </a:rPr>
              <a:t>ToList</a:t>
            </a:r>
            <a:r>
              <a:rPr sz="1000" dirty="0">
                <a:solidFill>
                  <a:srgbClr val="2D3238"/>
                </a:solidFill>
                <a:latin typeface="Consolas"/>
              </a:rPr>
              <a:t>()</a:t>
            </a:r>
          </a:p>
          <a:p>
            <a:pPr>
              <a:spcAft>
                <a:spcPts val="200"/>
              </a:spcAft>
            </a:pPr>
            <a:r>
              <a:rPr sz="1000" dirty="0">
                <a:solidFill>
                  <a:srgbClr val="2D3238"/>
                </a:solidFill>
                <a:latin typeface="Consolas"/>
              </a:rPr>
              <a:t>        }).</a:t>
            </a:r>
            <a:r>
              <a:rPr sz="1000" dirty="0" err="1">
                <a:solidFill>
                  <a:srgbClr val="2D3238"/>
                </a:solidFill>
                <a:latin typeface="Consolas"/>
              </a:rPr>
              <a:t>FirstOrDefaultAsync</a:t>
            </a:r>
            <a:r>
              <a:rPr sz="1000" dirty="0">
                <a:solidFill>
                  <a:srgbClr val="2D3238"/>
                </a:solidFill>
                <a:latin typeface="Consolas"/>
              </a:rPr>
              <a:t>();</a:t>
            </a:r>
          </a:p>
          <a:p>
            <a:pPr>
              <a:spcAft>
                <a:spcPts val="200"/>
              </a:spcAft>
            </a:pPr>
            <a:r>
              <a:rPr sz="1000" dirty="0">
                <a:solidFill>
                  <a:srgbClr val="2D3238"/>
                </a:solidFill>
                <a:latin typeface="Consolas"/>
              </a:rPr>
              <a:t>}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4466844"/>
            <a:ext cx="11183112" cy="1965960"/>
          </a:xfrm>
          <a:prstGeom prst="rect">
            <a:avLst/>
          </a:prstGeom>
          <a:solidFill>
            <a:srgbClr val="F6F7F8"/>
          </a:solidFill>
          <a:ln w="12700">
            <a:solidFill>
              <a:srgbClr val="B9B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46304" rIns="182880" bIns="128016" rtlCol="0" anchor="t"/>
          <a:lstStyle/>
          <a:p>
            <a:pPr algn="ctr">
              <a:spcAft>
                <a:spcPts val="800"/>
              </a:spcAft>
              <a:defRPr sz="1650" b="1">
                <a:solidFill>
                  <a:srgbClr val="111418"/>
                </a:solidFill>
                <a:latin typeface="Segoe UI"/>
              </a:defRPr>
            </a:pPr>
            <a:r>
              <a:rPr dirty="0" err="1"/>
              <a:t>Життєвий</a:t>
            </a:r>
            <a:r>
              <a:rPr dirty="0"/>
              <a:t> </a:t>
            </a:r>
            <a:r>
              <a:rPr dirty="0" err="1"/>
              <a:t>цикл</a:t>
            </a:r>
            <a:r>
              <a:rPr dirty="0"/>
              <a:t> </a:t>
            </a:r>
            <a:r>
              <a:rPr dirty="0" err="1"/>
              <a:t>gRPC-сервісу</a:t>
            </a:r>
            <a:r>
              <a:rPr dirty="0"/>
              <a:t> в ASP.NET Core</a:t>
            </a:r>
          </a:p>
          <a:p>
            <a:pPr>
              <a:spcAft>
                <a:spcPts val="600"/>
              </a:spcAft>
            </a:pPr>
            <a:r>
              <a:rPr sz="1400" b="1" dirty="0">
                <a:solidFill>
                  <a:srgbClr val="111418"/>
                </a:solidFill>
                <a:latin typeface="Segoe UI"/>
              </a:rPr>
              <a:t>• Scoped-</a:t>
            </a:r>
            <a:r>
              <a:rPr sz="1400" b="1" dirty="0" err="1">
                <a:solidFill>
                  <a:srgbClr val="111418"/>
                </a:solidFill>
                <a:latin typeface="Segoe UI"/>
              </a:rPr>
              <a:t>життєвий</a:t>
            </a:r>
            <a:r>
              <a:rPr sz="1400" b="1" dirty="0">
                <a:solidFill>
                  <a:srgbClr val="111418"/>
                </a:solidFill>
                <a:latin typeface="Segoe UI"/>
              </a:rPr>
              <a:t> </a:t>
            </a:r>
            <a:r>
              <a:rPr sz="1400" b="1" dirty="0" err="1">
                <a:solidFill>
                  <a:srgbClr val="111418"/>
                </a:solidFill>
                <a:latin typeface="Segoe UI"/>
              </a:rPr>
              <a:t>цикл</a:t>
            </a:r>
            <a:r>
              <a:rPr sz="1400" b="1" dirty="0">
                <a:solidFill>
                  <a:srgbClr val="111418"/>
                </a:solidFill>
                <a:latin typeface="Segoe UI"/>
              </a:rPr>
              <a:t>: </a:t>
            </a:r>
            <a:r>
              <a:rPr sz="1400" b="0" dirty="0" err="1">
                <a:solidFill>
                  <a:srgbClr val="2D3238"/>
                </a:solidFill>
                <a:latin typeface="Segoe UI"/>
              </a:rPr>
              <a:t>екземпляр</a:t>
            </a:r>
            <a:r>
              <a:rPr sz="1400" b="0" dirty="0">
                <a:solidFill>
                  <a:srgbClr val="2D3238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2D3238"/>
                </a:solidFill>
                <a:latin typeface="Segoe UI"/>
              </a:rPr>
              <a:t>DriverRpcService</a:t>
            </a:r>
            <a:r>
              <a:rPr sz="1400" b="0" dirty="0">
                <a:solidFill>
                  <a:srgbClr val="2D3238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2D3238"/>
                </a:solidFill>
                <a:latin typeface="Segoe UI"/>
              </a:rPr>
              <a:t>створюється</a:t>
            </a:r>
            <a:r>
              <a:rPr sz="1400" b="0" dirty="0">
                <a:solidFill>
                  <a:srgbClr val="2D3238"/>
                </a:solidFill>
                <a:latin typeface="Segoe UI"/>
              </a:rPr>
              <a:t> DI-</a:t>
            </a:r>
            <a:r>
              <a:rPr sz="1400" b="0" dirty="0" err="1">
                <a:solidFill>
                  <a:srgbClr val="2D3238"/>
                </a:solidFill>
                <a:latin typeface="Segoe UI"/>
              </a:rPr>
              <a:t>контейнером</a:t>
            </a:r>
            <a:r>
              <a:rPr sz="1400" b="0" dirty="0">
                <a:solidFill>
                  <a:srgbClr val="2D3238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2D3238"/>
                </a:solidFill>
                <a:latin typeface="Segoe UI"/>
              </a:rPr>
              <a:t>на</a:t>
            </a:r>
            <a:r>
              <a:rPr sz="1400" b="0" dirty="0">
                <a:solidFill>
                  <a:srgbClr val="2D3238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2D3238"/>
                </a:solidFill>
                <a:latin typeface="Segoe UI"/>
              </a:rPr>
              <a:t>кожен</a:t>
            </a:r>
            <a:r>
              <a:rPr sz="1400" b="0" dirty="0">
                <a:solidFill>
                  <a:srgbClr val="2D3238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2D3238"/>
                </a:solidFill>
                <a:latin typeface="Segoe UI"/>
              </a:rPr>
              <a:t>вхідний</a:t>
            </a:r>
            <a:r>
              <a:rPr sz="1400" b="0" dirty="0">
                <a:solidFill>
                  <a:srgbClr val="2D3238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2D3238"/>
                </a:solidFill>
                <a:latin typeface="Segoe UI"/>
              </a:rPr>
              <a:t>gRPC-виклик</a:t>
            </a:r>
            <a:r>
              <a:rPr sz="1400" b="0" dirty="0">
                <a:solidFill>
                  <a:srgbClr val="2D3238"/>
                </a:solidFill>
                <a:latin typeface="Segoe UI"/>
              </a:rPr>
              <a:t> (</a:t>
            </a:r>
            <a:r>
              <a:rPr sz="1400" b="0" dirty="0" err="1">
                <a:solidFill>
                  <a:srgbClr val="2D3238"/>
                </a:solidFill>
                <a:latin typeface="Segoe UI"/>
              </a:rPr>
              <a:t>так</a:t>
            </a:r>
            <a:r>
              <a:rPr sz="1400" b="0" dirty="0">
                <a:solidFill>
                  <a:srgbClr val="2D3238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2D3238"/>
                </a:solidFill>
                <a:latin typeface="Segoe UI"/>
              </a:rPr>
              <a:t>само</a:t>
            </a:r>
            <a:r>
              <a:rPr sz="1400" b="0" dirty="0">
                <a:solidFill>
                  <a:srgbClr val="2D3238"/>
                </a:solidFill>
                <a:latin typeface="Segoe UI"/>
              </a:rPr>
              <a:t>, </a:t>
            </a:r>
            <a:r>
              <a:rPr sz="1400" b="0" dirty="0" err="1">
                <a:solidFill>
                  <a:srgbClr val="2D3238"/>
                </a:solidFill>
                <a:latin typeface="Segoe UI"/>
              </a:rPr>
              <a:t>як</a:t>
            </a:r>
            <a:r>
              <a:rPr sz="1400" b="0" dirty="0">
                <a:solidFill>
                  <a:srgbClr val="2D3238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2D3238"/>
                </a:solidFill>
                <a:latin typeface="Segoe UI"/>
              </a:rPr>
              <a:t>звичайний</a:t>
            </a:r>
            <a:r>
              <a:rPr sz="1400" b="0" dirty="0">
                <a:solidFill>
                  <a:srgbClr val="2D3238"/>
                </a:solidFill>
                <a:latin typeface="Segoe UI"/>
              </a:rPr>
              <a:t> Controller), </a:t>
            </a:r>
            <a:r>
              <a:rPr sz="1400" b="0" dirty="0" err="1">
                <a:solidFill>
                  <a:srgbClr val="2D3238"/>
                </a:solidFill>
                <a:latin typeface="Segoe UI"/>
              </a:rPr>
              <a:t>тому</a:t>
            </a:r>
            <a:r>
              <a:rPr sz="1400" b="0" dirty="0">
                <a:solidFill>
                  <a:srgbClr val="2D3238"/>
                </a:solidFill>
                <a:latin typeface="Segoe UI"/>
              </a:rPr>
              <a:t> в </a:t>
            </a:r>
            <a:r>
              <a:rPr sz="1400" b="0" dirty="0" err="1">
                <a:solidFill>
                  <a:srgbClr val="2D3238"/>
                </a:solidFill>
                <a:latin typeface="Segoe UI"/>
              </a:rPr>
              <a:t>нього</a:t>
            </a:r>
            <a:r>
              <a:rPr sz="1400" b="0" dirty="0">
                <a:solidFill>
                  <a:srgbClr val="2D3238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2D3238"/>
                </a:solidFill>
                <a:latin typeface="Segoe UI"/>
              </a:rPr>
              <a:t>безпечно</a:t>
            </a:r>
            <a:r>
              <a:rPr sz="1400" b="0" dirty="0">
                <a:solidFill>
                  <a:srgbClr val="2D3238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2D3238"/>
                </a:solidFill>
                <a:latin typeface="Segoe UI"/>
              </a:rPr>
              <a:t>інжектувати</a:t>
            </a:r>
            <a:r>
              <a:rPr sz="1400" b="0" dirty="0">
                <a:solidFill>
                  <a:srgbClr val="2D3238"/>
                </a:solidFill>
                <a:latin typeface="Segoe UI"/>
              </a:rPr>
              <a:t> Scoped-</a:t>
            </a:r>
            <a:r>
              <a:rPr sz="1400" b="0" dirty="0" err="1">
                <a:solidFill>
                  <a:srgbClr val="2D3238"/>
                </a:solidFill>
                <a:latin typeface="Segoe UI"/>
              </a:rPr>
              <a:t>репозиторій</a:t>
            </a:r>
            <a:r>
              <a:rPr sz="1400" b="0" dirty="0">
                <a:solidFill>
                  <a:srgbClr val="2D3238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2D3238"/>
                </a:solidFill>
                <a:latin typeface="Segoe UI"/>
              </a:rPr>
              <a:t>IDriverRepository</a:t>
            </a:r>
            <a:r>
              <a:rPr sz="1400" b="0" dirty="0">
                <a:solidFill>
                  <a:srgbClr val="2D3238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2D3238"/>
                </a:solidFill>
                <a:latin typeface="Segoe UI"/>
              </a:rPr>
              <a:t>та</a:t>
            </a:r>
            <a:r>
              <a:rPr sz="1400" b="0" dirty="0">
                <a:solidFill>
                  <a:srgbClr val="2D3238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2D3238"/>
                </a:solidFill>
                <a:latin typeface="Segoe UI"/>
              </a:rPr>
              <a:t>DbContext</a:t>
            </a:r>
            <a:r>
              <a:rPr sz="1400" b="0" dirty="0">
                <a:solidFill>
                  <a:srgbClr val="2D3238"/>
                </a:solidFill>
                <a:latin typeface="Segoe UI"/>
              </a:rPr>
              <a:t>.</a:t>
            </a:r>
          </a:p>
          <a:p>
            <a:pPr>
              <a:spcAft>
                <a:spcPts val="400"/>
              </a:spcAft>
            </a:pPr>
            <a:r>
              <a:rPr sz="1400" b="1" dirty="0">
                <a:solidFill>
                  <a:srgbClr val="111418"/>
                </a:solidFill>
                <a:latin typeface="Segoe UI"/>
              </a:rPr>
              <a:t>• </a:t>
            </a:r>
            <a:r>
              <a:rPr sz="1400" b="1" dirty="0" err="1">
                <a:solidFill>
                  <a:srgbClr val="111418"/>
                </a:solidFill>
                <a:latin typeface="Segoe UI"/>
              </a:rPr>
              <a:t>Спільний</a:t>
            </a:r>
            <a:r>
              <a:rPr sz="1400" b="1" dirty="0">
                <a:solidFill>
                  <a:srgbClr val="111418"/>
                </a:solidFill>
                <a:latin typeface="Segoe UI"/>
              </a:rPr>
              <a:t> </a:t>
            </a:r>
            <a:r>
              <a:rPr sz="1400" b="1" dirty="0" err="1">
                <a:solidFill>
                  <a:srgbClr val="111418"/>
                </a:solidFill>
                <a:latin typeface="Segoe UI"/>
              </a:rPr>
              <a:t>конвеєр</a:t>
            </a:r>
            <a:r>
              <a:rPr sz="1400" b="1" dirty="0">
                <a:solidFill>
                  <a:srgbClr val="111418"/>
                </a:solidFill>
                <a:latin typeface="Segoe UI"/>
              </a:rPr>
              <a:t> Middleware: </a:t>
            </a:r>
            <a:r>
              <a:rPr sz="1400" b="0" dirty="0" err="1">
                <a:solidFill>
                  <a:srgbClr val="2D3238"/>
                </a:solidFill>
                <a:latin typeface="Segoe UI"/>
              </a:rPr>
              <a:t>виклик</a:t>
            </a:r>
            <a:r>
              <a:rPr sz="1400" b="0" dirty="0">
                <a:solidFill>
                  <a:srgbClr val="2D3238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2D3238"/>
                </a:solidFill>
                <a:latin typeface="Segoe UI"/>
              </a:rPr>
              <a:t>app.MapGrpcService</a:t>
            </a:r>
            <a:r>
              <a:rPr sz="1400" b="0" dirty="0">
                <a:solidFill>
                  <a:srgbClr val="2D3238"/>
                </a:solidFill>
                <a:latin typeface="Segoe UI"/>
              </a:rPr>
              <a:t>&lt;</a:t>
            </a:r>
            <a:r>
              <a:rPr sz="1400" b="0" dirty="0" err="1">
                <a:solidFill>
                  <a:srgbClr val="2D3238"/>
                </a:solidFill>
                <a:latin typeface="Segoe UI"/>
              </a:rPr>
              <a:t>DriverRpcService</a:t>
            </a:r>
            <a:r>
              <a:rPr sz="1400" b="0" dirty="0">
                <a:solidFill>
                  <a:srgbClr val="2D3238"/>
                </a:solidFill>
                <a:latin typeface="Segoe UI"/>
              </a:rPr>
              <a:t>&gt;() </a:t>
            </a:r>
            <a:r>
              <a:rPr sz="1400" b="0" dirty="0" err="1">
                <a:solidFill>
                  <a:srgbClr val="2D3238"/>
                </a:solidFill>
                <a:latin typeface="Segoe UI"/>
              </a:rPr>
              <a:t>інтегрується</a:t>
            </a:r>
            <a:r>
              <a:rPr sz="1400" b="0" dirty="0">
                <a:solidFill>
                  <a:srgbClr val="2D3238"/>
                </a:solidFill>
                <a:latin typeface="Segoe UI"/>
              </a:rPr>
              <a:t> в </a:t>
            </a:r>
            <a:r>
              <a:rPr sz="1400" b="0" dirty="0" err="1">
                <a:solidFill>
                  <a:srgbClr val="2D3238"/>
                </a:solidFill>
                <a:latin typeface="Segoe UI"/>
              </a:rPr>
              <a:t>стандартний</a:t>
            </a:r>
            <a:r>
              <a:rPr sz="1400" b="0" dirty="0">
                <a:solidFill>
                  <a:srgbClr val="2D3238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2D3238"/>
                </a:solidFill>
                <a:latin typeface="Segoe UI"/>
              </a:rPr>
              <a:t>конвеєр</a:t>
            </a:r>
            <a:r>
              <a:rPr sz="1400" b="0" dirty="0">
                <a:solidFill>
                  <a:srgbClr val="2D3238"/>
                </a:solidFill>
                <a:latin typeface="Segoe UI"/>
              </a:rPr>
              <a:t> ASP.NET Core (</a:t>
            </a:r>
            <a:r>
              <a:rPr sz="1400" b="0" dirty="0" err="1">
                <a:solidFill>
                  <a:srgbClr val="2D3238"/>
                </a:solidFill>
                <a:latin typeface="Segoe UI"/>
              </a:rPr>
              <a:t>підтримує</a:t>
            </a:r>
            <a:r>
              <a:rPr sz="1400" b="0" dirty="0">
                <a:solidFill>
                  <a:srgbClr val="2D3238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2D3238"/>
                </a:solidFill>
                <a:latin typeface="Segoe UI"/>
              </a:rPr>
              <a:t>логування</a:t>
            </a:r>
            <a:r>
              <a:rPr sz="1400" b="0" dirty="0">
                <a:solidFill>
                  <a:srgbClr val="2D3238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2D3238"/>
                </a:solidFill>
                <a:latin typeface="Segoe UI"/>
              </a:rPr>
              <a:t>Serilog</a:t>
            </a:r>
            <a:r>
              <a:rPr sz="1400" b="0" dirty="0">
                <a:solidFill>
                  <a:srgbClr val="2D3238"/>
                </a:solidFill>
                <a:latin typeface="Segoe UI"/>
              </a:rPr>
              <a:t>, </a:t>
            </a:r>
            <a:r>
              <a:rPr sz="1400" b="0" dirty="0" err="1">
                <a:solidFill>
                  <a:srgbClr val="2D3238"/>
                </a:solidFill>
                <a:latin typeface="Segoe UI"/>
              </a:rPr>
              <a:t>OpenTelemetry-трасування</a:t>
            </a:r>
            <a:r>
              <a:rPr sz="1400" b="0" dirty="0">
                <a:solidFill>
                  <a:srgbClr val="2D3238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2D3238"/>
                </a:solidFill>
                <a:latin typeface="Segoe UI"/>
              </a:rPr>
              <a:t>та</a:t>
            </a:r>
            <a:r>
              <a:rPr sz="1400" b="0" dirty="0">
                <a:solidFill>
                  <a:srgbClr val="2D3238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2D3238"/>
                </a:solidFill>
                <a:latin typeface="Segoe UI"/>
              </a:rPr>
              <a:t>авторизацію</a:t>
            </a:r>
            <a:r>
              <a:rPr sz="1400" b="0" dirty="0">
                <a:solidFill>
                  <a:srgbClr val="2D3238"/>
                </a:solidFill>
                <a:latin typeface="Segoe UI"/>
              </a:rPr>
              <a:t>).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19088"/>
            <a:ext cx="11183112" cy="13716"/>
          </a:xfrm>
          <a:prstGeom prst="rect">
            <a:avLst/>
          </a:prstGeom>
          <a:solidFill>
            <a:srgbClr val="B9B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464808"/>
            <a:ext cx="9509760" cy="29260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050">
                <a:solidFill>
                  <a:srgbClr val="5F666E"/>
                </a:solidFill>
                <a:latin typeface="Segoe UI"/>
              </a:rPr>
              <a:t>Файли: Program.cs#L39, WebAppServiceConfiguration.cs#L47, DriverRepository.cs#L24</a:t>
            </a:r>
            <a:r>
              <a:rPr sz="1050" b="1">
                <a:solidFill>
                  <a:srgbClr val="111418"/>
                </a:solidFill>
                <a:latin typeface="Segoe UI"/>
                <a:hlinkClick r:id="rId2"/>
              </a:rPr>
              <a:t>   |   Джерело: https://learn.microsoft.com/en-us/aspnet/core/grpc/aspnetcore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49840" y="6464808"/>
            <a:ext cx="1536192" cy="292608"/>
          </a:xfrm>
          <a:prstGeom prst="rect">
            <a:avLst/>
          </a:prstGeom>
          <a:noFill/>
        </p:spPr>
        <p:txBody>
          <a:bodyPr wrap="none" tIns="0" rIns="0">
            <a:spAutoFit/>
          </a:bodyPr>
          <a:lstStyle/>
          <a:p>
            <a:pPr algn="r">
              <a:defRPr sz="1100" b="1">
                <a:solidFill>
                  <a:srgbClr val="111418"/>
                </a:solidFill>
                <a:latin typeface="Segoe UI"/>
              </a:defRPr>
            </a:pPr>
            <a:r>
              <a:t>Слайд 18 з 28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11183112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5F666E"/>
                </a:solidFill>
                <a:latin typeface="Segoe UI"/>
              </a:defRPr>
            </a:pPr>
            <a:r>
              <a:t>РОЗДІЛ 6. ІНЖЕНЕРНИЙ РОЗБІР РЕАЛЬНОГО ІНЦИДЕНТУ</a:t>
            </a:r>
          </a:p>
          <a:p>
            <a:pPr>
              <a:defRPr sz="2400" b="1">
                <a:solidFill>
                  <a:srgbClr val="111418"/>
                </a:solidFill>
                <a:latin typeface="Segoe UI"/>
              </a:defRPr>
            </a:pPr>
            <a:r>
              <a:t>Діагностика помилки DI-контейнера (grpc.status_code = 2 Unknown) через Aspire Traces</a:t>
            </a:r>
          </a:p>
          <a:p>
            <a:pPr>
              <a:defRPr sz="1350">
                <a:solidFill>
                  <a:srgbClr val="5F666E"/>
                </a:solidFill>
                <a:latin typeface="Segoe UI"/>
              </a:defRPr>
            </a:pPr>
            <a:r>
              <a:t>Як прихований збій інжекції залежностей маскувався під порожній список постів водія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15568"/>
            <a:ext cx="11183112" cy="18288"/>
          </a:xfrm>
          <a:prstGeom prst="rect">
            <a:avLst/>
          </a:prstGeom>
          <a:solidFill>
            <a:srgbClr val="505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1280160"/>
            <a:ext cx="5440680" cy="4937760"/>
          </a:xfrm>
          <a:prstGeom prst="rect">
            <a:avLst/>
          </a:prstGeom>
          <a:solidFill>
            <a:srgbClr val="F6F7F8"/>
          </a:solidFill>
          <a:ln w="12700">
            <a:solidFill>
              <a:srgbClr val="B9B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46304" rIns="182880" bIns="128016" rtlCol="0" anchor="t"/>
          <a:lstStyle/>
          <a:p>
            <a:pPr algn="ctr">
              <a:spcAft>
                <a:spcPts val="800"/>
              </a:spcAft>
              <a:defRPr sz="1650" b="1">
                <a:solidFill>
                  <a:srgbClr val="111418"/>
                </a:solidFill>
                <a:latin typeface="Segoe UI"/>
              </a:defRPr>
            </a:pPr>
            <a:r>
              <a:t>1. Симптоми та причина помилки (До виправлення)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11418"/>
                </a:solidFill>
                <a:latin typeface="Segoe UI"/>
              </a:rPr>
              <a:t>• Що бачив клієнт:
</a:t>
            </a:r>
            <a:r>
              <a:rPr sz="1400" b="0">
                <a:solidFill>
                  <a:srgbClr val="2D3238"/>
                </a:solidFill>
                <a:latin typeface="Segoe UI"/>
              </a:rPr>
              <a:t>запит GET /api/drivers/{id} повертав HTTP 200 OK із порожнім масивом posts: [] навіть тоді, коли в базі блогу існували пости.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11418"/>
                </a:solidFill>
                <a:latin typeface="Segoe UI"/>
              </a:rPr>
              <a:t>• Що показала траса в Aspire Dashboard:
</a:t>
            </a:r>
            <a:r>
              <a:rPr sz="1400" b="0">
                <a:solidFill>
                  <a:srgbClr val="2D3238"/>
                </a:solidFill>
                <a:latin typeface="Segoe UI"/>
              </a:rPr>
              <a:t>спан POST /DriverRpc/GetDriverWithPosts мав статус HTTP 200, але атрибут grpc.status_code = 2 (Unknown), і під ним НЕ було жодного SQL-спану!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111418"/>
                </a:solidFill>
                <a:latin typeface="Segoe UI"/>
              </a:rPr>
              <a:t>• Корінь проблеми:
</a:t>
            </a:r>
            <a:r>
              <a:rPr sz="1400" b="0">
                <a:solidFill>
                  <a:srgbClr val="2D3238"/>
                </a:solidFill>
                <a:latin typeface="Segoe UI"/>
              </a:rPr>
              <a:t>конструктор приймав конкретний клас DriverRepository, а метод AddBoundaryServices реєструє сервіси в DI за інтерфейсом IDriverRepository. Контейнер падав із InvalidOperationException ще до входу в метод.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45352" y="1280160"/>
            <a:ext cx="5440680" cy="4937760"/>
          </a:xfrm>
          <a:prstGeom prst="rect">
            <a:avLst/>
          </a:prstGeom>
          <a:solidFill>
            <a:srgbClr val="F6F7F8"/>
          </a:solidFill>
          <a:ln w="12700">
            <a:solidFill>
              <a:srgbClr val="B9B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46304" rIns="182880" bIns="128016" rtlCol="0" anchor="t"/>
          <a:lstStyle/>
          <a:p>
            <a:pPr algn="ctr">
              <a:spcAft>
                <a:spcPts val="800"/>
              </a:spcAft>
              <a:defRPr sz="1650" b="1">
                <a:solidFill>
                  <a:srgbClr val="111418"/>
                </a:solidFill>
                <a:latin typeface="Segoe UI"/>
              </a:defRPr>
            </a:pPr>
            <a:r>
              <a:t>2. Виправлення в DriverRpcService.cs#L34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11418"/>
                </a:solidFill>
                <a:latin typeface="Segoe UI"/>
              </a:rPr>
              <a:t>• Було (помилково):
</a:t>
            </a:r>
            <a:r>
              <a:rPr sz="1400" b="0">
                <a:solidFill>
                  <a:srgbClr val="2D3238"/>
                </a:solidFill>
                <a:latin typeface="Segoe UI"/>
              </a:rPr>
              <a:t>public DriverRpcService(DriverRepository repo)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11418"/>
                </a:solidFill>
                <a:latin typeface="Segoe UI"/>
              </a:rPr>
              <a:t>• Стало (правильно, рядок 34):
</a:t>
            </a:r>
            <a:r>
              <a:rPr sz="1400" b="0">
                <a:solidFill>
                  <a:srgbClr val="2D3238"/>
                </a:solidFill>
                <a:latin typeface="Segoe UI"/>
              </a:rPr>
              <a:t>public DriverRpcService(IDriverRepository repo)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111418"/>
                </a:solidFill>
                <a:latin typeface="Segoe UI"/>
              </a:rPr>
              <a:t>• Результат у Aspire Traces після виправлення:
</a:t>
            </a:r>
            <a:r>
              <a:rPr sz="1400" b="0">
                <a:solidFill>
                  <a:srgbClr val="2D3238"/>
                </a:solidFill>
                <a:latin typeface="Segoe UI"/>
              </a:rPr>
              <a:t>1) grpc.status_code = 0 (OK);
2) Під спаном gRPC з'явився дочірній SQL-спан до бази dev_driversblogmanagement (:1435);
3) Клієнт отримує реальний список постів водія за ~18 мс.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4711" y="6316010"/>
            <a:ext cx="7906973" cy="369332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050" dirty="0" err="1">
                <a:solidFill>
                  <a:srgbClr val="5F666E"/>
                </a:solidFill>
                <a:latin typeface="Segoe UI"/>
              </a:rPr>
              <a:t>Детальний</a:t>
            </a:r>
            <a:r>
              <a:rPr sz="1050" dirty="0">
                <a:solidFill>
                  <a:srgbClr val="5F666E"/>
                </a:solidFill>
                <a:latin typeface="Segoe UI"/>
              </a:rPr>
              <a:t> </a:t>
            </a:r>
            <a:r>
              <a:rPr sz="1050" dirty="0" err="1">
                <a:solidFill>
                  <a:srgbClr val="5F666E"/>
                </a:solidFill>
                <a:latin typeface="Segoe UI"/>
              </a:rPr>
              <a:t>розбір</a:t>
            </a:r>
            <a:r>
              <a:rPr sz="1050" dirty="0">
                <a:solidFill>
                  <a:srgbClr val="5F666E"/>
                </a:solidFill>
                <a:latin typeface="Segoe UI"/>
              </a:rPr>
              <a:t> </a:t>
            </a:r>
            <a:r>
              <a:rPr sz="1050" dirty="0" err="1">
                <a:solidFill>
                  <a:srgbClr val="5F666E"/>
                </a:solidFill>
                <a:latin typeface="Segoe UI"/>
              </a:rPr>
              <a:t>кейсу</a:t>
            </a:r>
            <a:r>
              <a:rPr sz="1050" dirty="0">
                <a:solidFill>
                  <a:srgbClr val="5F666E"/>
                </a:solidFill>
                <a:latin typeface="Segoe UI"/>
              </a:rPr>
              <a:t>: 02-02-Communication-Documentation/03_Patterns_Synchronous_gRPC_Communication.md (</a:t>
            </a:r>
            <a:r>
              <a:rPr sz="1050" dirty="0" err="1">
                <a:solidFill>
                  <a:srgbClr val="5F666E"/>
                </a:solidFill>
                <a:latin typeface="Segoe UI"/>
              </a:rPr>
              <a:t>Розділ</a:t>
            </a:r>
            <a:r>
              <a:rPr sz="1050" dirty="0">
                <a:solidFill>
                  <a:srgbClr val="5F666E"/>
                </a:solidFill>
                <a:latin typeface="Segoe UI"/>
              </a:rPr>
              <a:t> 3.2)</a:t>
            </a:r>
            <a:r>
              <a:rPr sz="1050" b="1" dirty="0">
                <a:solidFill>
                  <a:srgbClr val="111418"/>
                </a:solidFill>
                <a:latin typeface="Segoe UI"/>
                <a:hlinkClick r:id="rId2"/>
              </a:rPr>
              <a:t>  </a:t>
            </a:r>
            <a:br>
              <a:rPr lang="uk-UA" sz="1050" b="1" dirty="0">
                <a:solidFill>
                  <a:srgbClr val="111418"/>
                </a:solidFill>
                <a:latin typeface="Segoe UI"/>
                <a:hlinkClick r:id="rId2"/>
              </a:rPr>
            </a:br>
            <a:r>
              <a:rPr sz="1050" b="1" dirty="0">
                <a:solidFill>
                  <a:srgbClr val="111418"/>
                </a:solidFill>
                <a:latin typeface="Segoe UI"/>
                <a:hlinkClick r:id="rId2"/>
              </a:rPr>
              <a:t> |   </a:t>
            </a:r>
            <a:r>
              <a:rPr sz="1050" b="1" dirty="0" err="1">
                <a:solidFill>
                  <a:srgbClr val="111418"/>
                </a:solidFill>
                <a:latin typeface="Segoe UI"/>
                <a:hlinkClick r:id="rId2"/>
              </a:rPr>
              <a:t>Джерело</a:t>
            </a:r>
            <a:r>
              <a:rPr sz="1050" b="1" dirty="0">
                <a:solidFill>
                  <a:srgbClr val="111418"/>
                </a:solidFill>
                <a:latin typeface="Segoe UI"/>
                <a:hlinkClick r:id="rId2"/>
              </a:rPr>
              <a:t>: https://learn.microsoft.com/en-us/aspnet/core/grpc/diagnostics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49840" y="6464808"/>
            <a:ext cx="1536192" cy="292608"/>
          </a:xfrm>
          <a:prstGeom prst="rect">
            <a:avLst/>
          </a:prstGeom>
          <a:noFill/>
        </p:spPr>
        <p:txBody>
          <a:bodyPr wrap="none" tIns="0" rIns="0">
            <a:spAutoFit/>
          </a:bodyPr>
          <a:lstStyle/>
          <a:p>
            <a:pPr algn="r">
              <a:defRPr sz="1100" b="1">
                <a:solidFill>
                  <a:srgbClr val="111418"/>
                </a:solidFill>
                <a:latin typeface="Segoe UI"/>
              </a:defRPr>
            </a:pPr>
            <a:r>
              <a:t>Слайд 19 з 28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11183112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5F666E"/>
                </a:solidFill>
                <a:latin typeface="Segoe UI"/>
              </a:defRPr>
            </a:pPr>
            <a:r>
              <a:t>РОЗДІЛ 6. ОБРОБКА ПОМИЛОК У ПРОТОКОЛІ GRPC</a:t>
            </a:r>
          </a:p>
          <a:p>
            <a:pPr>
              <a:defRPr sz="2400" b="1">
                <a:solidFill>
                  <a:srgbClr val="111418"/>
                </a:solidFill>
                <a:latin typeface="Segoe UI"/>
              </a:defRPr>
            </a:pPr>
            <a:r>
              <a:t>Канонічна таблиця статус-кодів gRPC (StatusCode) та стратегії їх обробки</a:t>
            </a:r>
          </a:p>
          <a:p>
            <a:pPr>
              <a:defRPr sz="1350">
                <a:solidFill>
                  <a:srgbClr val="5F666E"/>
                </a:solidFill>
                <a:latin typeface="Segoe UI"/>
              </a:defRPr>
            </a:pPr>
            <a:r>
              <a:t>Чому в gRPC HTTP-статус майже завжди 200 OK, а реальний код помилки передається у трейлері grpc-status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15568"/>
            <a:ext cx="11183112" cy="18288"/>
          </a:xfrm>
          <a:prstGeom prst="rect">
            <a:avLst/>
          </a:prstGeom>
          <a:solidFill>
            <a:srgbClr val="505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280160"/>
          <a:ext cx="11183112" cy="4892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282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11505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11418"/>
                          </a:solidFill>
                          <a:latin typeface="Segoe UI"/>
                        </a:defRPr>
                      </a:pPr>
                      <a:r>
                        <a:t>Код</a:t>
                      </a:r>
                    </a:p>
                  </a:txBody>
                  <a:tcPr marL="109728" marR="109728" marT="54864" marB="54864" anchor="ctr">
                    <a:solidFill>
                      <a:srgbClr val="DCE0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11418"/>
                          </a:solidFill>
                          <a:latin typeface="Segoe UI"/>
                        </a:defRPr>
                      </a:pPr>
                      <a:r>
                        <a:t>Константа StatusCode</a:t>
                      </a:r>
                    </a:p>
                  </a:txBody>
                  <a:tcPr marL="109728" marR="109728" marT="54864" marB="54864" anchor="ctr">
                    <a:solidFill>
                      <a:srgbClr val="DCE0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11418"/>
                          </a:solidFill>
                          <a:latin typeface="Segoe UI"/>
                        </a:defRPr>
                      </a:pPr>
                      <a:r>
                        <a:t>Аналог у HTTP</a:t>
                      </a:r>
                    </a:p>
                  </a:txBody>
                  <a:tcPr marL="109728" marR="109728" marT="54864" marB="54864" anchor="ctr">
                    <a:solidFill>
                      <a:srgbClr val="DCE0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11418"/>
                          </a:solidFill>
                          <a:latin typeface="Segoe UI"/>
                        </a:defRPr>
                      </a:pPr>
                      <a:r>
                        <a:t>Коли виникає у CargoDeliveryService та як обробляється клієнтом</a:t>
                      </a:r>
                    </a:p>
                  </a:txBody>
                  <a:tcPr marL="109728" marR="109728" marT="54864" marB="54864" anchor="ctr">
                    <a:solidFill>
                      <a:srgbClr val="DCE0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1505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111418"/>
                          </a:solidFill>
                          <a:latin typeface="Segoe UI"/>
                        </a:defRPr>
                      </a:pPr>
                      <a:r>
                        <a:t>0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OK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200 OK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Успішне виконання GetDriverWithPosts — повертається картка водія та колекція постів.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1505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111418"/>
                          </a:solidFill>
                          <a:latin typeface="Segoe UI"/>
                        </a:defRPr>
                      </a:pPr>
                      <a:r>
                        <a:t>2</a:t>
                      </a:r>
                    </a:p>
                  </a:txBody>
                  <a:tcPr marL="109728" marR="109728" marT="54864" marB="54864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Unknown</a:t>
                      </a:r>
                    </a:p>
                  </a:txBody>
                  <a:tcPr marL="109728" marR="109728" marT="54864" marB="54864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500 Internal Error</a:t>
                      </a:r>
                    </a:p>
                  </a:txBody>
                  <a:tcPr marL="109728" marR="109728" marT="54864" marB="54864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Неперехоплений виняток поза бізнес-логікою (наприклад, помилка DI-контейнера при створенні сервісу).</a:t>
                      </a:r>
                    </a:p>
                  </a:txBody>
                  <a:tcPr marL="109728" marR="109728" marT="54864" marB="54864" anchor="ctr">
                    <a:solidFill>
                      <a:srgbClr val="F6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1505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111418"/>
                          </a:solidFill>
                          <a:latin typeface="Segoe UI"/>
                        </a:defRPr>
                      </a:pPr>
                      <a:r>
                        <a:t>3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InvalidArgument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400 Bad Request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Кидається у DriverRpcService.cs#L66, якщо request.DriverId не парситься через Guid.TryParse. Повтор безглуздий.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1505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111418"/>
                          </a:solidFill>
                          <a:latin typeface="Segoe UI"/>
                        </a:defRPr>
                      </a:pPr>
                      <a:r>
                        <a:t>4</a:t>
                      </a:r>
                    </a:p>
                  </a:txBody>
                  <a:tcPr marL="109728" marR="109728" marT="54864" marB="54864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DeadlineExceeded</a:t>
                      </a:r>
                    </a:p>
                  </a:txBody>
                  <a:tcPr marL="109728" marR="109728" marT="54864" marB="54864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504 Gateway Timeout</a:t>
                      </a:r>
                    </a:p>
                  </a:txBody>
                  <a:tcPr marL="109728" marR="109728" marT="54864" marB="54864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Перевищено ліміт AttemptTimeout (1.0 с) або TotalRequestTimeout (3.0 с). Спрацьовує Polly Retry або Fallback.</a:t>
                      </a:r>
                    </a:p>
                  </a:txBody>
                  <a:tcPr marL="109728" marR="109728" marT="54864" marB="54864" anchor="ctr">
                    <a:solidFill>
                      <a:srgbClr val="F6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1505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111418"/>
                          </a:solidFill>
                          <a:latin typeface="Segoe UI"/>
                        </a:defRPr>
                      </a:pPr>
                      <a:r>
                        <a:t>5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NotFound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404 Not Found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Кидається у DriverRpcService.cs#L73, якщо водія ще немає у тіньовій таблиці блогу (Eventual Consistency).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11505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111418"/>
                          </a:solidFill>
                          <a:latin typeface="Segoe UI"/>
                        </a:defRPr>
                      </a:pPr>
                      <a:r>
                        <a:t>13</a:t>
                      </a:r>
                    </a:p>
                  </a:txBody>
                  <a:tcPr marL="109728" marR="109728" marT="54864" marB="54864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Internal</a:t>
                      </a:r>
                    </a:p>
                  </a:txBody>
                  <a:tcPr marL="109728" marR="109728" marT="54864" marB="54864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500 Internal Error</a:t>
                      </a:r>
                    </a:p>
                  </a:txBody>
                  <a:tcPr marL="109728" marR="109728" marT="54864" marB="54864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Кидається у блоці catch (Exception) у DriverRpcService.cs#L105 при збої SQL Server або внутрішній помилці.</a:t>
                      </a:r>
                    </a:p>
                  </a:txBody>
                  <a:tcPr marL="109728" marR="109728" marT="54864" marB="54864" anchor="ctr">
                    <a:solidFill>
                      <a:srgbClr val="F6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11505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111418"/>
                          </a:solidFill>
                          <a:latin typeface="Segoe UI"/>
                        </a:defRPr>
                      </a:pPr>
                      <a:r>
                        <a:t>14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Unavailable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503 Unavailable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Сервер DriversBlogManagement (:5002) зупинений або недоступний. Polly виконує 1 повтор через 200 мс -&gt; Fallback.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02920" y="6419088"/>
            <a:ext cx="11183112" cy="13716"/>
          </a:xfrm>
          <a:prstGeom prst="rect">
            <a:avLst/>
          </a:prstGeom>
          <a:solidFill>
            <a:srgbClr val="B9B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464808"/>
            <a:ext cx="9509760" cy="29260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050">
                <a:solidFill>
                  <a:srgbClr val="5F666E"/>
                </a:solidFill>
                <a:latin typeface="Segoe UI"/>
              </a:rPr>
              <a:t>Офіційний довідник кодів статусу gRPC</a:t>
            </a:r>
            <a:r>
              <a:rPr sz="1050" b="1">
                <a:solidFill>
                  <a:srgbClr val="111418"/>
                </a:solidFill>
                <a:latin typeface="Segoe UI"/>
                <a:hlinkClick r:id="rId2"/>
              </a:rPr>
              <a:t>   |   Джерело: https://grpc.io/docs/guides/status-codes/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49840" y="6464808"/>
            <a:ext cx="1536192" cy="292608"/>
          </a:xfrm>
          <a:prstGeom prst="rect">
            <a:avLst/>
          </a:prstGeom>
          <a:noFill/>
        </p:spPr>
        <p:txBody>
          <a:bodyPr wrap="none" tIns="0" rIns="0">
            <a:spAutoFit/>
          </a:bodyPr>
          <a:lstStyle/>
          <a:p>
            <a:pPr algn="r">
              <a:defRPr sz="1100" b="1">
                <a:solidFill>
                  <a:srgbClr val="111418"/>
                </a:solidFill>
                <a:latin typeface="Segoe UI"/>
              </a:defRPr>
            </a:pPr>
            <a:r>
              <a:t>Слайд 20 з 28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11183112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5F666E"/>
                </a:solidFill>
                <a:latin typeface="Segoe UI"/>
              </a:defRPr>
            </a:pPr>
            <a:r>
              <a:t>РОЗДІЛ 7. КОНФІГУРАЦІЯ GRPC-КЛІЄНТА (DRIVERSMANAGEMENT :5001)</a:t>
            </a:r>
          </a:p>
          <a:p>
            <a:pPr>
              <a:defRPr sz="2400" b="1">
                <a:solidFill>
                  <a:srgbClr val="111418"/>
                </a:solidFill>
                <a:latin typeface="Segoe UI"/>
              </a:defRPr>
            </a:pPr>
            <a:r>
              <a:t>Реєстрація типізованого клієнта AddGrpcClient та .NET Aspire Service Discovery</a:t>
            </a:r>
          </a:p>
          <a:p>
            <a:pPr>
              <a:defRPr sz="1350">
                <a:solidFill>
                  <a:srgbClr val="5F666E"/>
                </a:solidFill>
                <a:latin typeface="Segoe UI"/>
              </a:defRPr>
            </a:pPr>
            <a:r>
              <a:t>Шлях: DriversManagement/src/DriversManagement/Extensions/Services/WebAppServiceConfiguration.cs#L58-L106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15568"/>
            <a:ext cx="11183112" cy="18288"/>
          </a:xfrm>
          <a:prstGeom prst="rect">
            <a:avLst/>
          </a:prstGeom>
          <a:solidFill>
            <a:srgbClr val="505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1417320"/>
            <a:ext cx="5760720" cy="4937760"/>
          </a:xfrm>
          <a:prstGeom prst="rect">
            <a:avLst/>
          </a:prstGeom>
          <a:solidFill>
            <a:srgbClr val="EBEDF0"/>
          </a:solidFill>
          <a:ln w="15240">
            <a:solidFill>
              <a:srgbClr val="505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28016" rIns="137160" bIns="109728" rtlCol="0" anchor="t"/>
          <a:lstStyle/>
          <a:p>
            <a:pPr algn="ctr">
              <a:spcAft>
                <a:spcPts val="600"/>
              </a:spcAft>
              <a:defRPr sz="1300" b="1">
                <a:solidFill>
                  <a:srgbClr val="111418"/>
                </a:solidFill>
                <a:latin typeface="Segoe UI"/>
              </a:defRPr>
            </a:pPr>
            <a:r>
              <a:t>Файл: WebAppServiceConfiguration.cs (рядки 82–97)</a:t>
            </a:r>
          </a:p>
          <a:p>
            <a:pPr>
              <a:spcAft>
                <a:spcPts val="200"/>
              </a:spcAft>
            </a:pPr>
            <a:r>
              <a:rPr sz="1180">
                <a:solidFill>
                  <a:srgbClr val="5F666E"/>
                </a:solidFill>
                <a:latin typeface="Consolas"/>
              </a:rPr>
              <a:t>// WebAppServiceConfiguration.cs (рядки 82–97):</a:t>
            </a:r>
          </a:p>
          <a:p>
            <a:pPr>
              <a:spcAft>
                <a:spcPts val="200"/>
              </a:spcAft>
            </a:pPr>
            <a:r>
              <a:rPr sz="1180">
                <a:solidFill>
                  <a:srgbClr val="2D3238"/>
                </a:solidFill>
                <a:latin typeface="Consolas"/>
              </a:rPr>
              <a:t>var grpcServerAddress = configuration["services:driversblogmanagement:https:0"]</a:t>
            </a:r>
          </a:p>
          <a:p>
            <a:pPr>
              <a:spcAft>
                <a:spcPts val="200"/>
              </a:spcAft>
            </a:pPr>
            <a:r>
              <a:rPr sz="1180">
                <a:solidFill>
                  <a:srgbClr val="2D3238"/>
                </a:solidFill>
                <a:latin typeface="Consolas"/>
              </a:rPr>
              <a:t>    ?? configuration["GrpcServer:Address"]</a:t>
            </a:r>
          </a:p>
          <a:p>
            <a:pPr>
              <a:spcAft>
                <a:spcPts val="200"/>
              </a:spcAft>
            </a:pPr>
            <a:r>
              <a:rPr sz="1180">
                <a:solidFill>
                  <a:srgbClr val="2D3238"/>
                </a:solidFill>
                <a:latin typeface="Consolas"/>
              </a:rPr>
              <a:t>    ?? "https://localhost:5002";</a:t>
            </a:r>
          </a:p>
          <a:p>
            <a:pPr>
              <a:spcAft>
                <a:spcPts val="200"/>
              </a:spcAft>
            </a:pPr>
            <a:endParaRPr sz="1180">
              <a:solidFill>
                <a:srgbClr val="2D3238"/>
              </a:solidFill>
              <a:latin typeface="Consolas"/>
            </a:endParaRPr>
          </a:p>
          <a:p>
            <a:pPr>
              <a:spcAft>
                <a:spcPts val="200"/>
              </a:spcAft>
            </a:pPr>
            <a:r>
              <a:rPr sz="1180" b="1">
                <a:solidFill>
                  <a:srgbClr val="111418"/>
                </a:solidFill>
                <a:latin typeface="Consolas"/>
              </a:rPr>
              <a:t>services.AddGrpcClient&lt;DriverRpc.DriverRpcClient&gt;(o =&gt;</a:t>
            </a:r>
          </a:p>
          <a:p>
            <a:pPr>
              <a:spcAft>
                <a:spcPts val="200"/>
              </a:spcAft>
            </a:pPr>
            <a:r>
              <a:rPr sz="1180">
                <a:solidFill>
                  <a:srgbClr val="2D3238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</a:pPr>
            <a:r>
              <a:rPr sz="1180">
                <a:solidFill>
                  <a:srgbClr val="5F666E"/>
                </a:solidFill>
                <a:latin typeface="Consolas"/>
              </a:rPr>
              <a:t>    // Під Aspire використовуємо логічне ім'я "https://driversblogmanagement"</a:t>
            </a:r>
          </a:p>
          <a:p>
            <a:pPr>
              <a:spcAft>
                <a:spcPts val="200"/>
              </a:spcAft>
            </a:pPr>
            <a:r>
              <a:rPr sz="1180">
                <a:solidFill>
                  <a:srgbClr val="2D3238"/>
                </a:solidFill>
                <a:latin typeface="Consolas"/>
              </a:rPr>
              <a:t>    o.Address = new Uri(</a:t>
            </a:r>
          </a:p>
          <a:p>
            <a:pPr>
              <a:spcAft>
                <a:spcPts val="200"/>
              </a:spcAft>
            </a:pPr>
            <a:r>
              <a:rPr sz="1180">
                <a:solidFill>
                  <a:srgbClr val="2D3238"/>
                </a:solidFill>
                <a:latin typeface="Consolas"/>
              </a:rPr>
              <a:t>        configuration["services:driversblogmanagement:https:0"] != null</a:t>
            </a:r>
          </a:p>
          <a:p>
            <a:pPr>
              <a:spcAft>
                <a:spcPts val="200"/>
              </a:spcAft>
            </a:pPr>
            <a:r>
              <a:rPr sz="1180">
                <a:solidFill>
                  <a:srgbClr val="2D3238"/>
                </a:solidFill>
                <a:latin typeface="Consolas"/>
              </a:rPr>
              <a:t>            ? "https://driversblogmanagement"</a:t>
            </a:r>
          </a:p>
          <a:p>
            <a:pPr>
              <a:spcAft>
                <a:spcPts val="200"/>
              </a:spcAft>
            </a:pPr>
            <a:r>
              <a:rPr sz="1180">
                <a:solidFill>
                  <a:srgbClr val="2D3238"/>
                </a:solidFill>
                <a:latin typeface="Consolas"/>
              </a:rPr>
              <a:t>            : grpcServerAddress);</a:t>
            </a:r>
          </a:p>
          <a:p>
            <a:pPr>
              <a:spcAft>
                <a:spcPts val="200"/>
              </a:spcAft>
            </a:pPr>
            <a:r>
              <a:rPr sz="1180">
                <a:solidFill>
                  <a:srgbClr val="2D3238"/>
                </a:solidFill>
                <a:latin typeface="Consolas"/>
              </a:rPr>
              <a:t>})</a:t>
            </a:r>
          </a:p>
          <a:p>
            <a:pPr>
              <a:spcAft>
                <a:spcPts val="200"/>
              </a:spcAft>
            </a:pPr>
            <a:r>
              <a:rPr sz="1180">
                <a:solidFill>
                  <a:srgbClr val="2D3238"/>
                </a:solidFill>
                <a:latin typeface="Consolas"/>
              </a:rPr>
              <a:t>.RemoveAllResilienceHandlers()</a:t>
            </a:r>
          </a:p>
          <a:p>
            <a:pPr>
              <a:spcAft>
                <a:spcPts val="200"/>
              </a:spcAft>
            </a:pPr>
            <a:r>
              <a:rPr sz="1180">
                <a:solidFill>
                  <a:srgbClr val="2D3238"/>
                </a:solidFill>
                <a:latin typeface="Consolas"/>
              </a:rPr>
              <a:t>.AddStandardResilienceHandler(options =&gt; { /* SoftDependencyBudget */ });</a:t>
            </a:r>
          </a:p>
        </p:txBody>
      </p:sp>
      <p:sp>
        <p:nvSpPr>
          <p:cNvPr id="5" name="Rectangle 4"/>
          <p:cNvSpPr/>
          <p:nvPr/>
        </p:nvSpPr>
        <p:spPr>
          <a:xfrm>
            <a:off x="6492240" y="1417320"/>
            <a:ext cx="5193792" cy="4937760"/>
          </a:xfrm>
          <a:prstGeom prst="rect">
            <a:avLst/>
          </a:prstGeom>
          <a:solidFill>
            <a:srgbClr val="F6F7F8"/>
          </a:solidFill>
          <a:ln w="12700">
            <a:solidFill>
              <a:srgbClr val="B9B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46304" rIns="182880" bIns="128016" rtlCol="0" anchor="t"/>
          <a:lstStyle/>
          <a:p>
            <a:pPr algn="ctr">
              <a:spcAft>
                <a:spcPts val="800"/>
              </a:spcAft>
              <a:defRPr sz="1650" b="1">
                <a:solidFill>
                  <a:srgbClr val="111418"/>
                </a:solidFill>
                <a:latin typeface="Segoe UI"/>
              </a:defRPr>
            </a:pPr>
            <a:r>
              <a:rPr dirty="0" err="1"/>
              <a:t>Як</a:t>
            </a:r>
            <a:r>
              <a:rPr dirty="0"/>
              <a:t> </a:t>
            </a:r>
            <a:r>
              <a:rPr dirty="0" err="1"/>
              <a:t>працює</a:t>
            </a:r>
            <a:r>
              <a:rPr dirty="0"/>
              <a:t> </a:t>
            </a:r>
            <a:r>
              <a:rPr dirty="0" err="1"/>
              <a:t>подвійна</a:t>
            </a:r>
            <a:r>
              <a:rPr dirty="0"/>
              <a:t> </a:t>
            </a:r>
            <a:r>
              <a:rPr dirty="0" err="1"/>
              <a:t>резолюція</a:t>
            </a:r>
            <a:r>
              <a:rPr dirty="0"/>
              <a:t> </a:t>
            </a:r>
            <a:r>
              <a:rPr dirty="0" err="1"/>
              <a:t>адреси</a:t>
            </a:r>
            <a:r>
              <a:rPr dirty="0"/>
              <a:t> </a:t>
            </a:r>
            <a:r>
              <a:rPr dirty="0" err="1"/>
              <a:t>сервера</a:t>
            </a:r>
            <a:endParaRPr dirty="0"/>
          </a:p>
          <a:p>
            <a:pPr>
              <a:spcAft>
                <a:spcPts val="1000"/>
              </a:spcAft>
            </a:pPr>
            <a:r>
              <a:rPr sz="1400" b="1" dirty="0">
                <a:solidFill>
                  <a:srgbClr val="111418"/>
                </a:solidFill>
                <a:latin typeface="Segoe UI"/>
              </a:rPr>
              <a:t>1. </a:t>
            </a:r>
            <a:r>
              <a:rPr sz="1400" b="1" dirty="0" err="1">
                <a:solidFill>
                  <a:srgbClr val="111418"/>
                </a:solidFill>
                <a:latin typeface="Segoe UI"/>
              </a:rPr>
              <a:t>Інтеграція</a:t>
            </a:r>
            <a:r>
              <a:rPr sz="1400" b="1" dirty="0">
                <a:solidFill>
                  <a:srgbClr val="111418"/>
                </a:solidFill>
                <a:latin typeface="Segoe UI"/>
              </a:rPr>
              <a:t> з .NET Aspire (AppHost.cs#L95):
</a:t>
            </a:r>
            <a:r>
              <a:rPr sz="1400" b="0" dirty="0" err="1">
                <a:solidFill>
                  <a:srgbClr val="2D3238"/>
                </a:solidFill>
                <a:latin typeface="Segoe UI"/>
              </a:rPr>
              <a:t>виклик</a:t>
            </a:r>
            <a:r>
              <a:rPr sz="1400" b="0" dirty="0">
                <a:solidFill>
                  <a:srgbClr val="2D3238"/>
                </a:solidFill>
                <a:latin typeface="Segoe UI"/>
              </a:rPr>
              <a:t> .</a:t>
            </a:r>
            <a:r>
              <a:rPr sz="1400" b="0" dirty="0" err="1">
                <a:solidFill>
                  <a:srgbClr val="2D3238"/>
                </a:solidFill>
                <a:latin typeface="Segoe UI"/>
              </a:rPr>
              <a:t>WithReference</a:t>
            </a:r>
            <a:r>
              <a:rPr sz="1400" b="0" dirty="0">
                <a:solidFill>
                  <a:srgbClr val="2D3238"/>
                </a:solidFill>
                <a:latin typeface="Segoe UI"/>
              </a:rPr>
              <a:t>(</a:t>
            </a:r>
            <a:r>
              <a:rPr sz="1400" b="0" dirty="0" err="1">
                <a:solidFill>
                  <a:srgbClr val="2D3238"/>
                </a:solidFill>
                <a:latin typeface="Segoe UI"/>
              </a:rPr>
              <a:t>driversBlogService</a:t>
            </a:r>
            <a:r>
              <a:rPr sz="1400" b="0" dirty="0">
                <a:solidFill>
                  <a:srgbClr val="2D3238"/>
                </a:solidFill>
                <a:latin typeface="Segoe UI"/>
              </a:rPr>
              <a:t>) </a:t>
            </a:r>
            <a:r>
              <a:rPr sz="1400" b="0" dirty="0" err="1">
                <a:solidFill>
                  <a:srgbClr val="2D3238"/>
                </a:solidFill>
                <a:latin typeface="Segoe UI"/>
              </a:rPr>
              <a:t>передає</a:t>
            </a:r>
            <a:r>
              <a:rPr sz="1400" b="0" dirty="0">
                <a:solidFill>
                  <a:srgbClr val="2D3238"/>
                </a:solidFill>
                <a:latin typeface="Segoe UI"/>
              </a:rPr>
              <a:t> в </a:t>
            </a:r>
            <a:r>
              <a:rPr sz="1400" b="0" dirty="0" err="1">
                <a:solidFill>
                  <a:srgbClr val="2D3238"/>
                </a:solidFill>
                <a:latin typeface="Segoe UI"/>
              </a:rPr>
              <a:t>змінні</a:t>
            </a:r>
            <a:r>
              <a:rPr sz="1400" b="0" dirty="0">
                <a:solidFill>
                  <a:srgbClr val="2D3238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2D3238"/>
                </a:solidFill>
                <a:latin typeface="Segoe UI"/>
              </a:rPr>
              <a:t>оточення</a:t>
            </a:r>
            <a:r>
              <a:rPr sz="1400" b="0" dirty="0">
                <a:solidFill>
                  <a:srgbClr val="2D3238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2D3238"/>
                </a:solidFill>
                <a:latin typeface="Segoe UI"/>
              </a:rPr>
              <a:t>клієнта</a:t>
            </a:r>
            <a:r>
              <a:rPr sz="1400" b="0" dirty="0">
                <a:solidFill>
                  <a:srgbClr val="2D3238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2D3238"/>
                </a:solidFill>
                <a:latin typeface="Segoe UI"/>
              </a:rPr>
              <a:t>параметр</a:t>
            </a:r>
            <a:r>
              <a:rPr sz="1400" b="0" dirty="0">
                <a:solidFill>
                  <a:srgbClr val="2D3238"/>
                </a:solidFill>
                <a:latin typeface="Segoe UI"/>
              </a:rPr>
              <a:t> services:driversblogmanagement:https:0.</a:t>
            </a:r>
          </a:p>
          <a:p>
            <a:pPr>
              <a:spcAft>
                <a:spcPts val="1000"/>
              </a:spcAft>
            </a:pPr>
            <a:r>
              <a:rPr sz="1400" b="1" dirty="0">
                <a:solidFill>
                  <a:srgbClr val="111418"/>
                </a:solidFill>
                <a:latin typeface="Segoe UI"/>
              </a:rPr>
              <a:t>2. </a:t>
            </a:r>
            <a:r>
              <a:rPr sz="1400" b="1" dirty="0" err="1">
                <a:solidFill>
                  <a:srgbClr val="111418"/>
                </a:solidFill>
                <a:latin typeface="Segoe UI"/>
              </a:rPr>
              <a:t>Логічний</a:t>
            </a:r>
            <a:r>
              <a:rPr sz="1400" b="1" dirty="0">
                <a:solidFill>
                  <a:srgbClr val="111418"/>
                </a:solidFill>
                <a:latin typeface="Segoe UI"/>
              </a:rPr>
              <a:t> URI </a:t>
            </a:r>
            <a:r>
              <a:rPr sz="1400" b="1" dirty="0" err="1">
                <a:solidFill>
                  <a:srgbClr val="111418"/>
                </a:solidFill>
                <a:latin typeface="Segoe UI"/>
              </a:rPr>
              <a:t>під</a:t>
            </a:r>
            <a:r>
              <a:rPr sz="1400" b="1" dirty="0">
                <a:solidFill>
                  <a:srgbClr val="111418"/>
                </a:solidFill>
                <a:latin typeface="Segoe UI"/>
              </a:rPr>
              <a:t> Service Discovery:
</a:t>
            </a:r>
            <a:r>
              <a:rPr sz="1400" b="0" dirty="0" err="1">
                <a:solidFill>
                  <a:srgbClr val="2D3238"/>
                </a:solidFill>
                <a:latin typeface="Segoe UI"/>
              </a:rPr>
              <a:t>клієнт</a:t>
            </a:r>
            <a:r>
              <a:rPr sz="1400" b="0" dirty="0">
                <a:solidFill>
                  <a:srgbClr val="2D3238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2D3238"/>
                </a:solidFill>
                <a:latin typeface="Segoe UI"/>
              </a:rPr>
              <a:t>отримує</a:t>
            </a:r>
            <a:r>
              <a:rPr sz="1400" b="0" dirty="0">
                <a:solidFill>
                  <a:srgbClr val="2D3238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2D3238"/>
                </a:solidFill>
                <a:latin typeface="Segoe UI"/>
              </a:rPr>
              <a:t>адресу</a:t>
            </a:r>
            <a:r>
              <a:rPr sz="1400" b="0" dirty="0">
                <a:solidFill>
                  <a:srgbClr val="2D3238"/>
                </a:solidFill>
                <a:latin typeface="Segoe UI"/>
              </a:rPr>
              <a:t> https://driversblogmanagement, </a:t>
            </a:r>
            <a:r>
              <a:rPr sz="1400" b="0" dirty="0" err="1">
                <a:solidFill>
                  <a:srgbClr val="2D3238"/>
                </a:solidFill>
                <a:latin typeface="Segoe UI"/>
              </a:rPr>
              <a:t>яку</a:t>
            </a:r>
            <a:r>
              <a:rPr sz="1400" b="0" dirty="0">
                <a:solidFill>
                  <a:srgbClr val="2D3238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2D3238"/>
                </a:solidFill>
                <a:latin typeface="Segoe UI"/>
              </a:rPr>
              <a:t>пакет</a:t>
            </a:r>
            <a:r>
              <a:rPr sz="1400" b="0" dirty="0">
                <a:solidFill>
                  <a:srgbClr val="2D3238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2D3238"/>
                </a:solidFill>
                <a:latin typeface="Segoe UI"/>
              </a:rPr>
              <a:t>Microsoft.Extensions.ServiceDiscovery</a:t>
            </a:r>
            <a:r>
              <a:rPr sz="1400" b="0" dirty="0">
                <a:solidFill>
                  <a:srgbClr val="2D3238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2D3238"/>
                </a:solidFill>
                <a:latin typeface="Segoe UI"/>
              </a:rPr>
              <a:t>автоматично</a:t>
            </a:r>
            <a:r>
              <a:rPr sz="1400" b="0" dirty="0">
                <a:solidFill>
                  <a:srgbClr val="2D3238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2D3238"/>
                </a:solidFill>
                <a:latin typeface="Segoe UI"/>
              </a:rPr>
              <a:t>перетворює</a:t>
            </a:r>
            <a:r>
              <a:rPr sz="1400" b="0" dirty="0">
                <a:solidFill>
                  <a:srgbClr val="2D3238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2D3238"/>
                </a:solidFill>
                <a:latin typeface="Segoe UI"/>
              </a:rPr>
              <a:t>на</a:t>
            </a:r>
            <a:r>
              <a:rPr sz="1400" b="0" dirty="0">
                <a:solidFill>
                  <a:srgbClr val="2D3238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2D3238"/>
                </a:solidFill>
                <a:latin typeface="Segoe UI"/>
              </a:rPr>
              <a:t>фактичний</a:t>
            </a:r>
            <a:r>
              <a:rPr sz="1400" b="0" dirty="0">
                <a:solidFill>
                  <a:srgbClr val="2D3238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2D3238"/>
                </a:solidFill>
                <a:latin typeface="Segoe UI"/>
              </a:rPr>
              <a:t>порт</a:t>
            </a:r>
            <a:r>
              <a:rPr sz="1400" b="0" dirty="0">
                <a:solidFill>
                  <a:srgbClr val="2D3238"/>
                </a:solidFill>
                <a:latin typeface="Segoe UI"/>
              </a:rPr>
              <a:t> https://localhost:5002.</a:t>
            </a:r>
          </a:p>
          <a:p>
            <a:pPr>
              <a:spcAft>
                <a:spcPts val="600"/>
              </a:spcAft>
            </a:pPr>
            <a:r>
              <a:rPr sz="1400" b="1" dirty="0">
                <a:solidFill>
                  <a:srgbClr val="111418"/>
                </a:solidFill>
                <a:latin typeface="Segoe UI"/>
              </a:rPr>
              <a:t>3. </a:t>
            </a:r>
            <a:r>
              <a:rPr sz="1400" b="1" dirty="0" err="1">
                <a:solidFill>
                  <a:srgbClr val="111418"/>
                </a:solidFill>
                <a:latin typeface="Segoe UI"/>
              </a:rPr>
              <a:t>Автономний</a:t>
            </a:r>
            <a:r>
              <a:rPr sz="1400" b="1" dirty="0">
                <a:solidFill>
                  <a:srgbClr val="111418"/>
                </a:solidFill>
                <a:latin typeface="Segoe UI"/>
              </a:rPr>
              <a:t> </a:t>
            </a:r>
            <a:r>
              <a:rPr sz="1400" b="1" dirty="0" err="1">
                <a:solidFill>
                  <a:srgbClr val="111418"/>
                </a:solidFill>
                <a:latin typeface="Segoe UI"/>
              </a:rPr>
              <a:t>запуск</a:t>
            </a:r>
            <a:r>
              <a:rPr sz="1400" b="1" dirty="0">
                <a:solidFill>
                  <a:srgbClr val="111418"/>
                </a:solidFill>
                <a:latin typeface="Segoe UI"/>
              </a:rPr>
              <a:t> </a:t>
            </a:r>
            <a:r>
              <a:rPr sz="1400" b="1" dirty="0" err="1">
                <a:solidFill>
                  <a:srgbClr val="111418"/>
                </a:solidFill>
                <a:latin typeface="Segoe UI"/>
              </a:rPr>
              <a:t>без</a:t>
            </a:r>
            <a:r>
              <a:rPr sz="1400" b="1" dirty="0">
                <a:solidFill>
                  <a:srgbClr val="111418"/>
                </a:solidFill>
                <a:latin typeface="Segoe UI"/>
              </a:rPr>
              <a:t> Aspire:
</a:t>
            </a:r>
            <a:r>
              <a:rPr sz="1400" b="0" dirty="0" err="1">
                <a:solidFill>
                  <a:srgbClr val="2D3238"/>
                </a:solidFill>
                <a:latin typeface="Segoe UI"/>
              </a:rPr>
              <a:t>якщо</a:t>
            </a:r>
            <a:r>
              <a:rPr sz="1400" b="0" dirty="0">
                <a:solidFill>
                  <a:srgbClr val="2D3238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2D3238"/>
                </a:solidFill>
                <a:latin typeface="Segoe UI"/>
              </a:rPr>
              <a:t>сервіс</a:t>
            </a:r>
            <a:r>
              <a:rPr sz="1400" b="0" dirty="0">
                <a:solidFill>
                  <a:srgbClr val="2D3238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2D3238"/>
                </a:solidFill>
                <a:latin typeface="Segoe UI"/>
              </a:rPr>
              <a:t>запущено</a:t>
            </a:r>
            <a:r>
              <a:rPr sz="1400" b="0" dirty="0">
                <a:solidFill>
                  <a:srgbClr val="2D3238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2D3238"/>
                </a:solidFill>
                <a:latin typeface="Segoe UI"/>
              </a:rPr>
              <a:t>окремо</a:t>
            </a:r>
            <a:r>
              <a:rPr sz="1400" b="0" dirty="0">
                <a:solidFill>
                  <a:srgbClr val="2D3238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2D3238"/>
                </a:solidFill>
                <a:latin typeface="Segoe UI"/>
              </a:rPr>
              <a:t>через</a:t>
            </a:r>
            <a:r>
              <a:rPr sz="1400" b="0" dirty="0">
                <a:solidFill>
                  <a:srgbClr val="2D3238"/>
                </a:solidFill>
                <a:latin typeface="Segoe UI"/>
              </a:rPr>
              <a:t> dotnet run, </a:t>
            </a:r>
            <a:r>
              <a:rPr sz="1400" b="0" dirty="0" err="1">
                <a:solidFill>
                  <a:srgbClr val="2D3238"/>
                </a:solidFill>
                <a:latin typeface="Segoe UI"/>
              </a:rPr>
              <a:t>клієнт</a:t>
            </a:r>
            <a:r>
              <a:rPr sz="1400" b="0" dirty="0">
                <a:solidFill>
                  <a:srgbClr val="2D3238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2D3238"/>
                </a:solidFill>
                <a:latin typeface="Segoe UI"/>
              </a:rPr>
              <a:t>бере</a:t>
            </a:r>
            <a:r>
              <a:rPr sz="1400" b="0" dirty="0">
                <a:solidFill>
                  <a:srgbClr val="2D3238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2D3238"/>
                </a:solidFill>
                <a:latin typeface="Segoe UI"/>
              </a:rPr>
              <a:t>адресу</a:t>
            </a:r>
            <a:r>
              <a:rPr sz="1400" b="0" dirty="0">
                <a:solidFill>
                  <a:srgbClr val="2D3238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2D3238"/>
                </a:solidFill>
                <a:latin typeface="Segoe UI"/>
              </a:rPr>
              <a:t>GrpcServer:Address</a:t>
            </a:r>
            <a:r>
              <a:rPr sz="1400" b="0" dirty="0">
                <a:solidFill>
                  <a:srgbClr val="2D3238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2D3238"/>
                </a:solidFill>
                <a:latin typeface="Segoe UI"/>
              </a:rPr>
              <a:t>із</a:t>
            </a:r>
            <a:r>
              <a:rPr sz="1400" b="0" dirty="0">
                <a:solidFill>
                  <a:srgbClr val="2D3238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2D3238"/>
                </a:solidFill>
                <a:latin typeface="Segoe UI"/>
              </a:rPr>
              <a:t>файлу</a:t>
            </a:r>
            <a:r>
              <a:rPr sz="1400" b="0" dirty="0">
                <a:solidFill>
                  <a:srgbClr val="2D3238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2D3238"/>
                </a:solidFill>
                <a:latin typeface="Segoe UI"/>
              </a:rPr>
              <a:t>appsettings.Development.json</a:t>
            </a:r>
            <a:r>
              <a:rPr sz="1400" b="0" dirty="0">
                <a:solidFill>
                  <a:srgbClr val="2D3238"/>
                </a:solidFill>
                <a:latin typeface="Segoe UI"/>
              </a:rPr>
              <a:t> (https://localhost:5002).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19088"/>
            <a:ext cx="11183112" cy="13716"/>
          </a:xfrm>
          <a:prstGeom prst="rect">
            <a:avLst/>
          </a:prstGeom>
          <a:solidFill>
            <a:srgbClr val="B9B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464808"/>
            <a:ext cx="7049366" cy="369332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050" dirty="0" err="1">
                <a:solidFill>
                  <a:srgbClr val="5F666E"/>
                </a:solidFill>
                <a:latin typeface="Segoe UI"/>
              </a:rPr>
              <a:t>Файл</a:t>
            </a:r>
            <a:r>
              <a:rPr sz="1050" dirty="0">
                <a:solidFill>
                  <a:srgbClr val="5F666E"/>
                </a:solidFill>
                <a:latin typeface="Segoe UI"/>
              </a:rPr>
              <a:t>: </a:t>
            </a:r>
            <a:r>
              <a:rPr sz="1050" dirty="0" err="1">
                <a:solidFill>
                  <a:srgbClr val="5F666E"/>
                </a:solidFill>
                <a:latin typeface="Segoe UI"/>
              </a:rPr>
              <a:t>DriversManagement</a:t>
            </a:r>
            <a:r>
              <a:rPr sz="1050" dirty="0">
                <a:solidFill>
                  <a:srgbClr val="5F666E"/>
                </a:solidFill>
                <a:latin typeface="Segoe UI"/>
              </a:rPr>
              <a:t>/</a:t>
            </a:r>
            <a:r>
              <a:rPr sz="1050" dirty="0" err="1">
                <a:solidFill>
                  <a:srgbClr val="5F666E"/>
                </a:solidFill>
                <a:latin typeface="Segoe UI"/>
              </a:rPr>
              <a:t>src</a:t>
            </a:r>
            <a:r>
              <a:rPr sz="1050" dirty="0">
                <a:solidFill>
                  <a:srgbClr val="5F666E"/>
                </a:solidFill>
                <a:latin typeface="Segoe UI"/>
              </a:rPr>
              <a:t>/</a:t>
            </a:r>
            <a:r>
              <a:rPr sz="1050" dirty="0" err="1">
                <a:solidFill>
                  <a:srgbClr val="5F666E"/>
                </a:solidFill>
                <a:latin typeface="Segoe UI"/>
              </a:rPr>
              <a:t>DriversManagement</a:t>
            </a:r>
            <a:r>
              <a:rPr sz="1050" dirty="0">
                <a:solidFill>
                  <a:srgbClr val="5F666E"/>
                </a:solidFill>
                <a:latin typeface="Segoe UI"/>
              </a:rPr>
              <a:t>/Extensions/Services/WebAppServiceConfiguration.cs#L82-L106</a:t>
            </a:r>
            <a:r>
              <a:rPr sz="1050" b="1" dirty="0">
                <a:solidFill>
                  <a:srgbClr val="111418"/>
                </a:solidFill>
                <a:latin typeface="Segoe UI"/>
                <a:hlinkClick r:id="rId2"/>
              </a:rPr>
              <a:t>   </a:t>
            </a:r>
            <a:br>
              <a:rPr lang="uk-UA" sz="1050" b="1" dirty="0">
                <a:solidFill>
                  <a:srgbClr val="111418"/>
                </a:solidFill>
                <a:latin typeface="Segoe UI"/>
                <a:hlinkClick r:id="rId2"/>
              </a:rPr>
            </a:br>
            <a:r>
              <a:rPr sz="1050" b="1" dirty="0">
                <a:solidFill>
                  <a:srgbClr val="111418"/>
                </a:solidFill>
                <a:latin typeface="Segoe UI"/>
                <a:hlinkClick r:id="rId2"/>
              </a:rPr>
              <a:t>|   </a:t>
            </a:r>
            <a:r>
              <a:rPr sz="1050" b="1" dirty="0" err="1">
                <a:solidFill>
                  <a:srgbClr val="111418"/>
                </a:solidFill>
                <a:latin typeface="Segoe UI"/>
                <a:hlinkClick r:id="rId2"/>
              </a:rPr>
              <a:t>Джерело</a:t>
            </a:r>
            <a:r>
              <a:rPr sz="1050" b="1" dirty="0">
                <a:solidFill>
                  <a:srgbClr val="111418"/>
                </a:solidFill>
                <a:latin typeface="Segoe UI"/>
                <a:hlinkClick r:id="rId2"/>
              </a:rPr>
              <a:t>: https://learn.microsoft.com/en-us/aspnet/core/grpc/clientfactory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49840" y="6464808"/>
            <a:ext cx="1536192" cy="292608"/>
          </a:xfrm>
          <a:prstGeom prst="rect">
            <a:avLst/>
          </a:prstGeom>
          <a:noFill/>
        </p:spPr>
        <p:txBody>
          <a:bodyPr wrap="none" tIns="0" rIns="0">
            <a:spAutoFit/>
          </a:bodyPr>
          <a:lstStyle/>
          <a:p>
            <a:pPr algn="r">
              <a:defRPr sz="1100" b="1">
                <a:solidFill>
                  <a:srgbClr val="111418"/>
                </a:solidFill>
                <a:latin typeface="Segoe UI"/>
              </a:defRPr>
            </a:pPr>
            <a:r>
              <a:t>Слайд 21 з 28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11183112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5F666E"/>
                </a:solidFill>
                <a:latin typeface="Segoe UI"/>
              </a:defRPr>
            </a:pPr>
            <a:r>
              <a:t>РОЗДІЛ 7. ВІДМОВОСТІЙКІСТЬ КЛІЄНТА (POLLY V8)</a:t>
            </a:r>
          </a:p>
          <a:p>
            <a:pPr>
              <a:defRPr sz="2400" b="1">
                <a:solidFill>
                  <a:srgbClr val="111418"/>
                </a:solidFill>
                <a:latin typeface="Segoe UI"/>
              </a:defRPr>
            </a:pPr>
            <a:r>
              <a:t>Чому ми викликаємо .RemoveAllResilienceHandlers() та налаштовуємо SoftDependencyBudget</a:t>
            </a:r>
          </a:p>
          <a:p>
            <a:pPr>
              <a:defRPr sz="1350">
                <a:solidFill>
                  <a:srgbClr val="5F666E"/>
                </a:solidFill>
                <a:latin typeface="Segoe UI"/>
              </a:defRPr>
            </a:pPr>
            <a:r>
              <a:t>Порівняння глобального конвеєра ServiceDefaults (30 с) та швидкого конвеєра для некритичних залежностей (2.2 с)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15568"/>
            <a:ext cx="11183112" cy="18288"/>
          </a:xfrm>
          <a:prstGeom prst="rect">
            <a:avLst/>
          </a:prstGeom>
          <a:solidFill>
            <a:srgbClr val="505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diag_09_polly_gracefu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42090"/>
            <a:ext cx="10324407" cy="361354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02920" y="4577028"/>
            <a:ext cx="11183112" cy="1778051"/>
          </a:xfrm>
          <a:prstGeom prst="rect">
            <a:avLst/>
          </a:prstGeom>
          <a:solidFill>
            <a:srgbClr val="EBEDF0"/>
          </a:solidFill>
          <a:ln w="15240">
            <a:solidFill>
              <a:srgbClr val="505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28016" rIns="137160" bIns="109728" rtlCol="0" anchor="t"/>
          <a:lstStyle/>
          <a:p>
            <a:pPr algn="ctr">
              <a:spcAft>
                <a:spcPts val="600"/>
              </a:spcAft>
              <a:defRPr sz="1300" b="1">
                <a:solidFill>
                  <a:srgbClr val="111418"/>
                </a:solidFill>
                <a:latin typeface="Segoe UI"/>
              </a:defRPr>
            </a:pPr>
            <a:r>
              <a:rPr sz="1100" dirty="0" err="1"/>
              <a:t>Файл</a:t>
            </a:r>
            <a:r>
              <a:rPr sz="1100" dirty="0"/>
              <a:t>: WebAppServiceConfiguration.cs#L98-L106 (</a:t>
            </a:r>
            <a:r>
              <a:rPr sz="1100" dirty="0" err="1"/>
              <a:t>SoftDependencyBudget</a:t>
            </a:r>
            <a:r>
              <a:rPr sz="1100" dirty="0"/>
              <a:t>)</a:t>
            </a:r>
          </a:p>
          <a:p>
            <a:pPr>
              <a:spcAft>
                <a:spcPts val="200"/>
              </a:spcAft>
            </a:pPr>
            <a:r>
              <a:rPr sz="1000" dirty="0">
                <a:solidFill>
                  <a:srgbClr val="5F666E"/>
                </a:solidFill>
                <a:latin typeface="Consolas"/>
              </a:rPr>
              <a:t>// </a:t>
            </a:r>
            <a:r>
              <a:rPr sz="1000" dirty="0" err="1">
                <a:solidFill>
                  <a:srgbClr val="5F666E"/>
                </a:solidFill>
                <a:latin typeface="Consolas"/>
              </a:rPr>
              <a:t>WebAppServiceConfiguration.cs</a:t>
            </a:r>
            <a:r>
              <a:rPr sz="1000" dirty="0">
                <a:solidFill>
                  <a:srgbClr val="5F666E"/>
                </a:solidFill>
                <a:latin typeface="Consolas"/>
              </a:rPr>
              <a:t> (</a:t>
            </a:r>
            <a:r>
              <a:rPr sz="1000" dirty="0" err="1">
                <a:solidFill>
                  <a:srgbClr val="5F666E"/>
                </a:solidFill>
                <a:latin typeface="Consolas"/>
              </a:rPr>
              <a:t>рядки</a:t>
            </a:r>
            <a:r>
              <a:rPr sz="1000" dirty="0">
                <a:solidFill>
                  <a:srgbClr val="5F666E"/>
                </a:solidFill>
                <a:latin typeface="Consolas"/>
              </a:rPr>
              <a:t> 98–106):</a:t>
            </a:r>
          </a:p>
          <a:p>
            <a:pPr>
              <a:spcAft>
                <a:spcPts val="200"/>
              </a:spcAft>
            </a:pPr>
            <a:r>
              <a:rPr sz="1000" dirty="0">
                <a:solidFill>
                  <a:srgbClr val="2D3238"/>
                </a:solidFill>
                <a:latin typeface="Consolas"/>
              </a:rPr>
              <a:t>.</a:t>
            </a:r>
            <a:r>
              <a:rPr sz="1000" dirty="0" err="1">
                <a:solidFill>
                  <a:srgbClr val="2D3238"/>
                </a:solidFill>
                <a:latin typeface="Consolas"/>
              </a:rPr>
              <a:t>RemoveAllResilienceHandlers</a:t>
            </a:r>
            <a:r>
              <a:rPr sz="1000" dirty="0">
                <a:solidFill>
                  <a:srgbClr val="2D3238"/>
                </a:solidFill>
                <a:latin typeface="Consolas"/>
              </a:rPr>
              <a:t>() // </a:t>
            </a:r>
            <a:r>
              <a:rPr sz="1000" dirty="0" err="1">
                <a:solidFill>
                  <a:srgbClr val="2D3238"/>
                </a:solidFill>
                <a:latin typeface="Consolas"/>
              </a:rPr>
              <a:t>Скидає</a:t>
            </a:r>
            <a:r>
              <a:rPr sz="1000" dirty="0">
                <a:solidFill>
                  <a:srgbClr val="2D3238"/>
                </a:solidFill>
                <a:latin typeface="Consolas"/>
              </a:rPr>
              <a:t> </a:t>
            </a:r>
            <a:r>
              <a:rPr sz="1000" dirty="0" err="1">
                <a:solidFill>
                  <a:srgbClr val="2D3238"/>
                </a:solidFill>
                <a:latin typeface="Consolas"/>
              </a:rPr>
              <a:t>глобальний</a:t>
            </a:r>
            <a:r>
              <a:rPr sz="1000" dirty="0">
                <a:solidFill>
                  <a:srgbClr val="2D3238"/>
                </a:solidFill>
                <a:latin typeface="Consolas"/>
              </a:rPr>
              <a:t> 30-секундний </a:t>
            </a:r>
            <a:r>
              <a:rPr sz="1000" dirty="0" err="1">
                <a:solidFill>
                  <a:srgbClr val="2D3238"/>
                </a:solidFill>
                <a:latin typeface="Consolas"/>
              </a:rPr>
              <a:t>конвеєр</a:t>
            </a:r>
            <a:r>
              <a:rPr sz="1000" dirty="0">
                <a:solidFill>
                  <a:srgbClr val="2D3238"/>
                </a:solidFill>
                <a:latin typeface="Consolas"/>
              </a:rPr>
              <a:t> </a:t>
            </a:r>
            <a:r>
              <a:rPr sz="1000" dirty="0" err="1">
                <a:solidFill>
                  <a:srgbClr val="2D3238"/>
                </a:solidFill>
                <a:latin typeface="Consolas"/>
              </a:rPr>
              <a:t>із</a:t>
            </a:r>
            <a:r>
              <a:rPr sz="1000" dirty="0">
                <a:solidFill>
                  <a:srgbClr val="2D3238"/>
                </a:solidFill>
                <a:latin typeface="Consolas"/>
              </a:rPr>
              <a:t> </a:t>
            </a:r>
            <a:r>
              <a:rPr sz="1000" dirty="0" err="1">
                <a:solidFill>
                  <a:srgbClr val="2D3238"/>
                </a:solidFill>
                <a:latin typeface="Consolas"/>
              </a:rPr>
              <a:t>ServiceDefaults</a:t>
            </a:r>
            <a:endParaRPr sz="1000" dirty="0">
              <a:solidFill>
                <a:srgbClr val="2D3238"/>
              </a:solidFill>
              <a:latin typeface="Consolas"/>
            </a:endParaRPr>
          </a:p>
          <a:p>
            <a:pPr>
              <a:spcAft>
                <a:spcPts val="200"/>
              </a:spcAft>
            </a:pPr>
            <a:r>
              <a:rPr sz="1000" dirty="0">
                <a:solidFill>
                  <a:srgbClr val="2D3238"/>
                </a:solidFill>
                <a:latin typeface="Consolas"/>
              </a:rPr>
              <a:t>.</a:t>
            </a:r>
            <a:r>
              <a:rPr sz="1000" dirty="0" err="1">
                <a:solidFill>
                  <a:srgbClr val="2D3238"/>
                </a:solidFill>
                <a:latin typeface="Consolas"/>
              </a:rPr>
              <a:t>AddStandardResilienceHandler</a:t>
            </a:r>
            <a:r>
              <a:rPr sz="1000" dirty="0">
                <a:solidFill>
                  <a:srgbClr val="2D3238"/>
                </a:solidFill>
                <a:latin typeface="Consolas"/>
              </a:rPr>
              <a:t>(options =&gt; {</a:t>
            </a:r>
          </a:p>
          <a:p>
            <a:pPr>
              <a:spcAft>
                <a:spcPts val="200"/>
              </a:spcAft>
            </a:pPr>
            <a:r>
              <a:rPr sz="1000" dirty="0">
                <a:solidFill>
                  <a:srgbClr val="2D3238"/>
                </a:solidFill>
                <a:latin typeface="Consolas"/>
              </a:rPr>
              <a:t>    </a:t>
            </a:r>
            <a:r>
              <a:rPr sz="1000" dirty="0" err="1">
                <a:solidFill>
                  <a:srgbClr val="2D3238"/>
                </a:solidFill>
                <a:latin typeface="Consolas"/>
              </a:rPr>
              <a:t>options.AttemptTimeout.Timeout</a:t>
            </a:r>
            <a:r>
              <a:rPr sz="1000" dirty="0">
                <a:solidFill>
                  <a:srgbClr val="2D3238"/>
                </a:solidFill>
                <a:latin typeface="Consolas"/>
              </a:rPr>
              <a:t> = </a:t>
            </a:r>
            <a:r>
              <a:rPr sz="1000" dirty="0" err="1">
                <a:solidFill>
                  <a:srgbClr val="2D3238"/>
                </a:solidFill>
                <a:latin typeface="Consolas"/>
              </a:rPr>
              <a:t>TimeSpan.FromSeconds</a:t>
            </a:r>
            <a:r>
              <a:rPr sz="1000" dirty="0">
                <a:solidFill>
                  <a:srgbClr val="2D3238"/>
                </a:solidFill>
                <a:latin typeface="Consolas"/>
              </a:rPr>
              <a:t>(1);           // 1 с </a:t>
            </a:r>
            <a:r>
              <a:rPr sz="1000" dirty="0" err="1">
                <a:solidFill>
                  <a:srgbClr val="2D3238"/>
                </a:solidFill>
                <a:latin typeface="Consolas"/>
              </a:rPr>
              <a:t>на</a:t>
            </a:r>
            <a:r>
              <a:rPr sz="1000" dirty="0">
                <a:solidFill>
                  <a:srgbClr val="2D3238"/>
                </a:solidFill>
                <a:latin typeface="Consolas"/>
              </a:rPr>
              <a:t> </a:t>
            </a:r>
            <a:r>
              <a:rPr sz="1000" dirty="0" err="1">
                <a:solidFill>
                  <a:srgbClr val="2D3238"/>
                </a:solidFill>
                <a:latin typeface="Consolas"/>
              </a:rPr>
              <a:t>спробу</a:t>
            </a:r>
            <a:endParaRPr sz="1000" dirty="0">
              <a:solidFill>
                <a:srgbClr val="2D3238"/>
              </a:solidFill>
              <a:latin typeface="Consolas"/>
            </a:endParaRPr>
          </a:p>
          <a:p>
            <a:pPr>
              <a:spcAft>
                <a:spcPts val="200"/>
              </a:spcAft>
            </a:pPr>
            <a:r>
              <a:rPr sz="1000" dirty="0">
                <a:solidFill>
                  <a:srgbClr val="2D3238"/>
                </a:solidFill>
                <a:latin typeface="Consolas"/>
              </a:rPr>
              <a:t>    </a:t>
            </a:r>
            <a:r>
              <a:rPr sz="1000" dirty="0" err="1">
                <a:solidFill>
                  <a:srgbClr val="2D3238"/>
                </a:solidFill>
                <a:latin typeface="Consolas"/>
              </a:rPr>
              <a:t>options.Retry.MaxRetryAttempts</a:t>
            </a:r>
            <a:r>
              <a:rPr sz="1000" dirty="0">
                <a:solidFill>
                  <a:srgbClr val="2D3238"/>
                </a:solidFill>
                <a:latin typeface="Consolas"/>
              </a:rPr>
              <a:t> = 1;                                 // </a:t>
            </a:r>
            <a:r>
              <a:rPr sz="1000" dirty="0" err="1">
                <a:solidFill>
                  <a:srgbClr val="2D3238"/>
                </a:solidFill>
                <a:latin typeface="Consolas"/>
              </a:rPr>
              <a:t>Лише</a:t>
            </a:r>
            <a:r>
              <a:rPr sz="1000" dirty="0">
                <a:solidFill>
                  <a:srgbClr val="2D3238"/>
                </a:solidFill>
                <a:latin typeface="Consolas"/>
              </a:rPr>
              <a:t> 1 </a:t>
            </a:r>
            <a:r>
              <a:rPr sz="1000" dirty="0" err="1">
                <a:solidFill>
                  <a:srgbClr val="2D3238"/>
                </a:solidFill>
                <a:latin typeface="Consolas"/>
              </a:rPr>
              <a:t>повтор</a:t>
            </a:r>
            <a:endParaRPr sz="1000" dirty="0">
              <a:solidFill>
                <a:srgbClr val="2D3238"/>
              </a:solidFill>
              <a:latin typeface="Consolas"/>
            </a:endParaRPr>
          </a:p>
          <a:p>
            <a:pPr>
              <a:spcAft>
                <a:spcPts val="200"/>
              </a:spcAft>
            </a:pPr>
            <a:r>
              <a:rPr sz="1000" dirty="0">
                <a:solidFill>
                  <a:srgbClr val="2D3238"/>
                </a:solidFill>
                <a:latin typeface="Consolas"/>
              </a:rPr>
              <a:t>    </a:t>
            </a:r>
            <a:r>
              <a:rPr sz="1000" dirty="0" err="1">
                <a:solidFill>
                  <a:srgbClr val="2D3238"/>
                </a:solidFill>
                <a:latin typeface="Consolas"/>
              </a:rPr>
              <a:t>options.Retry.Delay</a:t>
            </a:r>
            <a:r>
              <a:rPr sz="1000" dirty="0">
                <a:solidFill>
                  <a:srgbClr val="2D3238"/>
                </a:solidFill>
                <a:latin typeface="Consolas"/>
              </a:rPr>
              <a:t> = </a:t>
            </a:r>
            <a:r>
              <a:rPr sz="1000" dirty="0" err="1">
                <a:solidFill>
                  <a:srgbClr val="2D3238"/>
                </a:solidFill>
                <a:latin typeface="Consolas"/>
              </a:rPr>
              <a:t>TimeSpan.FromMilliseconds</a:t>
            </a:r>
            <a:r>
              <a:rPr sz="1000" dirty="0">
                <a:solidFill>
                  <a:srgbClr val="2D3238"/>
                </a:solidFill>
                <a:latin typeface="Consolas"/>
              </a:rPr>
              <a:t>(200);               // </a:t>
            </a:r>
            <a:r>
              <a:rPr sz="1000" dirty="0" err="1">
                <a:solidFill>
                  <a:srgbClr val="2D3238"/>
                </a:solidFill>
                <a:latin typeface="Consolas"/>
              </a:rPr>
              <a:t>Пауза</a:t>
            </a:r>
            <a:r>
              <a:rPr sz="1000" dirty="0">
                <a:solidFill>
                  <a:srgbClr val="2D3238"/>
                </a:solidFill>
                <a:latin typeface="Consolas"/>
              </a:rPr>
              <a:t> 200 </a:t>
            </a:r>
            <a:r>
              <a:rPr sz="1000" dirty="0" err="1">
                <a:solidFill>
                  <a:srgbClr val="2D3238"/>
                </a:solidFill>
                <a:latin typeface="Consolas"/>
              </a:rPr>
              <a:t>мс</a:t>
            </a:r>
            <a:endParaRPr sz="1000" dirty="0">
              <a:solidFill>
                <a:srgbClr val="2D3238"/>
              </a:solidFill>
              <a:latin typeface="Consolas"/>
            </a:endParaRPr>
          </a:p>
          <a:p>
            <a:pPr>
              <a:spcAft>
                <a:spcPts val="200"/>
              </a:spcAft>
            </a:pPr>
            <a:r>
              <a:rPr sz="1000" dirty="0">
                <a:solidFill>
                  <a:srgbClr val="2D3238"/>
                </a:solidFill>
                <a:latin typeface="Consolas"/>
              </a:rPr>
              <a:t>    </a:t>
            </a:r>
            <a:r>
              <a:rPr sz="1000" dirty="0" err="1">
                <a:solidFill>
                  <a:srgbClr val="2D3238"/>
                </a:solidFill>
                <a:latin typeface="Consolas"/>
              </a:rPr>
              <a:t>options.TotalRequestTimeout.Timeout</a:t>
            </a:r>
            <a:r>
              <a:rPr sz="1000" dirty="0">
                <a:solidFill>
                  <a:srgbClr val="2D3238"/>
                </a:solidFill>
                <a:latin typeface="Consolas"/>
              </a:rPr>
              <a:t> = </a:t>
            </a:r>
            <a:r>
              <a:rPr sz="1000" dirty="0" err="1">
                <a:solidFill>
                  <a:srgbClr val="2D3238"/>
                </a:solidFill>
                <a:latin typeface="Consolas"/>
              </a:rPr>
              <a:t>TimeSpan.FromSeconds</a:t>
            </a:r>
            <a:r>
              <a:rPr sz="1000" dirty="0">
                <a:solidFill>
                  <a:srgbClr val="2D3238"/>
                </a:solidFill>
                <a:latin typeface="Consolas"/>
              </a:rPr>
              <a:t>(3);      // </a:t>
            </a:r>
            <a:r>
              <a:rPr sz="1000" dirty="0" err="1">
                <a:solidFill>
                  <a:srgbClr val="2D3238"/>
                </a:solidFill>
                <a:latin typeface="Consolas"/>
              </a:rPr>
              <a:t>Макс</a:t>
            </a:r>
            <a:r>
              <a:rPr sz="1000" dirty="0">
                <a:solidFill>
                  <a:srgbClr val="2D3238"/>
                </a:solidFill>
                <a:latin typeface="Consolas"/>
              </a:rPr>
              <a:t>. 3 с </a:t>
            </a:r>
            <a:r>
              <a:rPr sz="1000" dirty="0" err="1">
                <a:solidFill>
                  <a:srgbClr val="2D3238"/>
                </a:solidFill>
                <a:latin typeface="Consolas"/>
              </a:rPr>
              <a:t>загалом</a:t>
            </a:r>
            <a:endParaRPr sz="1000" dirty="0">
              <a:solidFill>
                <a:srgbClr val="2D3238"/>
              </a:solidFill>
              <a:latin typeface="Consolas"/>
            </a:endParaRPr>
          </a:p>
          <a:p>
            <a:pPr>
              <a:spcAft>
                <a:spcPts val="200"/>
              </a:spcAft>
            </a:pPr>
            <a:r>
              <a:rPr sz="1000" dirty="0">
                <a:solidFill>
                  <a:srgbClr val="2D3238"/>
                </a:solidFill>
                <a:latin typeface="Consolas"/>
              </a:rPr>
              <a:t>});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64808"/>
            <a:ext cx="5638723" cy="369332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050" dirty="0" err="1">
                <a:solidFill>
                  <a:srgbClr val="5F666E"/>
                </a:solidFill>
                <a:latin typeface="Segoe UI"/>
              </a:rPr>
              <a:t>Порівняння</a:t>
            </a:r>
            <a:r>
              <a:rPr sz="1050" dirty="0">
                <a:solidFill>
                  <a:srgbClr val="5F666E"/>
                </a:solidFill>
                <a:latin typeface="Segoe UI"/>
              </a:rPr>
              <a:t>: </a:t>
            </a:r>
            <a:r>
              <a:rPr sz="1050" dirty="0" err="1">
                <a:solidFill>
                  <a:srgbClr val="5F666E"/>
                </a:solidFill>
                <a:latin typeface="Segoe UI"/>
              </a:rPr>
              <a:t>ServiceDefaults</a:t>
            </a:r>
            <a:r>
              <a:rPr sz="1050" dirty="0">
                <a:solidFill>
                  <a:srgbClr val="5F666E"/>
                </a:solidFill>
                <a:latin typeface="Segoe UI"/>
              </a:rPr>
              <a:t>/Extensions.cs#L91 </a:t>
            </a:r>
            <a:r>
              <a:rPr sz="1050" dirty="0" err="1">
                <a:solidFill>
                  <a:srgbClr val="5F666E"/>
                </a:solidFill>
                <a:latin typeface="Segoe UI"/>
              </a:rPr>
              <a:t>проти</a:t>
            </a:r>
            <a:r>
              <a:rPr sz="1050" dirty="0">
                <a:solidFill>
                  <a:srgbClr val="5F666E"/>
                </a:solidFill>
                <a:latin typeface="Segoe UI"/>
              </a:rPr>
              <a:t> WebAppServiceConfiguration.cs#L98</a:t>
            </a:r>
            <a:br>
              <a:rPr lang="uk-UA" sz="1050" dirty="0">
                <a:solidFill>
                  <a:srgbClr val="5F666E"/>
                </a:solidFill>
                <a:latin typeface="Segoe UI"/>
              </a:rPr>
            </a:br>
            <a:r>
              <a:rPr sz="1050" b="1" dirty="0">
                <a:solidFill>
                  <a:srgbClr val="111418"/>
                </a:solidFill>
                <a:latin typeface="Segoe UI"/>
                <a:hlinkClick r:id="rId3"/>
              </a:rPr>
              <a:t>   |   </a:t>
            </a:r>
            <a:r>
              <a:rPr sz="1050" b="1" dirty="0" err="1">
                <a:solidFill>
                  <a:srgbClr val="111418"/>
                </a:solidFill>
                <a:latin typeface="Segoe UI"/>
                <a:hlinkClick r:id="rId3"/>
              </a:rPr>
              <a:t>Джерело</a:t>
            </a:r>
            <a:r>
              <a:rPr sz="1050" b="1" dirty="0">
                <a:solidFill>
                  <a:srgbClr val="111418"/>
                </a:solidFill>
                <a:latin typeface="Segoe UI"/>
                <a:hlinkClick r:id="rId3"/>
              </a:rPr>
              <a:t>: https://learn.microsoft.com/en-us/dotnet/core/resilience/http-resilience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49840" y="6464808"/>
            <a:ext cx="1536192" cy="292608"/>
          </a:xfrm>
          <a:prstGeom prst="rect">
            <a:avLst/>
          </a:prstGeom>
          <a:noFill/>
        </p:spPr>
        <p:txBody>
          <a:bodyPr wrap="none" tIns="0" rIns="0">
            <a:spAutoFit/>
          </a:bodyPr>
          <a:lstStyle/>
          <a:p>
            <a:pPr algn="r">
              <a:defRPr sz="1100" b="1">
                <a:solidFill>
                  <a:srgbClr val="111418"/>
                </a:solidFill>
                <a:latin typeface="Segoe UI"/>
              </a:defRPr>
            </a:pPr>
            <a:r>
              <a:t>Слайд 22 з 28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11183112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5F666E"/>
                </a:solidFill>
                <a:latin typeface="Segoe UI"/>
              </a:defRPr>
            </a:pPr>
            <a:r>
              <a:t>РОЗДІЛ 7. ВИКЛИК GRPC У CQRS-ОБРОБНИКУ ТА GRACEFUL DEGRADATION</a:t>
            </a:r>
          </a:p>
          <a:p>
            <a:pPr>
              <a:defRPr sz="2400" b="1">
                <a:solidFill>
                  <a:srgbClr val="111418"/>
                </a:solidFill>
                <a:latin typeface="Segoe UI"/>
              </a:defRPr>
            </a:pPr>
            <a:r>
              <a:t>Аналіз класу GetDriver.Handler: мапінг у власний DTO та м'яка деградація</a:t>
            </a:r>
          </a:p>
          <a:p>
            <a:pPr>
              <a:defRPr sz="1350">
                <a:solidFill>
                  <a:srgbClr val="5F666E"/>
                </a:solidFill>
                <a:latin typeface="Segoe UI"/>
              </a:defRPr>
            </a:pPr>
            <a:r>
              <a:t>Шлях: DriversManagement/src/DriversManagement/Domain/Drivers/Features/GetDriver.cs#L47-L118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15568"/>
            <a:ext cx="11183112" cy="18288"/>
          </a:xfrm>
          <a:prstGeom prst="rect">
            <a:avLst/>
          </a:prstGeom>
          <a:solidFill>
            <a:srgbClr val="505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19" y="1280160"/>
            <a:ext cx="7030489" cy="4937760"/>
          </a:xfrm>
          <a:prstGeom prst="rect">
            <a:avLst/>
          </a:prstGeom>
          <a:solidFill>
            <a:srgbClr val="EBEDF0"/>
          </a:solidFill>
          <a:ln w="15240">
            <a:solidFill>
              <a:srgbClr val="505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28016" rIns="137160" bIns="109728" rtlCol="0" anchor="t"/>
          <a:lstStyle/>
          <a:p>
            <a:pPr algn="ctr">
              <a:spcAft>
                <a:spcPts val="600"/>
              </a:spcAft>
              <a:defRPr sz="1300" b="1">
                <a:solidFill>
                  <a:srgbClr val="111418"/>
                </a:solidFill>
                <a:latin typeface="Segoe UI"/>
              </a:defRPr>
            </a:pPr>
            <a:r>
              <a:rPr sz="1100" dirty="0" err="1"/>
              <a:t>Файл</a:t>
            </a:r>
            <a:r>
              <a:rPr sz="1100" dirty="0"/>
              <a:t>: </a:t>
            </a:r>
            <a:r>
              <a:rPr sz="1100" dirty="0" err="1"/>
              <a:t>GetDriver.cs</a:t>
            </a:r>
            <a:r>
              <a:rPr sz="1100" dirty="0"/>
              <a:t> (</a:t>
            </a:r>
            <a:r>
              <a:rPr sz="1100" dirty="0" err="1"/>
              <a:t>рядки</a:t>
            </a:r>
            <a:r>
              <a:rPr sz="1100" dirty="0"/>
              <a:t> 47–116)</a:t>
            </a:r>
          </a:p>
          <a:p>
            <a:pPr>
              <a:spcAft>
                <a:spcPts val="200"/>
              </a:spcAft>
            </a:pPr>
            <a:r>
              <a:rPr sz="1000" dirty="0">
                <a:solidFill>
                  <a:srgbClr val="2D3238"/>
                </a:solidFill>
                <a:latin typeface="Consolas"/>
              </a:rPr>
              <a:t>public sealed class Handler : </a:t>
            </a:r>
            <a:r>
              <a:rPr sz="1000" dirty="0" err="1">
                <a:solidFill>
                  <a:srgbClr val="2D3238"/>
                </a:solidFill>
                <a:latin typeface="Consolas"/>
              </a:rPr>
              <a:t>IRequestHandler</a:t>
            </a:r>
            <a:r>
              <a:rPr sz="1000" dirty="0">
                <a:solidFill>
                  <a:srgbClr val="2D3238"/>
                </a:solidFill>
                <a:latin typeface="Consolas"/>
              </a:rPr>
              <a:t>&lt;Query, </a:t>
            </a:r>
            <a:r>
              <a:rPr sz="1000" dirty="0" err="1">
                <a:solidFill>
                  <a:srgbClr val="2D3238"/>
                </a:solidFill>
                <a:latin typeface="Consolas"/>
              </a:rPr>
              <a:t>FullDataAboutDriverAndPostsDto</a:t>
            </a:r>
            <a:r>
              <a:rPr sz="1000" dirty="0">
                <a:solidFill>
                  <a:srgbClr val="2D3238"/>
                </a:solidFill>
                <a:latin typeface="Consolas"/>
              </a:rPr>
              <a:t>&gt;</a:t>
            </a:r>
          </a:p>
          <a:p>
            <a:pPr>
              <a:spcAft>
                <a:spcPts val="200"/>
              </a:spcAft>
            </a:pPr>
            <a:r>
              <a:rPr sz="1000" dirty="0">
                <a:solidFill>
                  <a:srgbClr val="2D3238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</a:pPr>
            <a:r>
              <a:rPr sz="1000" dirty="0">
                <a:solidFill>
                  <a:srgbClr val="2D3238"/>
                </a:solidFill>
                <a:latin typeface="Consolas"/>
              </a:rPr>
              <a:t>    private </a:t>
            </a:r>
            <a:r>
              <a:rPr sz="1000" dirty="0" err="1">
                <a:solidFill>
                  <a:srgbClr val="2D3238"/>
                </a:solidFill>
                <a:latin typeface="Consolas"/>
              </a:rPr>
              <a:t>readonly</a:t>
            </a:r>
            <a:r>
              <a:rPr sz="1000" dirty="0">
                <a:solidFill>
                  <a:srgbClr val="2D3238"/>
                </a:solidFill>
                <a:latin typeface="Consolas"/>
              </a:rPr>
              <a:t> </a:t>
            </a:r>
            <a:r>
              <a:rPr sz="1000" dirty="0" err="1">
                <a:solidFill>
                  <a:srgbClr val="2D3238"/>
                </a:solidFill>
                <a:latin typeface="Consolas"/>
              </a:rPr>
              <a:t>IDriverRepository</a:t>
            </a:r>
            <a:r>
              <a:rPr sz="1000" dirty="0">
                <a:solidFill>
                  <a:srgbClr val="2D3238"/>
                </a:solidFill>
                <a:latin typeface="Consolas"/>
              </a:rPr>
              <a:t> _</a:t>
            </a:r>
            <a:r>
              <a:rPr sz="1000" dirty="0" err="1">
                <a:solidFill>
                  <a:srgbClr val="2D3238"/>
                </a:solidFill>
                <a:latin typeface="Consolas"/>
              </a:rPr>
              <a:t>driverRepository</a:t>
            </a:r>
            <a:r>
              <a:rPr sz="1000" dirty="0">
                <a:solidFill>
                  <a:srgbClr val="2D3238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</a:pPr>
            <a:r>
              <a:rPr sz="1000" dirty="0">
                <a:solidFill>
                  <a:srgbClr val="2D3238"/>
                </a:solidFill>
                <a:latin typeface="Consolas"/>
              </a:rPr>
              <a:t>    private </a:t>
            </a:r>
            <a:r>
              <a:rPr sz="1000" dirty="0" err="1">
                <a:solidFill>
                  <a:srgbClr val="2D3238"/>
                </a:solidFill>
                <a:latin typeface="Consolas"/>
              </a:rPr>
              <a:t>readonly</a:t>
            </a:r>
            <a:r>
              <a:rPr sz="1000" dirty="0">
                <a:solidFill>
                  <a:srgbClr val="2D3238"/>
                </a:solidFill>
                <a:latin typeface="Consolas"/>
              </a:rPr>
              <a:t> </a:t>
            </a:r>
            <a:r>
              <a:rPr sz="1000" dirty="0" err="1">
                <a:solidFill>
                  <a:srgbClr val="2D3238"/>
                </a:solidFill>
                <a:latin typeface="Consolas"/>
              </a:rPr>
              <a:t>DriverRpc.DriverRpcClient</a:t>
            </a:r>
            <a:r>
              <a:rPr sz="1000" dirty="0">
                <a:solidFill>
                  <a:srgbClr val="2D3238"/>
                </a:solidFill>
                <a:latin typeface="Consolas"/>
              </a:rPr>
              <a:t> _client;</a:t>
            </a:r>
          </a:p>
          <a:p>
            <a:pPr>
              <a:spcAft>
                <a:spcPts val="200"/>
              </a:spcAft>
            </a:pPr>
            <a:endParaRPr sz="1000" dirty="0">
              <a:solidFill>
                <a:srgbClr val="2D3238"/>
              </a:solidFill>
              <a:latin typeface="Consolas"/>
            </a:endParaRPr>
          </a:p>
          <a:p>
            <a:pPr>
              <a:spcAft>
                <a:spcPts val="200"/>
              </a:spcAft>
            </a:pPr>
            <a:r>
              <a:rPr sz="1000" dirty="0">
                <a:solidFill>
                  <a:srgbClr val="2D3238"/>
                </a:solidFill>
                <a:latin typeface="Consolas"/>
              </a:rPr>
              <a:t>    public async Task&lt;</a:t>
            </a:r>
            <a:r>
              <a:rPr sz="1000" dirty="0" err="1">
                <a:solidFill>
                  <a:srgbClr val="2D3238"/>
                </a:solidFill>
                <a:latin typeface="Consolas"/>
              </a:rPr>
              <a:t>FullDataAboutDriverAndPostsDto</a:t>
            </a:r>
            <a:r>
              <a:rPr sz="1000" dirty="0">
                <a:solidFill>
                  <a:srgbClr val="2D3238"/>
                </a:solidFill>
                <a:latin typeface="Consolas"/>
              </a:rPr>
              <a:t>&gt; Handle(Query request, </a:t>
            </a:r>
            <a:r>
              <a:rPr sz="1000" dirty="0" err="1">
                <a:solidFill>
                  <a:srgbClr val="2D3238"/>
                </a:solidFill>
                <a:latin typeface="Consolas"/>
              </a:rPr>
              <a:t>CancellationToken</a:t>
            </a:r>
            <a:r>
              <a:rPr sz="1000" dirty="0">
                <a:solidFill>
                  <a:srgbClr val="2D3238"/>
                </a:solidFill>
                <a:latin typeface="Consolas"/>
              </a:rPr>
              <a:t> </a:t>
            </a:r>
            <a:r>
              <a:rPr sz="1000" dirty="0" err="1">
                <a:solidFill>
                  <a:srgbClr val="2D3238"/>
                </a:solidFill>
                <a:latin typeface="Consolas"/>
              </a:rPr>
              <a:t>ct</a:t>
            </a:r>
            <a:r>
              <a:rPr sz="1000" dirty="0">
                <a:solidFill>
                  <a:srgbClr val="2D3238"/>
                </a:solidFill>
                <a:latin typeface="Consolas"/>
              </a:rPr>
              <a:t>)</a:t>
            </a:r>
          </a:p>
          <a:p>
            <a:pPr>
              <a:spcAft>
                <a:spcPts val="200"/>
              </a:spcAft>
            </a:pPr>
            <a:r>
              <a:rPr sz="1000" dirty="0">
                <a:solidFill>
                  <a:srgbClr val="2D3238"/>
                </a:solidFill>
                <a:latin typeface="Consolas"/>
              </a:rPr>
              <a:t>    {</a:t>
            </a:r>
          </a:p>
          <a:p>
            <a:pPr>
              <a:spcAft>
                <a:spcPts val="200"/>
              </a:spcAft>
            </a:pPr>
            <a:r>
              <a:rPr sz="1000" dirty="0">
                <a:solidFill>
                  <a:srgbClr val="5F666E"/>
                </a:solidFill>
                <a:latin typeface="Consolas"/>
              </a:rPr>
              <a:t>        // 1. </a:t>
            </a:r>
            <a:r>
              <a:rPr sz="1000" dirty="0" err="1">
                <a:solidFill>
                  <a:srgbClr val="5F666E"/>
                </a:solidFill>
                <a:latin typeface="Consolas"/>
              </a:rPr>
              <a:t>Обов'язкові</a:t>
            </a:r>
            <a:r>
              <a:rPr sz="1000" dirty="0">
                <a:solidFill>
                  <a:srgbClr val="5F666E"/>
                </a:solidFill>
                <a:latin typeface="Consolas"/>
              </a:rPr>
              <a:t> </a:t>
            </a:r>
            <a:r>
              <a:rPr sz="1000" dirty="0" err="1">
                <a:solidFill>
                  <a:srgbClr val="5F666E"/>
                </a:solidFill>
                <a:latin typeface="Consolas"/>
              </a:rPr>
              <a:t>дані</a:t>
            </a:r>
            <a:r>
              <a:rPr sz="1000" dirty="0">
                <a:solidFill>
                  <a:srgbClr val="5F666E"/>
                </a:solidFill>
                <a:latin typeface="Consolas"/>
              </a:rPr>
              <a:t>: </a:t>
            </a:r>
            <a:r>
              <a:rPr sz="1000" dirty="0" err="1">
                <a:solidFill>
                  <a:srgbClr val="5F666E"/>
                </a:solidFill>
                <a:latin typeface="Consolas"/>
              </a:rPr>
              <a:t>читаємо</a:t>
            </a:r>
            <a:r>
              <a:rPr sz="1000" dirty="0">
                <a:solidFill>
                  <a:srgbClr val="5F666E"/>
                </a:solidFill>
                <a:latin typeface="Consolas"/>
              </a:rPr>
              <a:t> </a:t>
            </a:r>
            <a:r>
              <a:rPr sz="1000" dirty="0" err="1">
                <a:solidFill>
                  <a:srgbClr val="5F666E"/>
                </a:solidFill>
                <a:latin typeface="Consolas"/>
              </a:rPr>
              <a:t>картку</a:t>
            </a:r>
            <a:r>
              <a:rPr sz="1000" dirty="0">
                <a:solidFill>
                  <a:srgbClr val="5F666E"/>
                </a:solidFill>
                <a:latin typeface="Consolas"/>
              </a:rPr>
              <a:t> </a:t>
            </a:r>
            <a:r>
              <a:rPr sz="1000" dirty="0" err="1">
                <a:solidFill>
                  <a:srgbClr val="5F666E"/>
                </a:solidFill>
                <a:latin typeface="Consolas"/>
              </a:rPr>
              <a:t>водія</a:t>
            </a:r>
            <a:r>
              <a:rPr sz="1000" dirty="0">
                <a:solidFill>
                  <a:srgbClr val="5F666E"/>
                </a:solidFill>
                <a:latin typeface="Consolas"/>
              </a:rPr>
              <a:t> з </a:t>
            </a:r>
            <a:r>
              <a:rPr sz="1000" dirty="0" err="1">
                <a:solidFill>
                  <a:srgbClr val="5F666E"/>
                </a:solidFill>
                <a:latin typeface="Consolas"/>
              </a:rPr>
              <a:t>власної</a:t>
            </a:r>
            <a:r>
              <a:rPr sz="1000" dirty="0">
                <a:solidFill>
                  <a:srgbClr val="5F666E"/>
                </a:solidFill>
                <a:latin typeface="Consolas"/>
              </a:rPr>
              <a:t> БД </a:t>
            </a:r>
            <a:r>
              <a:rPr sz="1000" dirty="0" err="1">
                <a:solidFill>
                  <a:srgbClr val="5F666E"/>
                </a:solidFill>
                <a:latin typeface="Consolas"/>
              </a:rPr>
              <a:t>DriversManagement</a:t>
            </a:r>
            <a:r>
              <a:rPr sz="1000" dirty="0">
                <a:solidFill>
                  <a:srgbClr val="5F666E"/>
                </a:solidFill>
                <a:latin typeface="Consolas"/>
              </a:rPr>
              <a:t> (:1434)</a:t>
            </a:r>
          </a:p>
          <a:p>
            <a:pPr>
              <a:spcAft>
                <a:spcPts val="200"/>
              </a:spcAft>
            </a:pPr>
            <a:r>
              <a:rPr sz="1000" dirty="0">
                <a:solidFill>
                  <a:srgbClr val="2D3238"/>
                </a:solidFill>
                <a:latin typeface="Consolas"/>
              </a:rPr>
              <a:t>        var driver = await _</a:t>
            </a:r>
            <a:r>
              <a:rPr sz="1000" dirty="0" err="1">
                <a:solidFill>
                  <a:srgbClr val="2D3238"/>
                </a:solidFill>
                <a:latin typeface="Consolas"/>
              </a:rPr>
              <a:t>driverRepository.GetById</a:t>
            </a:r>
            <a:r>
              <a:rPr sz="1000" dirty="0">
                <a:solidFill>
                  <a:srgbClr val="2D3238"/>
                </a:solidFill>
                <a:latin typeface="Consolas"/>
              </a:rPr>
              <a:t>(</a:t>
            </a:r>
            <a:r>
              <a:rPr sz="1000" dirty="0" err="1">
                <a:solidFill>
                  <a:srgbClr val="2D3238"/>
                </a:solidFill>
                <a:latin typeface="Consolas"/>
              </a:rPr>
              <a:t>request.DriverId</a:t>
            </a:r>
            <a:r>
              <a:rPr sz="1000" dirty="0">
                <a:solidFill>
                  <a:srgbClr val="2D3238"/>
                </a:solidFill>
                <a:latin typeface="Consolas"/>
              </a:rPr>
              <a:t>, </a:t>
            </a:r>
            <a:r>
              <a:rPr sz="1000" dirty="0" err="1">
                <a:solidFill>
                  <a:srgbClr val="2D3238"/>
                </a:solidFill>
                <a:latin typeface="Consolas"/>
              </a:rPr>
              <a:t>cancellationToken</a:t>
            </a:r>
            <a:r>
              <a:rPr sz="1000" dirty="0">
                <a:solidFill>
                  <a:srgbClr val="2D3238"/>
                </a:solidFill>
                <a:latin typeface="Consolas"/>
              </a:rPr>
              <a:t>: </a:t>
            </a:r>
            <a:r>
              <a:rPr sz="1000" dirty="0" err="1">
                <a:solidFill>
                  <a:srgbClr val="2D3238"/>
                </a:solidFill>
                <a:latin typeface="Consolas"/>
              </a:rPr>
              <a:t>ct</a:t>
            </a:r>
            <a:r>
              <a:rPr sz="1000" dirty="0">
                <a:solidFill>
                  <a:srgbClr val="2D3238"/>
                </a:solidFill>
                <a:latin typeface="Consolas"/>
              </a:rPr>
              <a:t>);</a:t>
            </a:r>
          </a:p>
          <a:p>
            <a:pPr>
              <a:spcAft>
                <a:spcPts val="200"/>
              </a:spcAft>
            </a:pPr>
            <a:r>
              <a:rPr sz="1000" dirty="0">
                <a:solidFill>
                  <a:srgbClr val="2D3238"/>
                </a:solidFill>
                <a:latin typeface="Consolas"/>
              </a:rPr>
              <a:t>        var result = </a:t>
            </a:r>
            <a:r>
              <a:rPr sz="1000" dirty="0" err="1">
                <a:solidFill>
                  <a:srgbClr val="2D3238"/>
                </a:solidFill>
                <a:latin typeface="Consolas"/>
              </a:rPr>
              <a:t>driver.ToFullDataAboutDriverAndPostsDto</a:t>
            </a:r>
            <a:r>
              <a:rPr sz="1000" dirty="0">
                <a:solidFill>
                  <a:srgbClr val="2D3238"/>
                </a:solidFill>
                <a:latin typeface="Consolas"/>
              </a:rPr>
              <a:t>();</a:t>
            </a:r>
          </a:p>
          <a:p>
            <a:pPr>
              <a:spcAft>
                <a:spcPts val="200"/>
              </a:spcAft>
            </a:pPr>
            <a:endParaRPr sz="1000" dirty="0">
              <a:solidFill>
                <a:srgbClr val="2D3238"/>
              </a:solidFill>
              <a:latin typeface="Consolas"/>
            </a:endParaRPr>
          </a:p>
          <a:p>
            <a:pPr>
              <a:spcAft>
                <a:spcPts val="200"/>
              </a:spcAft>
            </a:pPr>
            <a:r>
              <a:rPr sz="1000" dirty="0">
                <a:solidFill>
                  <a:srgbClr val="5F666E"/>
                </a:solidFill>
                <a:latin typeface="Consolas"/>
              </a:rPr>
              <a:t>        // 2. </a:t>
            </a:r>
            <a:r>
              <a:rPr sz="1000" dirty="0" err="1">
                <a:solidFill>
                  <a:srgbClr val="5F666E"/>
                </a:solidFill>
                <a:latin typeface="Consolas"/>
              </a:rPr>
              <a:t>Опціональні</a:t>
            </a:r>
            <a:r>
              <a:rPr sz="1000" dirty="0">
                <a:solidFill>
                  <a:srgbClr val="5F666E"/>
                </a:solidFill>
                <a:latin typeface="Consolas"/>
              </a:rPr>
              <a:t> </a:t>
            </a:r>
            <a:r>
              <a:rPr sz="1000" dirty="0" err="1">
                <a:solidFill>
                  <a:srgbClr val="5F666E"/>
                </a:solidFill>
                <a:latin typeface="Consolas"/>
              </a:rPr>
              <a:t>дані</a:t>
            </a:r>
            <a:r>
              <a:rPr sz="1000" dirty="0">
                <a:solidFill>
                  <a:srgbClr val="5F666E"/>
                </a:solidFill>
                <a:latin typeface="Consolas"/>
              </a:rPr>
              <a:t>: </a:t>
            </a:r>
            <a:r>
              <a:rPr sz="1000" dirty="0" err="1">
                <a:solidFill>
                  <a:srgbClr val="5F666E"/>
                </a:solidFill>
                <a:latin typeface="Consolas"/>
              </a:rPr>
              <a:t>синхронний</a:t>
            </a:r>
            <a:r>
              <a:rPr sz="1000" dirty="0">
                <a:solidFill>
                  <a:srgbClr val="5F666E"/>
                </a:solidFill>
                <a:latin typeface="Consolas"/>
              </a:rPr>
              <a:t> </a:t>
            </a:r>
            <a:r>
              <a:rPr sz="1000" dirty="0" err="1">
                <a:solidFill>
                  <a:srgbClr val="5F666E"/>
                </a:solidFill>
                <a:latin typeface="Consolas"/>
              </a:rPr>
              <a:t>gRPC-виклик</a:t>
            </a:r>
            <a:r>
              <a:rPr sz="1000" dirty="0">
                <a:solidFill>
                  <a:srgbClr val="5F666E"/>
                </a:solidFill>
                <a:latin typeface="Consolas"/>
              </a:rPr>
              <a:t> </a:t>
            </a:r>
            <a:r>
              <a:rPr sz="1000" dirty="0" err="1">
                <a:solidFill>
                  <a:srgbClr val="5F666E"/>
                </a:solidFill>
                <a:latin typeface="Consolas"/>
              </a:rPr>
              <a:t>до</a:t>
            </a:r>
            <a:r>
              <a:rPr sz="1000" dirty="0">
                <a:solidFill>
                  <a:srgbClr val="5F666E"/>
                </a:solidFill>
                <a:latin typeface="Consolas"/>
              </a:rPr>
              <a:t> </a:t>
            </a:r>
            <a:r>
              <a:rPr sz="1000" dirty="0" err="1">
                <a:solidFill>
                  <a:srgbClr val="5F666E"/>
                </a:solidFill>
                <a:latin typeface="Consolas"/>
              </a:rPr>
              <a:t>DriversBlogManagement</a:t>
            </a:r>
            <a:r>
              <a:rPr sz="1000" dirty="0">
                <a:solidFill>
                  <a:srgbClr val="5F666E"/>
                </a:solidFill>
                <a:latin typeface="Consolas"/>
              </a:rPr>
              <a:t> (:5002)</a:t>
            </a:r>
          </a:p>
          <a:p>
            <a:pPr>
              <a:spcAft>
                <a:spcPts val="200"/>
              </a:spcAft>
            </a:pPr>
            <a:r>
              <a:rPr sz="1000" dirty="0">
                <a:solidFill>
                  <a:srgbClr val="2D3238"/>
                </a:solidFill>
                <a:latin typeface="Consolas"/>
              </a:rPr>
              <a:t>        try {</a:t>
            </a:r>
          </a:p>
          <a:p>
            <a:pPr>
              <a:spcAft>
                <a:spcPts val="200"/>
              </a:spcAft>
            </a:pPr>
            <a:r>
              <a:rPr sz="1000" dirty="0">
                <a:solidFill>
                  <a:srgbClr val="2D3238"/>
                </a:solidFill>
                <a:latin typeface="Consolas"/>
              </a:rPr>
              <a:t>            var </a:t>
            </a:r>
            <a:r>
              <a:rPr sz="1000" dirty="0" err="1">
                <a:solidFill>
                  <a:srgbClr val="2D3238"/>
                </a:solidFill>
                <a:latin typeface="Consolas"/>
              </a:rPr>
              <a:t>grpcResponse</a:t>
            </a:r>
            <a:r>
              <a:rPr sz="1000" dirty="0">
                <a:solidFill>
                  <a:srgbClr val="2D3238"/>
                </a:solidFill>
                <a:latin typeface="Consolas"/>
              </a:rPr>
              <a:t> = await _</a:t>
            </a:r>
            <a:r>
              <a:rPr sz="1000" dirty="0" err="1">
                <a:solidFill>
                  <a:srgbClr val="2D3238"/>
                </a:solidFill>
                <a:latin typeface="Consolas"/>
              </a:rPr>
              <a:t>client.GetDriverWithPostsAsync</a:t>
            </a:r>
            <a:r>
              <a:rPr sz="1000" dirty="0">
                <a:solidFill>
                  <a:srgbClr val="2D3238"/>
                </a:solidFill>
                <a:latin typeface="Consolas"/>
              </a:rPr>
              <a:t>(</a:t>
            </a:r>
          </a:p>
          <a:p>
            <a:pPr>
              <a:spcAft>
                <a:spcPts val="200"/>
              </a:spcAft>
            </a:pPr>
            <a:r>
              <a:rPr sz="1000" dirty="0">
                <a:solidFill>
                  <a:srgbClr val="2D3238"/>
                </a:solidFill>
                <a:latin typeface="Consolas"/>
              </a:rPr>
              <a:t>                new </a:t>
            </a:r>
            <a:r>
              <a:rPr sz="1000" dirty="0" err="1">
                <a:solidFill>
                  <a:srgbClr val="2D3238"/>
                </a:solidFill>
                <a:latin typeface="Consolas"/>
              </a:rPr>
              <a:t>DriverWithPostsRequest</a:t>
            </a:r>
            <a:r>
              <a:rPr sz="1000" dirty="0">
                <a:solidFill>
                  <a:srgbClr val="2D3238"/>
                </a:solidFill>
                <a:latin typeface="Consolas"/>
              </a:rPr>
              <a:t> { </a:t>
            </a:r>
            <a:r>
              <a:rPr sz="1000" dirty="0" err="1">
                <a:solidFill>
                  <a:srgbClr val="2D3238"/>
                </a:solidFill>
                <a:latin typeface="Consolas"/>
              </a:rPr>
              <a:t>DriverId</a:t>
            </a:r>
            <a:r>
              <a:rPr sz="1000" dirty="0">
                <a:solidFill>
                  <a:srgbClr val="2D3238"/>
                </a:solidFill>
                <a:latin typeface="Consolas"/>
              </a:rPr>
              <a:t> = </a:t>
            </a:r>
            <a:r>
              <a:rPr sz="1000" dirty="0" err="1">
                <a:solidFill>
                  <a:srgbClr val="2D3238"/>
                </a:solidFill>
                <a:latin typeface="Consolas"/>
              </a:rPr>
              <a:t>request.DriverId.ToString</a:t>
            </a:r>
            <a:r>
              <a:rPr sz="1000" dirty="0">
                <a:solidFill>
                  <a:srgbClr val="2D3238"/>
                </a:solidFill>
                <a:latin typeface="Consolas"/>
              </a:rPr>
              <a:t>() }, </a:t>
            </a:r>
            <a:r>
              <a:rPr sz="1000" dirty="0" err="1">
                <a:solidFill>
                  <a:srgbClr val="2D3238"/>
                </a:solidFill>
                <a:latin typeface="Consolas"/>
              </a:rPr>
              <a:t>cancellationToken</a:t>
            </a:r>
            <a:r>
              <a:rPr sz="1000" dirty="0">
                <a:solidFill>
                  <a:srgbClr val="2D3238"/>
                </a:solidFill>
                <a:latin typeface="Consolas"/>
              </a:rPr>
              <a:t>: </a:t>
            </a:r>
            <a:r>
              <a:rPr sz="1000" dirty="0" err="1">
                <a:solidFill>
                  <a:srgbClr val="2D3238"/>
                </a:solidFill>
                <a:latin typeface="Consolas"/>
              </a:rPr>
              <a:t>ct</a:t>
            </a:r>
            <a:r>
              <a:rPr sz="1000" dirty="0">
                <a:solidFill>
                  <a:srgbClr val="2D3238"/>
                </a:solidFill>
                <a:latin typeface="Consolas"/>
              </a:rPr>
              <a:t>);</a:t>
            </a:r>
          </a:p>
          <a:p>
            <a:pPr>
              <a:spcAft>
                <a:spcPts val="200"/>
              </a:spcAft>
            </a:pPr>
            <a:endParaRPr sz="1000" dirty="0">
              <a:solidFill>
                <a:srgbClr val="2D3238"/>
              </a:solidFill>
              <a:latin typeface="Consolas"/>
            </a:endParaRPr>
          </a:p>
          <a:p>
            <a:pPr>
              <a:spcAft>
                <a:spcPts val="200"/>
              </a:spcAft>
            </a:pPr>
            <a:r>
              <a:rPr sz="1000" dirty="0">
                <a:solidFill>
                  <a:srgbClr val="2D3238"/>
                </a:solidFill>
                <a:latin typeface="Consolas"/>
              </a:rPr>
              <a:t>            </a:t>
            </a:r>
            <a:r>
              <a:rPr sz="1000" dirty="0" err="1">
                <a:solidFill>
                  <a:srgbClr val="2D3238"/>
                </a:solidFill>
                <a:latin typeface="Consolas"/>
              </a:rPr>
              <a:t>result.Posts</a:t>
            </a:r>
            <a:r>
              <a:rPr sz="1000" dirty="0">
                <a:solidFill>
                  <a:srgbClr val="2D3238"/>
                </a:solidFill>
                <a:latin typeface="Consolas"/>
              </a:rPr>
              <a:t> = </a:t>
            </a:r>
            <a:r>
              <a:rPr sz="1000" dirty="0" err="1">
                <a:solidFill>
                  <a:srgbClr val="2D3238"/>
                </a:solidFill>
                <a:latin typeface="Consolas"/>
              </a:rPr>
              <a:t>grpcResponse.Posts.Select</a:t>
            </a:r>
            <a:r>
              <a:rPr sz="1000" dirty="0">
                <a:solidFill>
                  <a:srgbClr val="2D3238"/>
                </a:solidFill>
                <a:latin typeface="Consolas"/>
              </a:rPr>
              <a:t>(p =&gt; new </a:t>
            </a:r>
            <a:r>
              <a:rPr sz="1000" dirty="0" err="1">
                <a:solidFill>
                  <a:srgbClr val="2D3238"/>
                </a:solidFill>
                <a:latin typeface="Consolas"/>
              </a:rPr>
              <a:t>PostAboutDriverDto</a:t>
            </a:r>
            <a:r>
              <a:rPr sz="1000" dirty="0">
                <a:solidFill>
                  <a:srgbClr val="2D3238"/>
                </a:solidFill>
                <a:latin typeface="Consolas"/>
              </a:rPr>
              <a:t> {</a:t>
            </a:r>
          </a:p>
          <a:p>
            <a:pPr>
              <a:spcAft>
                <a:spcPts val="200"/>
              </a:spcAft>
            </a:pPr>
            <a:r>
              <a:rPr sz="1000" dirty="0">
                <a:solidFill>
                  <a:srgbClr val="2D3238"/>
                </a:solidFill>
                <a:latin typeface="Consolas"/>
              </a:rPr>
              <a:t>                Id = </a:t>
            </a:r>
            <a:r>
              <a:rPr sz="1000" dirty="0" err="1">
                <a:solidFill>
                  <a:srgbClr val="2D3238"/>
                </a:solidFill>
                <a:latin typeface="Consolas"/>
              </a:rPr>
              <a:t>Guid.TryParse</a:t>
            </a:r>
            <a:r>
              <a:rPr sz="1000" dirty="0">
                <a:solidFill>
                  <a:srgbClr val="2D3238"/>
                </a:solidFill>
                <a:latin typeface="Consolas"/>
              </a:rPr>
              <a:t>(</a:t>
            </a:r>
            <a:r>
              <a:rPr sz="1000" dirty="0" err="1">
                <a:solidFill>
                  <a:srgbClr val="2D3238"/>
                </a:solidFill>
                <a:latin typeface="Consolas"/>
              </a:rPr>
              <a:t>p.Id</a:t>
            </a:r>
            <a:r>
              <a:rPr sz="1000" dirty="0">
                <a:solidFill>
                  <a:srgbClr val="2D3238"/>
                </a:solidFill>
                <a:latin typeface="Consolas"/>
              </a:rPr>
              <a:t>, out var </a:t>
            </a:r>
            <a:r>
              <a:rPr sz="1000" dirty="0" err="1">
                <a:solidFill>
                  <a:srgbClr val="2D3238"/>
                </a:solidFill>
                <a:latin typeface="Consolas"/>
              </a:rPr>
              <a:t>pid</a:t>
            </a:r>
            <a:r>
              <a:rPr sz="1000" dirty="0">
                <a:solidFill>
                  <a:srgbClr val="2D3238"/>
                </a:solidFill>
                <a:latin typeface="Consolas"/>
              </a:rPr>
              <a:t>) ? </a:t>
            </a:r>
            <a:r>
              <a:rPr sz="1000" dirty="0" err="1">
                <a:solidFill>
                  <a:srgbClr val="2D3238"/>
                </a:solidFill>
                <a:latin typeface="Consolas"/>
              </a:rPr>
              <a:t>pid</a:t>
            </a:r>
            <a:r>
              <a:rPr sz="1000" dirty="0">
                <a:solidFill>
                  <a:srgbClr val="2D3238"/>
                </a:solidFill>
                <a:latin typeface="Consolas"/>
              </a:rPr>
              <a:t> : </a:t>
            </a:r>
            <a:r>
              <a:rPr sz="1000" dirty="0" err="1">
                <a:solidFill>
                  <a:srgbClr val="2D3238"/>
                </a:solidFill>
                <a:latin typeface="Consolas"/>
              </a:rPr>
              <a:t>Guid.Empty</a:t>
            </a:r>
            <a:r>
              <a:rPr sz="1000" dirty="0">
                <a:solidFill>
                  <a:srgbClr val="2D3238"/>
                </a:solidFill>
                <a:latin typeface="Consolas"/>
              </a:rPr>
              <a:t>,</a:t>
            </a:r>
          </a:p>
          <a:p>
            <a:pPr>
              <a:spcAft>
                <a:spcPts val="200"/>
              </a:spcAft>
            </a:pPr>
            <a:r>
              <a:rPr sz="1000" dirty="0">
                <a:solidFill>
                  <a:srgbClr val="2D3238"/>
                </a:solidFill>
                <a:latin typeface="Consolas"/>
              </a:rPr>
              <a:t>                Title = </a:t>
            </a:r>
            <a:r>
              <a:rPr sz="1000" dirty="0" err="1">
                <a:solidFill>
                  <a:srgbClr val="2D3238"/>
                </a:solidFill>
                <a:latin typeface="Consolas"/>
              </a:rPr>
              <a:t>p.Title</a:t>
            </a:r>
            <a:r>
              <a:rPr sz="1000" dirty="0">
                <a:solidFill>
                  <a:srgbClr val="2D3238"/>
                </a:solidFill>
                <a:latin typeface="Consolas"/>
              </a:rPr>
              <a:t>, Content = </a:t>
            </a:r>
            <a:r>
              <a:rPr sz="1000" dirty="0" err="1">
                <a:solidFill>
                  <a:srgbClr val="2D3238"/>
                </a:solidFill>
                <a:latin typeface="Consolas"/>
              </a:rPr>
              <a:t>p.Content</a:t>
            </a:r>
            <a:endParaRPr sz="1000" dirty="0">
              <a:solidFill>
                <a:srgbClr val="2D3238"/>
              </a:solidFill>
              <a:latin typeface="Consolas"/>
            </a:endParaRPr>
          </a:p>
          <a:p>
            <a:pPr>
              <a:spcAft>
                <a:spcPts val="200"/>
              </a:spcAft>
            </a:pPr>
            <a:r>
              <a:rPr sz="1000" dirty="0">
                <a:solidFill>
                  <a:srgbClr val="2D3238"/>
                </a:solidFill>
                <a:latin typeface="Consolas"/>
              </a:rPr>
              <a:t>            }).</a:t>
            </a:r>
            <a:r>
              <a:rPr sz="1000" dirty="0" err="1">
                <a:solidFill>
                  <a:srgbClr val="2D3238"/>
                </a:solidFill>
                <a:latin typeface="Consolas"/>
              </a:rPr>
              <a:t>ToList</a:t>
            </a:r>
            <a:r>
              <a:rPr sz="1000" dirty="0">
                <a:solidFill>
                  <a:srgbClr val="2D3238"/>
                </a:solidFill>
                <a:latin typeface="Consolas"/>
              </a:rPr>
              <a:t>();</a:t>
            </a:r>
          </a:p>
          <a:p>
            <a:pPr>
              <a:spcAft>
                <a:spcPts val="200"/>
              </a:spcAft>
            </a:pPr>
            <a:r>
              <a:rPr sz="1000" dirty="0">
                <a:solidFill>
                  <a:srgbClr val="2D3238"/>
                </a:solidFill>
                <a:latin typeface="Consolas"/>
              </a:rPr>
              <a:t>        }</a:t>
            </a:r>
          </a:p>
          <a:p>
            <a:pPr>
              <a:spcAft>
                <a:spcPts val="200"/>
              </a:spcAft>
            </a:pPr>
            <a:r>
              <a:rPr sz="1000" b="1" dirty="0">
                <a:solidFill>
                  <a:srgbClr val="111418"/>
                </a:solidFill>
                <a:latin typeface="Consolas"/>
              </a:rPr>
              <a:t>        catch (</a:t>
            </a:r>
            <a:r>
              <a:rPr sz="1000" b="1" dirty="0" err="1">
                <a:solidFill>
                  <a:srgbClr val="111418"/>
                </a:solidFill>
                <a:latin typeface="Consolas"/>
              </a:rPr>
              <a:t>RpcException</a:t>
            </a:r>
            <a:r>
              <a:rPr sz="1000" b="1" dirty="0">
                <a:solidFill>
                  <a:srgbClr val="111418"/>
                </a:solidFill>
                <a:latin typeface="Consolas"/>
              </a:rPr>
              <a:t>) {</a:t>
            </a:r>
          </a:p>
          <a:p>
            <a:pPr>
              <a:spcAft>
                <a:spcPts val="200"/>
              </a:spcAft>
            </a:pPr>
            <a:r>
              <a:rPr sz="1000" dirty="0">
                <a:solidFill>
                  <a:srgbClr val="2D3238"/>
                </a:solidFill>
                <a:latin typeface="Consolas"/>
              </a:rPr>
              <a:t>            </a:t>
            </a:r>
            <a:r>
              <a:rPr sz="1000" dirty="0" err="1">
                <a:solidFill>
                  <a:srgbClr val="2D3238"/>
                </a:solidFill>
                <a:latin typeface="Consolas"/>
              </a:rPr>
              <a:t>result.Posts</a:t>
            </a:r>
            <a:r>
              <a:rPr sz="1000" dirty="0">
                <a:solidFill>
                  <a:srgbClr val="2D3238"/>
                </a:solidFill>
                <a:latin typeface="Consolas"/>
              </a:rPr>
              <a:t> = new List&lt;</a:t>
            </a:r>
            <a:r>
              <a:rPr sz="1000" dirty="0" err="1">
                <a:solidFill>
                  <a:srgbClr val="2D3238"/>
                </a:solidFill>
                <a:latin typeface="Consolas"/>
              </a:rPr>
              <a:t>PostAboutDriverDto</a:t>
            </a:r>
            <a:r>
              <a:rPr sz="1000" dirty="0">
                <a:solidFill>
                  <a:srgbClr val="2D3238"/>
                </a:solidFill>
                <a:latin typeface="Consolas"/>
              </a:rPr>
              <a:t>&gt;(); // Graceful Degradation!</a:t>
            </a:r>
          </a:p>
          <a:p>
            <a:pPr>
              <a:spcAft>
                <a:spcPts val="200"/>
              </a:spcAft>
            </a:pPr>
            <a:r>
              <a:rPr sz="1000" dirty="0">
                <a:solidFill>
                  <a:srgbClr val="2D3238"/>
                </a:solidFill>
                <a:latin typeface="Consolas"/>
              </a:rPr>
              <a:t>        }</a:t>
            </a:r>
          </a:p>
          <a:p>
            <a:pPr>
              <a:spcAft>
                <a:spcPts val="200"/>
              </a:spcAft>
            </a:pPr>
            <a:endParaRPr sz="1000" dirty="0">
              <a:solidFill>
                <a:srgbClr val="2D3238"/>
              </a:solidFill>
              <a:latin typeface="Consola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782790" y="1280160"/>
            <a:ext cx="3903241" cy="4937760"/>
          </a:xfrm>
          <a:prstGeom prst="rect">
            <a:avLst/>
          </a:prstGeom>
          <a:solidFill>
            <a:srgbClr val="F6F7F8"/>
          </a:solidFill>
          <a:ln w="12700">
            <a:solidFill>
              <a:srgbClr val="B9B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46304" rIns="182880" bIns="128016" rtlCol="0" anchor="t"/>
          <a:lstStyle/>
          <a:p>
            <a:pPr algn="ctr">
              <a:spcAft>
                <a:spcPts val="800"/>
              </a:spcAft>
              <a:defRPr sz="1650" b="1">
                <a:solidFill>
                  <a:srgbClr val="111418"/>
                </a:solidFill>
                <a:latin typeface="Segoe UI"/>
              </a:defRPr>
            </a:pPr>
            <a:r>
              <a:rPr dirty="0" err="1"/>
              <a:t>Два</a:t>
            </a:r>
            <a:r>
              <a:rPr dirty="0"/>
              <a:t> </a:t>
            </a:r>
            <a:r>
              <a:rPr dirty="0" err="1"/>
              <a:t>ключові</a:t>
            </a:r>
            <a:r>
              <a:rPr dirty="0"/>
              <a:t> </a:t>
            </a:r>
            <a:r>
              <a:rPr dirty="0" err="1"/>
              <a:t>інженерні</a:t>
            </a:r>
            <a:r>
              <a:rPr dirty="0"/>
              <a:t> патерни</a:t>
            </a:r>
          </a:p>
          <a:p>
            <a:pPr>
              <a:spcAft>
                <a:spcPts val="1000"/>
              </a:spcAft>
            </a:pPr>
            <a:r>
              <a:rPr sz="1400" b="1" dirty="0">
                <a:solidFill>
                  <a:srgbClr val="111418"/>
                </a:solidFill>
                <a:latin typeface="Segoe UI"/>
              </a:rPr>
              <a:t>1. </a:t>
            </a:r>
            <a:r>
              <a:rPr sz="1400" b="1" dirty="0" err="1">
                <a:solidFill>
                  <a:srgbClr val="111418"/>
                </a:solidFill>
                <a:latin typeface="Segoe UI"/>
              </a:rPr>
              <a:t>Ізоляція</a:t>
            </a:r>
            <a:r>
              <a:rPr sz="1400" b="1" dirty="0">
                <a:solidFill>
                  <a:srgbClr val="111418"/>
                </a:solidFill>
                <a:latin typeface="Segoe UI"/>
              </a:rPr>
              <a:t> </a:t>
            </a:r>
            <a:r>
              <a:rPr sz="1400" b="1" dirty="0" err="1">
                <a:solidFill>
                  <a:srgbClr val="111418"/>
                </a:solidFill>
                <a:latin typeface="Segoe UI"/>
              </a:rPr>
              <a:t>контракту</a:t>
            </a:r>
            <a:r>
              <a:rPr sz="1400" b="1" dirty="0">
                <a:solidFill>
                  <a:srgbClr val="111418"/>
                </a:solidFill>
                <a:latin typeface="Segoe UI"/>
              </a:rPr>
              <a:t> (Anti-Corruption Layer):
</a:t>
            </a:r>
            <a:r>
              <a:rPr sz="1400" b="0" dirty="0" err="1">
                <a:solidFill>
                  <a:srgbClr val="2D3238"/>
                </a:solidFill>
                <a:latin typeface="Segoe UI"/>
              </a:rPr>
              <a:t>згенерований</a:t>
            </a:r>
            <a:r>
              <a:rPr sz="1400" b="0" dirty="0">
                <a:solidFill>
                  <a:srgbClr val="2D3238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2D3238"/>
                </a:solidFill>
                <a:latin typeface="Segoe UI"/>
              </a:rPr>
              <a:t>клас</a:t>
            </a:r>
            <a:r>
              <a:rPr sz="1400" b="0" dirty="0">
                <a:solidFill>
                  <a:srgbClr val="2D3238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2D3238"/>
                </a:solidFill>
                <a:latin typeface="Segoe UI"/>
              </a:rPr>
              <a:t>PostAboutDriverResponse</a:t>
            </a:r>
            <a:r>
              <a:rPr sz="1400" b="0" dirty="0">
                <a:solidFill>
                  <a:srgbClr val="2D3238"/>
                </a:solidFill>
                <a:latin typeface="Segoe UI"/>
              </a:rPr>
              <a:t> НЕ </a:t>
            </a:r>
            <a:r>
              <a:rPr sz="1400" b="0" dirty="0" err="1">
                <a:solidFill>
                  <a:srgbClr val="2D3238"/>
                </a:solidFill>
                <a:latin typeface="Segoe UI"/>
              </a:rPr>
              <a:t>витікає</a:t>
            </a:r>
            <a:r>
              <a:rPr sz="1400" b="0" dirty="0">
                <a:solidFill>
                  <a:srgbClr val="2D3238"/>
                </a:solidFill>
                <a:latin typeface="Segoe UI"/>
              </a:rPr>
              <a:t> у </a:t>
            </a:r>
            <a:r>
              <a:rPr sz="1400" b="0" dirty="0" err="1">
                <a:solidFill>
                  <a:srgbClr val="2D3238"/>
                </a:solidFill>
                <a:latin typeface="Segoe UI"/>
              </a:rPr>
              <a:t>зовнішній</a:t>
            </a:r>
            <a:r>
              <a:rPr sz="1400" b="0" dirty="0">
                <a:solidFill>
                  <a:srgbClr val="2D3238"/>
                </a:solidFill>
                <a:latin typeface="Segoe UI"/>
              </a:rPr>
              <a:t> JSON-</a:t>
            </a:r>
            <a:r>
              <a:rPr sz="1400" b="0" dirty="0" err="1">
                <a:solidFill>
                  <a:srgbClr val="2D3238"/>
                </a:solidFill>
                <a:latin typeface="Segoe UI"/>
              </a:rPr>
              <a:t>контракт</a:t>
            </a:r>
            <a:r>
              <a:rPr sz="1400" b="0" dirty="0">
                <a:solidFill>
                  <a:srgbClr val="2D3238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2D3238"/>
                </a:solidFill>
                <a:latin typeface="Segoe UI"/>
              </a:rPr>
              <a:t>контролера</a:t>
            </a:r>
            <a:r>
              <a:rPr sz="1400" b="0" dirty="0">
                <a:solidFill>
                  <a:srgbClr val="2D3238"/>
                </a:solidFill>
                <a:latin typeface="Segoe UI"/>
              </a:rPr>
              <a:t>. </a:t>
            </a:r>
            <a:r>
              <a:rPr sz="1400" b="0" dirty="0" err="1">
                <a:solidFill>
                  <a:srgbClr val="2D3238"/>
                </a:solidFill>
                <a:latin typeface="Segoe UI"/>
              </a:rPr>
              <a:t>Він</a:t>
            </a:r>
            <a:r>
              <a:rPr sz="1400" b="0" dirty="0">
                <a:solidFill>
                  <a:srgbClr val="2D3238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2D3238"/>
                </a:solidFill>
                <a:latin typeface="Segoe UI"/>
              </a:rPr>
              <a:t>явно</a:t>
            </a:r>
            <a:r>
              <a:rPr sz="1400" b="0" dirty="0">
                <a:solidFill>
                  <a:srgbClr val="2D3238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2D3238"/>
                </a:solidFill>
                <a:latin typeface="Segoe UI"/>
              </a:rPr>
              <a:t>мапиться</a:t>
            </a:r>
            <a:r>
              <a:rPr sz="1400" b="0" dirty="0">
                <a:solidFill>
                  <a:srgbClr val="2D3238"/>
                </a:solidFill>
                <a:latin typeface="Segoe UI"/>
              </a:rPr>
              <a:t> у </a:t>
            </a:r>
            <a:r>
              <a:rPr sz="1400" b="0" dirty="0" err="1">
                <a:solidFill>
                  <a:srgbClr val="2D3238"/>
                </a:solidFill>
                <a:latin typeface="Segoe UI"/>
              </a:rPr>
              <a:t>власний</a:t>
            </a:r>
            <a:r>
              <a:rPr sz="1400" b="0" dirty="0">
                <a:solidFill>
                  <a:srgbClr val="2D3238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2D3238"/>
                </a:solidFill>
                <a:latin typeface="Segoe UI"/>
              </a:rPr>
              <a:t>доменний</a:t>
            </a:r>
            <a:r>
              <a:rPr sz="1400" b="0" dirty="0">
                <a:solidFill>
                  <a:srgbClr val="2D3238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2D3238"/>
                </a:solidFill>
                <a:latin typeface="Segoe UI"/>
              </a:rPr>
              <a:t>клас</a:t>
            </a:r>
            <a:r>
              <a:rPr sz="1400" b="0" dirty="0">
                <a:solidFill>
                  <a:srgbClr val="2D3238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2D3238"/>
                </a:solidFill>
                <a:latin typeface="Segoe UI"/>
              </a:rPr>
              <a:t>PostAboutDriverDto</a:t>
            </a:r>
            <a:r>
              <a:rPr sz="1400" b="0" dirty="0">
                <a:solidFill>
                  <a:srgbClr val="2D3238"/>
                </a:solidFill>
                <a:latin typeface="Segoe UI"/>
              </a:rPr>
              <a:t>.</a:t>
            </a:r>
          </a:p>
          <a:p>
            <a:pPr>
              <a:spcAft>
                <a:spcPts val="600"/>
              </a:spcAft>
            </a:pPr>
            <a:r>
              <a:rPr sz="1400" b="1" dirty="0">
                <a:solidFill>
                  <a:srgbClr val="111418"/>
                </a:solidFill>
                <a:latin typeface="Segoe UI"/>
              </a:rPr>
              <a:t>2. Патерн Graceful Degradation:
</a:t>
            </a:r>
            <a:r>
              <a:rPr sz="1400" b="0" dirty="0" err="1">
                <a:solidFill>
                  <a:srgbClr val="2D3238"/>
                </a:solidFill>
                <a:latin typeface="Segoe UI"/>
              </a:rPr>
              <a:t>блог</a:t>
            </a:r>
            <a:r>
              <a:rPr sz="1400" b="0" dirty="0">
                <a:solidFill>
                  <a:srgbClr val="2D3238"/>
                </a:solidFill>
                <a:latin typeface="Segoe UI"/>
              </a:rPr>
              <a:t> є </a:t>
            </a:r>
            <a:r>
              <a:rPr sz="1400" b="0" dirty="0" err="1">
                <a:solidFill>
                  <a:srgbClr val="2D3238"/>
                </a:solidFill>
                <a:latin typeface="Segoe UI"/>
              </a:rPr>
              <a:t>додатковою</a:t>
            </a:r>
            <a:r>
              <a:rPr sz="1400" b="0" dirty="0">
                <a:solidFill>
                  <a:srgbClr val="2D3238"/>
                </a:solidFill>
                <a:latin typeface="Segoe UI"/>
              </a:rPr>
              <a:t> (</a:t>
            </a:r>
            <a:r>
              <a:rPr sz="1400" b="0" dirty="0" err="1">
                <a:solidFill>
                  <a:srgbClr val="2D3238"/>
                </a:solidFill>
                <a:latin typeface="Segoe UI"/>
              </a:rPr>
              <a:t>м'якою</a:t>
            </a:r>
            <a:r>
              <a:rPr sz="1400" b="0" dirty="0">
                <a:solidFill>
                  <a:srgbClr val="2D3238"/>
                </a:solidFill>
                <a:latin typeface="Segoe UI"/>
              </a:rPr>
              <a:t>) </a:t>
            </a:r>
            <a:r>
              <a:rPr sz="1400" b="0" dirty="0" err="1">
                <a:solidFill>
                  <a:srgbClr val="2D3238"/>
                </a:solidFill>
                <a:latin typeface="Segoe UI"/>
              </a:rPr>
              <a:t>залежністю</a:t>
            </a:r>
            <a:r>
              <a:rPr sz="1400" b="0" dirty="0">
                <a:solidFill>
                  <a:srgbClr val="2D3238"/>
                </a:solidFill>
                <a:latin typeface="Segoe UI"/>
              </a:rPr>
              <a:t>. </a:t>
            </a:r>
            <a:r>
              <a:rPr sz="1400" b="0" dirty="0" err="1">
                <a:solidFill>
                  <a:srgbClr val="2D3238"/>
                </a:solidFill>
                <a:latin typeface="Segoe UI"/>
              </a:rPr>
              <a:t>Якщо</a:t>
            </a:r>
            <a:r>
              <a:rPr sz="1400" b="0" dirty="0">
                <a:solidFill>
                  <a:srgbClr val="2D3238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2D3238"/>
                </a:solidFill>
                <a:latin typeface="Segoe UI"/>
              </a:rPr>
              <a:t>сервер</a:t>
            </a:r>
            <a:r>
              <a:rPr sz="1400" b="0" dirty="0">
                <a:solidFill>
                  <a:srgbClr val="2D3238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2D3238"/>
                </a:solidFill>
                <a:latin typeface="Segoe UI"/>
              </a:rPr>
              <a:t>блогу</a:t>
            </a:r>
            <a:r>
              <a:rPr sz="1400" b="0" dirty="0">
                <a:solidFill>
                  <a:srgbClr val="2D3238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2D3238"/>
                </a:solidFill>
                <a:latin typeface="Segoe UI"/>
              </a:rPr>
              <a:t>недоступний</a:t>
            </a:r>
            <a:r>
              <a:rPr sz="1400" b="0" dirty="0">
                <a:solidFill>
                  <a:srgbClr val="2D3238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2D3238"/>
                </a:solidFill>
                <a:latin typeface="Segoe UI"/>
              </a:rPr>
              <a:t>або</a:t>
            </a:r>
            <a:r>
              <a:rPr sz="1400" b="0" dirty="0">
                <a:solidFill>
                  <a:srgbClr val="2D3238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2D3238"/>
                </a:solidFill>
                <a:latin typeface="Segoe UI"/>
              </a:rPr>
              <a:t>водій</a:t>
            </a:r>
            <a:r>
              <a:rPr sz="1400" b="0" dirty="0">
                <a:solidFill>
                  <a:srgbClr val="2D3238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2D3238"/>
                </a:solidFill>
                <a:latin typeface="Segoe UI"/>
              </a:rPr>
              <a:t>ще</a:t>
            </a:r>
            <a:r>
              <a:rPr sz="1400" b="0" dirty="0">
                <a:solidFill>
                  <a:srgbClr val="2D3238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2D3238"/>
                </a:solidFill>
                <a:latin typeface="Segoe UI"/>
              </a:rPr>
              <a:t>не</a:t>
            </a:r>
            <a:r>
              <a:rPr sz="1400" b="0" dirty="0">
                <a:solidFill>
                  <a:srgbClr val="2D3238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2D3238"/>
                </a:solidFill>
                <a:latin typeface="Segoe UI"/>
              </a:rPr>
              <a:t>синхронізувався</a:t>
            </a:r>
            <a:r>
              <a:rPr sz="1400" b="0" dirty="0">
                <a:solidFill>
                  <a:srgbClr val="2D3238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2D3238"/>
                </a:solidFill>
                <a:latin typeface="Segoe UI"/>
              </a:rPr>
              <a:t>через</a:t>
            </a:r>
            <a:r>
              <a:rPr sz="1400" b="0" dirty="0">
                <a:solidFill>
                  <a:srgbClr val="2D3238"/>
                </a:solidFill>
                <a:latin typeface="Segoe UI"/>
              </a:rPr>
              <a:t> RabbitMQ, catch (</a:t>
            </a:r>
            <a:r>
              <a:rPr sz="1400" b="0" dirty="0" err="1">
                <a:solidFill>
                  <a:srgbClr val="2D3238"/>
                </a:solidFill>
                <a:latin typeface="Segoe UI"/>
              </a:rPr>
              <a:t>RpcException</a:t>
            </a:r>
            <a:r>
              <a:rPr sz="1400" b="0" dirty="0">
                <a:solidFill>
                  <a:srgbClr val="2D3238"/>
                </a:solidFill>
                <a:latin typeface="Segoe UI"/>
              </a:rPr>
              <a:t>) </a:t>
            </a:r>
            <a:r>
              <a:rPr sz="1400" b="0" dirty="0" err="1">
                <a:solidFill>
                  <a:srgbClr val="2D3238"/>
                </a:solidFill>
                <a:latin typeface="Segoe UI"/>
              </a:rPr>
              <a:t>перехоплює</a:t>
            </a:r>
            <a:r>
              <a:rPr sz="1400" b="0" dirty="0">
                <a:solidFill>
                  <a:srgbClr val="2D3238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2D3238"/>
                </a:solidFill>
                <a:latin typeface="Segoe UI"/>
              </a:rPr>
              <a:t>помилку</a:t>
            </a:r>
            <a:r>
              <a:rPr sz="1400" b="0" dirty="0">
                <a:solidFill>
                  <a:srgbClr val="2D3238"/>
                </a:solidFill>
                <a:latin typeface="Segoe UI"/>
              </a:rPr>
              <a:t> і </a:t>
            </a:r>
            <a:r>
              <a:rPr sz="1400" b="0" dirty="0" err="1">
                <a:solidFill>
                  <a:srgbClr val="2D3238"/>
                </a:solidFill>
                <a:latin typeface="Segoe UI"/>
              </a:rPr>
              <a:t>повертає</a:t>
            </a:r>
            <a:r>
              <a:rPr sz="1400" b="0" dirty="0">
                <a:solidFill>
                  <a:srgbClr val="2D3238"/>
                </a:solidFill>
                <a:latin typeface="Segoe UI"/>
              </a:rPr>
              <a:t> 200 OK </a:t>
            </a:r>
            <a:r>
              <a:rPr sz="1400" b="0" dirty="0" err="1">
                <a:solidFill>
                  <a:srgbClr val="2D3238"/>
                </a:solidFill>
                <a:latin typeface="Segoe UI"/>
              </a:rPr>
              <a:t>із</a:t>
            </a:r>
            <a:r>
              <a:rPr sz="1400" b="0" dirty="0">
                <a:solidFill>
                  <a:srgbClr val="2D3238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2D3238"/>
                </a:solidFill>
                <a:latin typeface="Segoe UI"/>
              </a:rPr>
              <a:t>порожнім</a:t>
            </a:r>
            <a:r>
              <a:rPr sz="1400" b="0" dirty="0">
                <a:solidFill>
                  <a:srgbClr val="2D3238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2D3238"/>
                </a:solidFill>
                <a:latin typeface="Segoe UI"/>
              </a:rPr>
              <a:t>списком</a:t>
            </a:r>
            <a:r>
              <a:rPr sz="1400" b="0" dirty="0">
                <a:solidFill>
                  <a:srgbClr val="2D3238"/>
                </a:solidFill>
                <a:latin typeface="Segoe UI"/>
              </a:rPr>
              <a:t> Posts = [] </a:t>
            </a:r>
            <a:r>
              <a:rPr sz="1400" b="0" dirty="0" err="1">
                <a:solidFill>
                  <a:srgbClr val="2D3238"/>
                </a:solidFill>
                <a:latin typeface="Segoe UI"/>
              </a:rPr>
              <a:t>замість</a:t>
            </a:r>
            <a:r>
              <a:rPr sz="1400" b="0" dirty="0">
                <a:solidFill>
                  <a:srgbClr val="2D3238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2D3238"/>
                </a:solidFill>
                <a:latin typeface="Segoe UI"/>
              </a:rPr>
              <a:t>аварії</a:t>
            </a:r>
            <a:r>
              <a:rPr sz="1400" b="0" dirty="0">
                <a:solidFill>
                  <a:srgbClr val="2D3238"/>
                </a:solidFill>
                <a:latin typeface="Segoe UI"/>
              </a:rPr>
              <a:t> 500 Internal Server Error.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4874" y="6420919"/>
            <a:ext cx="7612020" cy="369332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050" dirty="0" err="1">
                <a:solidFill>
                  <a:srgbClr val="5F666E"/>
                </a:solidFill>
                <a:latin typeface="Segoe UI"/>
              </a:rPr>
              <a:t>Клієнтський</a:t>
            </a:r>
            <a:r>
              <a:rPr sz="1050" dirty="0">
                <a:solidFill>
                  <a:srgbClr val="5F666E"/>
                </a:solidFill>
                <a:latin typeface="Segoe UI"/>
              </a:rPr>
              <a:t> CQRS-</a:t>
            </a:r>
            <a:r>
              <a:rPr sz="1050" dirty="0" err="1">
                <a:solidFill>
                  <a:srgbClr val="5F666E"/>
                </a:solidFill>
                <a:latin typeface="Segoe UI"/>
              </a:rPr>
              <a:t>обробник</a:t>
            </a:r>
            <a:r>
              <a:rPr sz="1050" dirty="0">
                <a:solidFill>
                  <a:srgbClr val="5F666E"/>
                </a:solidFill>
                <a:latin typeface="Segoe UI"/>
              </a:rPr>
              <a:t>: </a:t>
            </a:r>
            <a:r>
              <a:rPr sz="1050" dirty="0" err="1">
                <a:solidFill>
                  <a:srgbClr val="5F666E"/>
                </a:solidFill>
                <a:latin typeface="Segoe UI"/>
              </a:rPr>
              <a:t>DriversManagement</a:t>
            </a:r>
            <a:r>
              <a:rPr sz="1050" dirty="0">
                <a:solidFill>
                  <a:srgbClr val="5F666E"/>
                </a:solidFill>
                <a:latin typeface="Segoe UI"/>
              </a:rPr>
              <a:t>/</a:t>
            </a:r>
            <a:r>
              <a:rPr sz="1050" dirty="0" err="1">
                <a:solidFill>
                  <a:srgbClr val="5F666E"/>
                </a:solidFill>
                <a:latin typeface="Segoe UI"/>
              </a:rPr>
              <a:t>src</a:t>
            </a:r>
            <a:r>
              <a:rPr sz="1050" dirty="0">
                <a:solidFill>
                  <a:srgbClr val="5F666E"/>
                </a:solidFill>
                <a:latin typeface="Segoe UI"/>
              </a:rPr>
              <a:t>/</a:t>
            </a:r>
            <a:r>
              <a:rPr sz="1050" dirty="0" err="1">
                <a:solidFill>
                  <a:srgbClr val="5F666E"/>
                </a:solidFill>
                <a:latin typeface="Segoe UI"/>
              </a:rPr>
              <a:t>DriversManagement</a:t>
            </a:r>
            <a:r>
              <a:rPr sz="1050" dirty="0">
                <a:solidFill>
                  <a:srgbClr val="5F666E"/>
                </a:solidFill>
                <a:latin typeface="Segoe UI"/>
              </a:rPr>
              <a:t>/Domain/Drivers/Features/GetDriver.cs#L47-L118</a:t>
            </a:r>
            <a:r>
              <a:rPr sz="1050" b="1" dirty="0">
                <a:solidFill>
                  <a:srgbClr val="111418"/>
                </a:solidFill>
                <a:latin typeface="Segoe UI"/>
                <a:hlinkClick r:id="rId2"/>
              </a:rPr>
              <a:t>  </a:t>
            </a:r>
            <a:br>
              <a:rPr lang="uk-UA" sz="1050" b="1" dirty="0">
                <a:solidFill>
                  <a:srgbClr val="111418"/>
                </a:solidFill>
                <a:latin typeface="Segoe UI"/>
                <a:hlinkClick r:id="rId2"/>
              </a:rPr>
            </a:br>
            <a:r>
              <a:rPr sz="1050" b="1" dirty="0">
                <a:solidFill>
                  <a:srgbClr val="111418"/>
                </a:solidFill>
                <a:latin typeface="Segoe UI"/>
                <a:hlinkClick r:id="rId2"/>
              </a:rPr>
              <a:t> |   </a:t>
            </a:r>
            <a:r>
              <a:rPr sz="1050" b="1" dirty="0" err="1">
                <a:solidFill>
                  <a:srgbClr val="111418"/>
                </a:solidFill>
                <a:latin typeface="Segoe UI"/>
                <a:hlinkClick r:id="rId2"/>
              </a:rPr>
              <a:t>Джерело</a:t>
            </a:r>
            <a:r>
              <a:rPr sz="1050" b="1" dirty="0">
                <a:solidFill>
                  <a:srgbClr val="111418"/>
                </a:solidFill>
                <a:latin typeface="Segoe UI"/>
                <a:hlinkClick r:id="rId2"/>
              </a:rPr>
              <a:t>: https://learn.microsoft.com/en-us/azure/architecture/patterns/anti-corruption-layer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49840" y="6464808"/>
            <a:ext cx="1536192" cy="292608"/>
          </a:xfrm>
          <a:prstGeom prst="rect">
            <a:avLst/>
          </a:prstGeom>
          <a:noFill/>
        </p:spPr>
        <p:txBody>
          <a:bodyPr wrap="none" tIns="0" rIns="0">
            <a:spAutoFit/>
          </a:bodyPr>
          <a:lstStyle/>
          <a:p>
            <a:pPr algn="r">
              <a:defRPr sz="1100" b="1">
                <a:solidFill>
                  <a:srgbClr val="111418"/>
                </a:solidFill>
                <a:latin typeface="Segoe UI"/>
              </a:defRPr>
            </a:pPr>
            <a:r>
              <a:t>Слайд 23 з 28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11183112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5F666E"/>
                </a:solidFill>
                <a:latin typeface="Segoe UI"/>
              </a:defRPr>
            </a:pPr>
            <a:r>
              <a:t>РОЗДІЛ 8. РОЗШИРЕНІ МОЖЛИВОСТІ GRPC У .NET 10</a:t>
            </a:r>
          </a:p>
          <a:p>
            <a:pPr>
              <a:defRPr sz="2400" b="1">
                <a:solidFill>
                  <a:srgbClr val="111418"/>
                </a:solidFill>
                <a:latin typeface="Segoe UI"/>
              </a:defRPr>
            </a:pPr>
            <a:r>
              <a:t>Поширення скасування (Cancellation Propagation) та клієнтське балансування HTTP/2</a:t>
            </a:r>
          </a:p>
          <a:p>
            <a:pPr>
              <a:defRPr sz="1350">
                <a:solidFill>
                  <a:srgbClr val="5F666E"/>
                </a:solidFill>
                <a:latin typeface="Segoe UI"/>
              </a:defRPr>
            </a:pPr>
            <a:r>
              <a:t>Як прокидання CancellationToken та балансування Grpc.Net.Client захищають ресурси кластера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15568"/>
            <a:ext cx="11183112" cy="18288"/>
          </a:xfrm>
          <a:prstGeom prst="rect">
            <a:avLst/>
          </a:prstGeom>
          <a:solidFill>
            <a:srgbClr val="505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14554" y="1380744"/>
            <a:ext cx="5440680" cy="4937760"/>
          </a:xfrm>
          <a:prstGeom prst="rect">
            <a:avLst/>
          </a:prstGeom>
          <a:solidFill>
            <a:srgbClr val="F6F7F8"/>
          </a:solidFill>
          <a:ln w="12700">
            <a:solidFill>
              <a:srgbClr val="B9B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46304" rIns="182880" bIns="128016" rtlCol="0" anchor="t"/>
          <a:lstStyle/>
          <a:p>
            <a:pPr algn="ctr">
              <a:spcAft>
                <a:spcPts val="800"/>
              </a:spcAft>
              <a:defRPr sz="1650" b="1">
                <a:solidFill>
                  <a:srgbClr val="111418"/>
                </a:solidFill>
                <a:latin typeface="Segoe UI"/>
              </a:defRPr>
            </a:pPr>
            <a:r>
              <a:rPr dirty="0"/>
              <a:t>1. </a:t>
            </a:r>
            <a:r>
              <a:rPr dirty="0" err="1"/>
              <a:t>Каскадне</a:t>
            </a:r>
            <a:r>
              <a:rPr dirty="0"/>
              <a:t> </a:t>
            </a:r>
            <a:r>
              <a:rPr dirty="0" err="1"/>
              <a:t>скасування</a:t>
            </a:r>
            <a:r>
              <a:rPr dirty="0"/>
              <a:t> </a:t>
            </a:r>
            <a:r>
              <a:rPr dirty="0" err="1"/>
              <a:t>запиту</a:t>
            </a:r>
            <a:r>
              <a:rPr dirty="0"/>
              <a:t> (RST_STREAM)</a:t>
            </a:r>
          </a:p>
          <a:p>
            <a:pPr>
              <a:spcAft>
                <a:spcPts val="800"/>
              </a:spcAft>
            </a:pPr>
            <a:r>
              <a:rPr sz="1420" b="1" dirty="0">
                <a:solidFill>
                  <a:srgbClr val="111418"/>
                </a:solidFill>
                <a:latin typeface="Segoe UI"/>
              </a:rPr>
              <a:t>• </a:t>
            </a:r>
            <a:r>
              <a:rPr sz="1420" b="1" dirty="0" err="1">
                <a:solidFill>
                  <a:srgbClr val="111418"/>
                </a:solidFill>
                <a:latin typeface="Segoe UI"/>
              </a:rPr>
              <a:t>Передача</a:t>
            </a:r>
            <a:r>
              <a:rPr sz="1420" b="1" dirty="0">
                <a:solidFill>
                  <a:srgbClr val="111418"/>
                </a:solidFill>
                <a:latin typeface="Segoe UI"/>
              </a:rPr>
              <a:t> </a:t>
            </a:r>
            <a:r>
              <a:rPr sz="1420" b="1" dirty="0" err="1">
                <a:solidFill>
                  <a:srgbClr val="111418"/>
                </a:solidFill>
                <a:latin typeface="Segoe UI"/>
              </a:rPr>
              <a:t>токена</a:t>
            </a:r>
            <a:r>
              <a:rPr sz="1420" b="1" dirty="0">
                <a:solidFill>
                  <a:srgbClr val="111418"/>
                </a:solidFill>
                <a:latin typeface="Segoe UI"/>
              </a:rPr>
              <a:t> у </a:t>
            </a:r>
            <a:r>
              <a:rPr sz="1420" b="1" dirty="0" err="1">
                <a:solidFill>
                  <a:srgbClr val="111418"/>
                </a:solidFill>
                <a:latin typeface="Segoe UI"/>
              </a:rPr>
              <a:t>виклик</a:t>
            </a:r>
            <a:r>
              <a:rPr sz="1420" b="1" dirty="0">
                <a:solidFill>
                  <a:srgbClr val="111418"/>
                </a:solidFill>
                <a:latin typeface="Segoe UI"/>
              </a:rPr>
              <a:t>:
</a:t>
            </a:r>
            <a:r>
              <a:rPr sz="1420" b="0" dirty="0">
                <a:solidFill>
                  <a:srgbClr val="2D3238"/>
                </a:solidFill>
                <a:latin typeface="Segoe UI"/>
              </a:rPr>
              <a:t>у GetDriver.cs#L95 </a:t>
            </a:r>
            <a:r>
              <a:rPr sz="1420" b="0" dirty="0" err="1">
                <a:solidFill>
                  <a:srgbClr val="2D3238"/>
                </a:solidFill>
                <a:latin typeface="Segoe UI"/>
              </a:rPr>
              <a:t>ми</a:t>
            </a:r>
            <a:r>
              <a:rPr sz="1420" b="0" dirty="0">
                <a:solidFill>
                  <a:srgbClr val="2D3238"/>
                </a:solidFill>
                <a:latin typeface="Segoe UI"/>
              </a:rPr>
              <a:t> </a:t>
            </a:r>
            <a:r>
              <a:rPr sz="1420" b="0" dirty="0" err="1">
                <a:solidFill>
                  <a:srgbClr val="2D3238"/>
                </a:solidFill>
                <a:latin typeface="Segoe UI"/>
              </a:rPr>
              <a:t>передаємо</a:t>
            </a:r>
            <a:r>
              <a:rPr sz="1420" b="0" dirty="0">
                <a:solidFill>
                  <a:srgbClr val="2D3238"/>
                </a:solidFill>
                <a:latin typeface="Segoe UI"/>
              </a:rPr>
              <a:t> </a:t>
            </a:r>
            <a:r>
              <a:rPr sz="1420" b="0" dirty="0" err="1">
                <a:solidFill>
                  <a:srgbClr val="2D3238"/>
                </a:solidFill>
                <a:latin typeface="Segoe UI"/>
              </a:rPr>
              <a:t>cancellationToken</a:t>
            </a:r>
            <a:r>
              <a:rPr sz="1420" b="0" dirty="0">
                <a:solidFill>
                  <a:srgbClr val="2D3238"/>
                </a:solidFill>
                <a:latin typeface="Segoe UI"/>
              </a:rPr>
              <a:t> у _</a:t>
            </a:r>
            <a:r>
              <a:rPr sz="1420" b="0" dirty="0" err="1">
                <a:solidFill>
                  <a:srgbClr val="2D3238"/>
                </a:solidFill>
                <a:latin typeface="Segoe UI"/>
              </a:rPr>
              <a:t>client.GetDriverWithPostsAsync</a:t>
            </a:r>
            <a:r>
              <a:rPr sz="1420" b="0" dirty="0">
                <a:solidFill>
                  <a:srgbClr val="2D3238"/>
                </a:solidFill>
                <a:latin typeface="Segoe UI"/>
              </a:rPr>
              <a:t>(..., </a:t>
            </a:r>
            <a:r>
              <a:rPr sz="1420" b="0" dirty="0" err="1">
                <a:solidFill>
                  <a:srgbClr val="2D3238"/>
                </a:solidFill>
                <a:latin typeface="Segoe UI"/>
              </a:rPr>
              <a:t>cancellationToken</a:t>
            </a:r>
            <a:r>
              <a:rPr sz="1420" b="0" dirty="0">
                <a:solidFill>
                  <a:srgbClr val="2D3238"/>
                </a:solidFill>
                <a:latin typeface="Segoe UI"/>
              </a:rPr>
              <a:t>).</a:t>
            </a:r>
          </a:p>
          <a:p>
            <a:pPr>
              <a:spcAft>
                <a:spcPts val="800"/>
              </a:spcAft>
            </a:pPr>
            <a:r>
              <a:rPr sz="1420" b="1" dirty="0">
                <a:solidFill>
                  <a:srgbClr val="111418"/>
                </a:solidFill>
                <a:latin typeface="Segoe UI"/>
              </a:rPr>
              <a:t>• </a:t>
            </a:r>
            <a:r>
              <a:rPr sz="1420" b="1" dirty="0" err="1">
                <a:solidFill>
                  <a:srgbClr val="111418"/>
                </a:solidFill>
                <a:latin typeface="Segoe UI"/>
              </a:rPr>
              <a:t>Що</a:t>
            </a:r>
            <a:r>
              <a:rPr sz="1420" b="1" dirty="0">
                <a:solidFill>
                  <a:srgbClr val="111418"/>
                </a:solidFill>
                <a:latin typeface="Segoe UI"/>
              </a:rPr>
              <a:t> </a:t>
            </a:r>
            <a:r>
              <a:rPr sz="1420" b="1" dirty="0" err="1">
                <a:solidFill>
                  <a:srgbClr val="111418"/>
                </a:solidFill>
                <a:latin typeface="Segoe UI"/>
              </a:rPr>
              <a:t>відбувається</a:t>
            </a:r>
            <a:r>
              <a:rPr sz="1420" b="1" dirty="0">
                <a:solidFill>
                  <a:srgbClr val="111418"/>
                </a:solidFill>
                <a:latin typeface="Segoe UI"/>
              </a:rPr>
              <a:t> </a:t>
            </a:r>
            <a:r>
              <a:rPr sz="1420" b="1" dirty="0" err="1">
                <a:solidFill>
                  <a:srgbClr val="111418"/>
                </a:solidFill>
                <a:latin typeface="Segoe UI"/>
              </a:rPr>
              <a:t>на</a:t>
            </a:r>
            <a:r>
              <a:rPr sz="1420" b="1" dirty="0">
                <a:solidFill>
                  <a:srgbClr val="111418"/>
                </a:solidFill>
                <a:latin typeface="Segoe UI"/>
              </a:rPr>
              <a:t> </a:t>
            </a:r>
            <a:r>
              <a:rPr sz="1420" b="1" dirty="0" err="1">
                <a:solidFill>
                  <a:srgbClr val="111418"/>
                </a:solidFill>
                <a:latin typeface="Segoe UI"/>
              </a:rPr>
              <a:t>рівні</a:t>
            </a:r>
            <a:r>
              <a:rPr sz="1420" b="1" dirty="0">
                <a:solidFill>
                  <a:srgbClr val="111418"/>
                </a:solidFill>
                <a:latin typeface="Segoe UI"/>
              </a:rPr>
              <a:t> HTTP/2:
</a:t>
            </a:r>
            <a:r>
              <a:rPr sz="1420" b="0" dirty="0" err="1">
                <a:solidFill>
                  <a:srgbClr val="2D3238"/>
                </a:solidFill>
                <a:latin typeface="Segoe UI"/>
              </a:rPr>
              <a:t>якщо</a:t>
            </a:r>
            <a:r>
              <a:rPr sz="1420" b="0" dirty="0">
                <a:solidFill>
                  <a:srgbClr val="2D3238"/>
                </a:solidFill>
                <a:latin typeface="Segoe UI"/>
              </a:rPr>
              <a:t> </a:t>
            </a:r>
            <a:r>
              <a:rPr sz="1420" b="0" dirty="0" err="1">
                <a:solidFill>
                  <a:srgbClr val="2D3238"/>
                </a:solidFill>
                <a:latin typeface="Segoe UI"/>
              </a:rPr>
              <a:t>зовнішній</a:t>
            </a:r>
            <a:r>
              <a:rPr sz="1420" b="0" dirty="0">
                <a:solidFill>
                  <a:srgbClr val="2D3238"/>
                </a:solidFill>
                <a:latin typeface="Segoe UI"/>
              </a:rPr>
              <a:t> </a:t>
            </a:r>
            <a:r>
              <a:rPr sz="1420" b="0" dirty="0" err="1">
                <a:solidFill>
                  <a:srgbClr val="2D3238"/>
                </a:solidFill>
                <a:latin typeface="Segoe UI"/>
              </a:rPr>
              <a:t>користувач</a:t>
            </a:r>
            <a:r>
              <a:rPr sz="1420" b="0" dirty="0">
                <a:solidFill>
                  <a:srgbClr val="2D3238"/>
                </a:solidFill>
                <a:latin typeface="Segoe UI"/>
              </a:rPr>
              <a:t> </a:t>
            </a:r>
            <a:r>
              <a:rPr sz="1420" b="0" dirty="0" err="1">
                <a:solidFill>
                  <a:srgbClr val="2D3238"/>
                </a:solidFill>
                <a:latin typeface="Segoe UI"/>
              </a:rPr>
              <a:t>закрив</a:t>
            </a:r>
            <a:r>
              <a:rPr sz="1420" b="0" dirty="0">
                <a:solidFill>
                  <a:srgbClr val="2D3238"/>
                </a:solidFill>
                <a:latin typeface="Segoe UI"/>
              </a:rPr>
              <a:t> </a:t>
            </a:r>
            <a:r>
              <a:rPr sz="1420" b="0" dirty="0" err="1">
                <a:solidFill>
                  <a:srgbClr val="2D3238"/>
                </a:solidFill>
                <a:latin typeface="Segoe UI"/>
              </a:rPr>
              <a:t>вкладку</a:t>
            </a:r>
            <a:r>
              <a:rPr sz="1420" b="0" dirty="0">
                <a:solidFill>
                  <a:srgbClr val="2D3238"/>
                </a:solidFill>
                <a:latin typeface="Segoe UI"/>
              </a:rPr>
              <a:t> </a:t>
            </a:r>
            <a:r>
              <a:rPr sz="1420" b="0" dirty="0" err="1">
                <a:solidFill>
                  <a:srgbClr val="2D3238"/>
                </a:solidFill>
                <a:latin typeface="Segoe UI"/>
              </a:rPr>
              <a:t>браузера</a:t>
            </a:r>
            <a:r>
              <a:rPr sz="1420" b="0" dirty="0">
                <a:solidFill>
                  <a:srgbClr val="2D3238"/>
                </a:solidFill>
                <a:latin typeface="Segoe UI"/>
              </a:rPr>
              <a:t> </a:t>
            </a:r>
            <a:r>
              <a:rPr sz="1420" b="0" dirty="0" err="1">
                <a:solidFill>
                  <a:srgbClr val="2D3238"/>
                </a:solidFill>
                <a:latin typeface="Segoe UI"/>
              </a:rPr>
              <a:t>або</a:t>
            </a:r>
            <a:r>
              <a:rPr sz="1420" b="0" dirty="0">
                <a:solidFill>
                  <a:srgbClr val="2D3238"/>
                </a:solidFill>
                <a:latin typeface="Segoe UI"/>
              </a:rPr>
              <a:t> </a:t>
            </a:r>
            <a:r>
              <a:rPr sz="1420" b="0" dirty="0" err="1">
                <a:solidFill>
                  <a:srgbClr val="2D3238"/>
                </a:solidFill>
                <a:latin typeface="Segoe UI"/>
              </a:rPr>
              <a:t>спрацював</a:t>
            </a:r>
            <a:r>
              <a:rPr sz="1420" b="0" dirty="0">
                <a:solidFill>
                  <a:srgbClr val="2D3238"/>
                </a:solidFill>
                <a:latin typeface="Segoe UI"/>
              </a:rPr>
              <a:t> 1-секундний </a:t>
            </a:r>
            <a:r>
              <a:rPr sz="1420" b="0" dirty="0" err="1">
                <a:solidFill>
                  <a:srgbClr val="2D3238"/>
                </a:solidFill>
                <a:latin typeface="Segoe UI"/>
              </a:rPr>
              <a:t>ліміт</a:t>
            </a:r>
            <a:r>
              <a:rPr sz="1420" b="0" dirty="0">
                <a:solidFill>
                  <a:srgbClr val="2D3238"/>
                </a:solidFill>
                <a:latin typeface="Segoe UI"/>
              </a:rPr>
              <a:t> Polly, </a:t>
            </a:r>
            <a:r>
              <a:rPr sz="1420" b="0" dirty="0" err="1">
                <a:solidFill>
                  <a:srgbClr val="2D3238"/>
                </a:solidFill>
                <a:latin typeface="Segoe UI"/>
              </a:rPr>
              <a:t>клієнт</a:t>
            </a:r>
            <a:r>
              <a:rPr sz="1420" b="0" dirty="0">
                <a:solidFill>
                  <a:srgbClr val="2D3238"/>
                </a:solidFill>
                <a:latin typeface="Segoe UI"/>
              </a:rPr>
              <a:t> </a:t>
            </a:r>
            <a:r>
              <a:rPr sz="1420" b="0" dirty="0" err="1">
                <a:solidFill>
                  <a:srgbClr val="2D3238"/>
                </a:solidFill>
                <a:latin typeface="Segoe UI"/>
              </a:rPr>
              <a:t>миттєво</a:t>
            </a:r>
            <a:r>
              <a:rPr sz="1420" b="0" dirty="0">
                <a:solidFill>
                  <a:srgbClr val="2D3238"/>
                </a:solidFill>
                <a:latin typeface="Segoe UI"/>
              </a:rPr>
              <a:t> </a:t>
            </a:r>
            <a:r>
              <a:rPr sz="1420" b="0" dirty="0" err="1">
                <a:solidFill>
                  <a:srgbClr val="2D3238"/>
                </a:solidFill>
                <a:latin typeface="Segoe UI"/>
              </a:rPr>
              <a:t>відправляє</a:t>
            </a:r>
            <a:r>
              <a:rPr sz="1420" b="0" dirty="0">
                <a:solidFill>
                  <a:srgbClr val="2D3238"/>
                </a:solidFill>
                <a:latin typeface="Segoe UI"/>
              </a:rPr>
              <a:t> в </a:t>
            </a:r>
            <a:r>
              <a:rPr sz="1420" b="0" dirty="0" err="1">
                <a:solidFill>
                  <a:srgbClr val="2D3238"/>
                </a:solidFill>
                <a:latin typeface="Segoe UI"/>
              </a:rPr>
              <a:t>сокет</a:t>
            </a:r>
            <a:r>
              <a:rPr sz="1420" b="0" dirty="0">
                <a:solidFill>
                  <a:srgbClr val="2D3238"/>
                </a:solidFill>
                <a:latin typeface="Segoe UI"/>
              </a:rPr>
              <a:t> </a:t>
            </a:r>
            <a:r>
              <a:rPr sz="1420" b="0" dirty="0" err="1">
                <a:solidFill>
                  <a:srgbClr val="2D3238"/>
                </a:solidFill>
                <a:latin typeface="Segoe UI"/>
              </a:rPr>
              <a:t>бінарний</a:t>
            </a:r>
            <a:r>
              <a:rPr sz="1420" b="0" dirty="0">
                <a:solidFill>
                  <a:srgbClr val="2D3238"/>
                </a:solidFill>
                <a:latin typeface="Segoe UI"/>
              </a:rPr>
              <a:t> </a:t>
            </a:r>
            <a:r>
              <a:rPr sz="1420" b="0" dirty="0" err="1">
                <a:solidFill>
                  <a:srgbClr val="2D3238"/>
                </a:solidFill>
                <a:latin typeface="Segoe UI"/>
              </a:rPr>
              <a:t>кадр</a:t>
            </a:r>
            <a:r>
              <a:rPr sz="1420" b="0" dirty="0">
                <a:solidFill>
                  <a:srgbClr val="2D3238"/>
                </a:solidFill>
                <a:latin typeface="Segoe UI"/>
              </a:rPr>
              <a:t> HTTP/2 RST_STREAM (Cancel).</a:t>
            </a:r>
          </a:p>
          <a:p>
            <a:pPr>
              <a:spcAft>
                <a:spcPts val="600"/>
              </a:spcAft>
            </a:pPr>
            <a:r>
              <a:rPr sz="1420" b="1" dirty="0">
                <a:solidFill>
                  <a:srgbClr val="111418"/>
                </a:solidFill>
                <a:latin typeface="Segoe UI"/>
              </a:rPr>
              <a:t>• </a:t>
            </a:r>
            <a:r>
              <a:rPr sz="1420" b="1" dirty="0" err="1">
                <a:solidFill>
                  <a:srgbClr val="111418"/>
                </a:solidFill>
                <a:latin typeface="Segoe UI"/>
              </a:rPr>
              <a:t>Економія</a:t>
            </a:r>
            <a:r>
              <a:rPr sz="1420" b="1" dirty="0">
                <a:solidFill>
                  <a:srgbClr val="111418"/>
                </a:solidFill>
                <a:latin typeface="Segoe UI"/>
              </a:rPr>
              <a:t> ресурсів </a:t>
            </a:r>
            <a:r>
              <a:rPr sz="1420" b="1" dirty="0" err="1">
                <a:solidFill>
                  <a:srgbClr val="111418"/>
                </a:solidFill>
                <a:latin typeface="Segoe UI"/>
              </a:rPr>
              <a:t>сервера</a:t>
            </a:r>
            <a:r>
              <a:rPr sz="1420" b="1" dirty="0">
                <a:solidFill>
                  <a:srgbClr val="111418"/>
                </a:solidFill>
                <a:latin typeface="Segoe UI"/>
              </a:rPr>
              <a:t>:
</a:t>
            </a:r>
            <a:r>
              <a:rPr sz="1420" b="0" dirty="0" err="1">
                <a:solidFill>
                  <a:srgbClr val="2D3238"/>
                </a:solidFill>
                <a:latin typeface="Segoe UI"/>
              </a:rPr>
              <a:t>сервер</a:t>
            </a:r>
            <a:r>
              <a:rPr sz="1420" b="0" dirty="0">
                <a:solidFill>
                  <a:srgbClr val="2D3238"/>
                </a:solidFill>
                <a:latin typeface="Segoe UI"/>
              </a:rPr>
              <a:t> Kestrel у </a:t>
            </a:r>
            <a:r>
              <a:rPr sz="1420" b="0" dirty="0" err="1">
                <a:solidFill>
                  <a:srgbClr val="2D3238"/>
                </a:solidFill>
                <a:latin typeface="Segoe UI"/>
              </a:rPr>
              <a:t>DriversBlogManagement</a:t>
            </a:r>
            <a:r>
              <a:rPr sz="1420" b="0" dirty="0">
                <a:solidFill>
                  <a:srgbClr val="2D3238"/>
                </a:solidFill>
                <a:latin typeface="Segoe UI"/>
              </a:rPr>
              <a:t> </a:t>
            </a:r>
            <a:r>
              <a:rPr sz="1420" b="0" dirty="0" err="1">
                <a:solidFill>
                  <a:srgbClr val="2D3238"/>
                </a:solidFill>
                <a:latin typeface="Segoe UI"/>
              </a:rPr>
              <a:t>автоматично</a:t>
            </a:r>
            <a:r>
              <a:rPr sz="1420" b="0" dirty="0">
                <a:solidFill>
                  <a:srgbClr val="2D3238"/>
                </a:solidFill>
                <a:latin typeface="Segoe UI"/>
              </a:rPr>
              <a:t> </a:t>
            </a:r>
            <a:r>
              <a:rPr sz="1420" b="0" dirty="0" err="1">
                <a:solidFill>
                  <a:srgbClr val="2D3238"/>
                </a:solidFill>
                <a:latin typeface="Segoe UI"/>
              </a:rPr>
              <a:t>переводить</a:t>
            </a:r>
            <a:r>
              <a:rPr sz="1420" b="0" dirty="0">
                <a:solidFill>
                  <a:srgbClr val="2D3238"/>
                </a:solidFill>
                <a:latin typeface="Segoe UI"/>
              </a:rPr>
              <a:t> </a:t>
            </a:r>
            <a:r>
              <a:rPr sz="1420" b="0" dirty="0" err="1">
                <a:solidFill>
                  <a:srgbClr val="2D3238"/>
                </a:solidFill>
                <a:latin typeface="Segoe UI"/>
              </a:rPr>
              <a:t>свій</a:t>
            </a:r>
            <a:r>
              <a:rPr sz="1420" b="0" dirty="0">
                <a:solidFill>
                  <a:srgbClr val="2D3238"/>
                </a:solidFill>
                <a:latin typeface="Segoe UI"/>
              </a:rPr>
              <a:t> </a:t>
            </a:r>
            <a:r>
              <a:rPr sz="1420" b="0" dirty="0" err="1">
                <a:solidFill>
                  <a:srgbClr val="2D3238"/>
                </a:solidFill>
                <a:latin typeface="Segoe UI"/>
              </a:rPr>
              <a:t>ServerCallContext.CancellationToken</a:t>
            </a:r>
            <a:r>
              <a:rPr sz="1420" b="0" dirty="0">
                <a:solidFill>
                  <a:srgbClr val="2D3238"/>
                </a:solidFill>
                <a:latin typeface="Segoe UI"/>
              </a:rPr>
              <a:t> у </a:t>
            </a:r>
            <a:r>
              <a:rPr sz="1420" b="0" dirty="0" err="1">
                <a:solidFill>
                  <a:srgbClr val="2D3238"/>
                </a:solidFill>
                <a:latin typeface="Segoe UI"/>
              </a:rPr>
              <a:t>стан</a:t>
            </a:r>
            <a:r>
              <a:rPr sz="1420" b="0" dirty="0">
                <a:solidFill>
                  <a:srgbClr val="2D3238"/>
                </a:solidFill>
                <a:latin typeface="Segoe UI"/>
              </a:rPr>
              <a:t> </a:t>
            </a:r>
            <a:r>
              <a:rPr sz="1420" b="0" dirty="0" err="1">
                <a:solidFill>
                  <a:srgbClr val="2D3238"/>
                </a:solidFill>
                <a:latin typeface="Segoe UI"/>
              </a:rPr>
              <a:t>скасування</a:t>
            </a:r>
            <a:r>
              <a:rPr sz="1420" b="0" dirty="0">
                <a:solidFill>
                  <a:srgbClr val="2D3238"/>
                </a:solidFill>
                <a:latin typeface="Segoe UI"/>
              </a:rPr>
              <a:t> і </a:t>
            </a:r>
            <a:r>
              <a:rPr sz="1420" b="0" dirty="0" err="1">
                <a:solidFill>
                  <a:srgbClr val="2D3238"/>
                </a:solidFill>
                <a:latin typeface="Segoe UI"/>
              </a:rPr>
              <a:t>перериває</a:t>
            </a:r>
            <a:r>
              <a:rPr sz="1420" b="0" dirty="0">
                <a:solidFill>
                  <a:srgbClr val="2D3238"/>
                </a:solidFill>
                <a:latin typeface="Segoe UI"/>
              </a:rPr>
              <a:t> </a:t>
            </a:r>
            <a:r>
              <a:rPr sz="1420" b="0" dirty="0" err="1">
                <a:solidFill>
                  <a:srgbClr val="2D3238"/>
                </a:solidFill>
                <a:latin typeface="Segoe UI"/>
              </a:rPr>
              <a:t>важкий</a:t>
            </a:r>
            <a:r>
              <a:rPr sz="1420" b="0" dirty="0">
                <a:solidFill>
                  <a:srgbClr val="2D3238"/>
                </a:solidFill>
                <a:latin typeface="Segoe UI"/>
              </a:rPr>
              <a:t> SQL-</a:t>
            </a:r>
            <a:r>
              <a:rPr sz="1420" b="0" dirty="0" err="1">
                <a:solidFill>
                  <a:srgbClr val="2D3238"/>
                </a:solidFill>
                <a:latin typeface="Segoe UI"/>
              </a:rPr>
              <a:t>запит</a:t>
            </a:r>
            <a:r>
              <a:rPr sz="1420" b="0" dirty="0">
                <a:solidFill>
                  <a:srgbClr val="2D3238"/>
                </a:solidFill>
                <a:latin typeface="Segoe UI"/>
              </a:rPr>
              <a:t> </a:t>
            </a:r>
            <a:r>
              <a:rPr sz="1420" b="0" dirty="0" err="1">
                <a:solidFill>
                  <a:srgbClr val="2D3238"/>
                </a:solidFill>
                <a:latin typeface="Segoe UI"/>
              </a:rPr>
              <a:t>до</a:t>
            </a:r>
            <a:r>
              <a:rPr sz="1420" b="0" dirty="0">
                <a:solidFill>
                  <a:srgbClr val="2D3238"/>
                </a:solidFill>
                <a:latin typeface="Segoe UI"/>
              </a:rPr>
              <a:t> БД.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75834" y="1380744"/>
            <a:ext cx="5440680" cy="4937760"/>
          </a:xfrm>
          <a:prstGeom prst="rect">
            <a:avLst/>
          </a:prstGeom>
          <a:solidFill>
            <a:srgbClr val="F6F7F8"/>
          </a:solidFill>
          <a:ln w="12700">
            <a:solidFill>
              <a:srgbClr val="B9B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46304" rIns="182880" bIns="128016" rtlCol="0" anchor="t"/>
          <a:lstStyle/>
          <a:p>
            <a:pPr algn="ctr">
              <a:spcAft>
                <a:spcPts val="800"/>
              </a:spcAft>
              <a:defRPr sz="1650" b="1">
                <a:solidFill>
                  <a:srgbClr val="111418"/>
                </a:solidFill>
                <a:latin typeface="Segoe UI"/>
              </a:defRPr>
            </a:pPr>
            <a:r>
              <a:rPr dirty="0"/>
              <a:t>2. </a:t>
            </a:r>
            <a:r>
              <a:rPr dirty="0" err="1"/>
              <a:t>Особливість</a:t>
            </a:r>
            <a:r>
              <a:rPr dirty="0"/>
              <a:t> L4-балансування HTTP/2 у Kubernetes</a:t>
            </a:r>
          </a:p>
          <a:p>
            <a:pPr>
              <a:spcAft>
                <a:spcPts val="800"/>
              </a:spcAft>
            </a:pPr>
            <a:r>
              <a:rPr sz="1420" b="1" dirty="0">
                <a:solidFill>
                  <a:srgbClr val="111418"/>
                </a:solidFill>
                <a:latin typeface="Segoe UI"/>
              </a:rPr>
              <a:t>• </a:t>
            </a:r>
            <a:r>
              <a:rPr sz="1420" b="1" dirty="0" err="1">
                <a:solidFill>
                  <a:srgbClr val="111418"/>
                </a:solidFill>
                <a:latin typeface="Segoe UI"/>
              </a:rPr>
              <a:t>Проблема</a:t>
            </a:r>
            <a:r>
              <a:rPr sz="1420" b="1" dirty="0">
                <a:solidFill>
                  <a:srgbClr val="111418"/>
                </a:solidFill>
                <a:latin typeface="Segoe UI"/>
              </a:rPr>
              <a:t> </a:t>
            </a:r>
            <a:r>
              <a:rPr sz="1420" b="1" dirty="0" err="1">
                <a:solidFill>
                  <a:srgbClr val="111418"/>
                </a:solidFill>
                <a:latin typeface="Segoe UI"/>
              </a:rPr>
              <a:t>одного</a:t>
            </a:r>
            <a:r>
              <a:rPr sz="1420" b="1" dirty="0">
                <a:solidFill>
                  <a:srgbClr val="111418"/>
                </a:solidFill>
                <a:latin typeface="Segoe UI"/>
              </a:rPr>
              <a:t> </a:t>
            </a:r>
            <a:r>
              <a:rPr sz="1420" b="1" dirty="0" err="1">
                <a:solidFill>
                  <a:srgbClr val="111418"/>
                </a:solidFill>
                <a:latin typeface="Segoe UI"/>
              </a:rPr>
              <a:t>з'єднання</a:t>
            </a:r>
            <a:r>
              <a:rPr sz="1420" b="1" dirty="0">
                <a:solidFill>
                  <a:srgbClr val="111418"/>
                </a:solidFill>
                <a:latin typeface="Segoe UI"/>
              </a:rPr>
              <a:t>:
</a:t>
            </a:r>
            <a:r>
              <a:rPr sz="1420" b="0" dirty="0" err="1">
                <a:solidFill>
                  <a:srgbClr val="2D3238"/>
                </a:solidFill>
                <a:latin typeface="Segoe UI"/>
              </a:rPr>
              <a:t>оскільки</a:t>
            </a:r>
            <a:r>
              <a:rPr sz="1420" b="0" dirty="0">
                <a:solidFill>
                  <a:srgbClr val="2D3238"/>
                </a:solidFill>
                <a:latin typeface="Segoe UI"/>
              </a:rPr>
              <a:t> </a:t>
            </a:r>
            <a:r>
              <a:rPr sz="1420" b="0" dirty="0" err="1">
                <a:solidFill>
                  <a:srgbClr val="2D3238"/>
                </a:solidFill>
                <a:latin typeface="Segoe UI"/>
              </a:rPr>
              <a:t>gRPC</a:t>
            </a:r>
            <a:r>
              <a:rPr sz="1420" b="0" dirty="0">
                <a:solidFill>
                  <a:srgbClr val="2D3238"/>
                </a:solidFill>
                <a:latin typeface="Segoe UI"/>
              </a:rPr>
              <a:t> </a:t>
            </a:r>
            <a:r>
              <a:rPr sz="1420" b="0" dirty="0" err="1">
                <a:solidFill>
                  <a:srgbClr val="2D3238"/>
                </a:solidFill>
                <a:latin typeface="Segoe UI"/>
              </a:rPr>
              <a:t>мультиплексує</a:t>
            </a:r>
            <a:r>
              <a:rPr sz="1420" b="0" dirty="0">
                <a:solidFill>
                  <a:srgbClr val="2D3238"/>
                </a:solidFill>
                <a:latin typeface="Segoe UI"/>
              </a:rPr>
              <a:t> </a:t>
            </a:r>
            <a:r>
              <a:rPr sz="1420" b="0" dirty="0" err="1">
                <a:solidFill>
                  <a:srgbClr val="2D3238"/>
                </a:solidFill>
                <a:latin typeface="Segoe UI"/>
              </a:rPr>
              <a:t>всі</a:t>
            </a:r>
            <a:r>
              <a:rPr sz="1420" b="0" dirty="0">
                <a:solidFill>
                  <a:srgbClr val="2D3238"/>
                </a:solidFill>
                <a:latin typeface="Segoe UI"/>
              </a:rPr>
              <a:t> </a:t>
            </a:r>
            <a:r>
              <a:rPr sz="1420" b="0" dirty="0" err="1">
                <a:solidFill>
                  <a:srgbClr val="2D3238"/>
                </a:solidFill>
                <a:latin typeface="Segoe UI"/>
              </a:rPr>
              <a:t>виклики</a:t>
            </a:r>
            <a:r>
              <a:rPr sz="1420" b="0" dirty="0">
                <a:solidFill>
                  <a:srgbClr val="2D3238"/>
                </a:solidFill>
                <a:latin typeface="Segoe UI"/>
              </a:rPr>
              <a:t> </a:t>
            </a:r>
            <a:r>
              <a:rPr sz="1420" b="0" dirty="0" err="1">
                <a:solidFill>
                  <a:srgbClr val="2D3238"/>
                </a:solidFill>
                <a:latin typeface="Segoe UI"/>
              </a:rPr>
              <a:t>через</a:t>
            </a:r>
            <a:r>
              <a:rPr sz="1420" b="0" dirty="0">
                <a:solidFill>
                  <a:srgbClr val="2D3238"/>
                </a:solidFill>
                <a:latin typeface="Segoe UI"/>
              </a:rPr>
              <a:t> 1 </a:t>
            </a:r>
            <a:r>
              <a:rPr sz="1420" b="0" dirty="0" err="1">
                <a:solidFill>
                  <a:srgbClr val="2D3238"/>
                </a:solidFill>
                <a:latin typeface="Segoe UI"/>
              </a:rPr>
              <a:t>постійне</a:t>
            </a:r>
            <a:r>
              <a:rPr sz="1420" b="0" dirty="0">
                <a:solidFill>
                  <a:srgbClr val="2D3238"/>
                </a:solidFill>
                <a:latin typeface="Segoe UI"/>
              </a:rPr>
              <a:t> TCP-</a:t>
            </a:r>
            <a:r>
              <a:rPr sz="1420" b="0" dirty="0" err="1">
                <a:solidFill>
                  <a:srgbClr val="2D3238"/>
                </a:solidFill>
                <a:latin typeface="Segoe UI"/>
              </a:rPr>
              <a:t>з'єднання</a:t>
            </a:r>
            <a:r>
              <a:rPr sz="1420" b="0" dirty="0">
                <a:solidFill>
                  <a:srgbClr val="2D3238"/>
                </a:solidFill>
                <a:latin typeface="Segoe UI"/>
              </a:rPr>
              <a:t>, </a:t>
            </a:r>
            <a:r>
              <a:rPr sz="1420" b="0" dirty="0" err="1">
                <a:solidFill>
                  <a:srgbClr val="2D3238"/>
                </a:solidFill>
                <a:latin typeface="Segoe UI"/>
              </a:rPr>
              <a:t>стандартний</a:t>
            </a:r>
            <a:r>
              <a:rPr sz="1420" b="0" dirty="0">
                <a:solidFill>
                  <a:srgbClr val="2D3238"/>
                </a:solidFill>
                <a:latin typeface="Segoe UI"/>
              </a:rPr>
              <a:t> L4-балансувальник Kubernetes </a:t>
            </a:r>
            <a:r>
              <a:rPr sz="1420" b="0" dirty="0" err="1">
                <a:solidFill>
                  <a:srgbClr val="2D3238"/>
                </a:solidFill>
                <a:latin typeface="Segoe UI"/>
              </a:rPr>
              <a:t>прив'язує</a:t>
            </a:r>
            <a:r>
              <a:rPr sz="1420" b="0" dirty="0">
                <a:solidFill>
                  <a:srgbClr val="2D3238"/>
                </a:solidFill>
                <a:latin typeface="Segoe UI"/>
              </a:rPr>
              <a:t> </a:t>
            </a:r>
            <a:r>
              <a:rPr sz="1420" b="0" dirty="0" err="1">
                <a:solidFill>
                  <a:srgbClr val="2D3238"/>
                </a:solidFill>
                <a:latin typeface="Segoe UI"/>
              </a:rPr>
              <a:t>клієнта</a:t>
            </a:r>
            <a:r>
              <a:rPr sz="1420" b="0" dirty="0">
                <a:solidFill>
                  <a:srgbClr val="2D3238"/>
                </a:solidFill>
                <a:latin typeface="Segoe UI"/>
              </a:rPr>
              <a:t> </a:t>
            </a:r>
            <a:r>
              <a:rPr sz="1420" b="0" dirty="0" err="1">
                <a:solidFill>
                  <a:srgbClr val="2D3238"/>
                </a:solidFill>
                <a:latin typeface="Segoe UI"/>
              </a:rPr>
              <a:t>лише</a:t>
            </a:r>
            <a:r>
              <a:rPr sz="1420" b="0" dirty="0">
                <a:solidFill>
                  <a:srgbClr val="2D3238"/>
                </a:solidFill>
                <a:latin typeface="Segoe UI"/>
              </a:rPr>
              <a:t> </a:t>
            </a:r>
            <a:r>
              <a:rPr sz="1420" b="0" dirty="0" err="1">
                <a:solidFill>
                  <a:srgbClr val="2D3238"/>
                </a:solidFill>
                <a:latin typeface="Segoe UI"/>
              </a:rPr>
              <a:t>до</a:t>
            </a:r>
            <a:r>
              <a:rPr sz="1420" b="0" dirty="0">
                <a:solidFill>
                  <a:srgbClr val="2D3238"/>
                </a:solidFill>
                <a:latin typeface="Segoe UI"/>
              </a:rPr>
              <a:t> </a:t>
            </a:r>
            <a:r>
              <a:rPr sz="1420" b="0" dirty="0" err="1">
                <a:solidFill>
                  <a:srgbClr val="2D3238"/>
                </a:solidFill>
                <a:latin typeface="Segoe UI"/>
              </a:rPr>
              <a:t>одного</a:t>
            </a:r>
            <a:r>
              <a:rPr sz="1420" b="0" dirty="0">
                <a:solidFill>
                  <a:srgbClr val="2D3238"/>
                </a:solidFill>
                <a:latin typeface="Segoe UI"/>
              </a:rPr>
              <a:t> </a:t>
            </a:r>
            <a:r>
              <a:rPr sz="1420" b="0" dirty="0" err="1">
                <a:solidFill>
                  <a:srgbClr val="2D3238"/>
                </a:solidFill>
                <a:latin typeface="Segoe UI"/>
              </a:rPr>
              <a:t>пода</a:t>
            </a:r>
            <a:r>
              <a:rPr sz="1420" b="0" dirty="0">
                <a:solidFill>
                  <a:srgbClr val="2D3238"/>
                </a:solidFill>
                <a:latin typeface="Segoe UI"/>
              </a:rPr>
              <a:t> </a:t>
            </a:r>
            <a:r>
              <a:rPr sz="1420" b="0" dirty="0" err="1">
                <a:solidFill>
                  <a:srgbClr val="2D3238"/>
                </a:solidFill>
                <a:latin typeface="Segoe UI"/>
              </a:rPr>
              <a:t>сервера</a:t>
            </a:r>
            <a:r>
              <a:rPr sz="1420" b="0" dirty="0">
                <a:solidFill>
                  <a:srgbClr val="2D3238"/>
                </a:solidFill>
                <a:latin typeface="Segoe UI"/>
              </a:rPr>
              <a:t>.</a:t>
            </a:r>
          </a:p>
          <a:p>
            <a:pPr>
              <a:spcAft>
                <a:spcPts val="800"/>
              </a:spcAft>
            </a:pPr>
            <a:r>
              <a:rPr sz="1420" b="1" dirty="0">
                <a:solidFill>
                  <a:srgbClr val="111418"/>
                </a:solidFill>
                <a:latin typeface="Segoe UI"/>
              </a:rPr>
              <a:t>• </a:t>
            </a:r>
            <a:r>
              <a:rPr sz="1420" b="1" dirty="0" err="1">
                <a:solidFill>
                  <a:srgbClr val="111418"/>
                </a:solidFill>
                <a:latin typeface="Segoe UI"/>
              </a:rPr>
              <a:t>Рішення</a:t>
            </a:r>
            <a:r>
              <a:rPr sz="1420" b="1" dirty="0">
                <a:solidFill>
                  <a:srgbClr val="111418"/>
                </a:solidFill>
                <a:latin typeface="Segoe UI"/>
              </a:rPr>
              <a:t> 1 — Client-Side Load Balancing:
</a:t>
            </a:r>
            <a:r>
              <a:rPr sz="1420" b="0" dirty="0" err="1">
                <a:solidFill>
                  <a:srgbClr val="2D3238"/>
                </a:solidFill>
                <a:latin typeface="Segoe UI"/>
              </a:rPr>
              <a:t>бібліотека</a:t>
            </a:r>
            <a:r>
              <a:rPr sz="1420" b="0" dirty="0">
                <a:solidFill>
                  <a:srgbClr val="2D3238"/>
                </a:solidFill>
                <a:latin typeface="Segoe UI"/>
              </a:rPr>
              <a:t> </a:t>
            </a:r>
            <a:r>
              <a:rPr sz="1420" b="0" dirty="0" err="1">
                <a:solidFill>
                  <a:srgbClr val="2D3238"/>
                </a:solidFill>
                <a:latin typeface="Segoe UI"/>
              </a:rPr>
              <a:t>Grpc.Net.Client</a:t>
            </a:r>
            <a:r>
              <a:rPr sz="1420" b="0" dirty="0">
                <a:solidFill>
                  <a:srgbClr val="2D3238"/>
                </a:solidFill>
                <a:latin typeface="Segoe UI"/>
              </a:rPr>
              <a:t> </a:t>
            </a:r>
            <a:r>
              <a:rPr sz="1420" b="0" dirty="0" err="1">
                <a:solidFill>
                  <a:srgbClr val="2D3238"/>
                </a:solidFill>
                <a:latin typeface="Segoe UI"/>
              </a:rPr>
              <a:t>підтримує</a:t>
            </a:r>
            <a:r>
              <a:rPr sz="1420" b="0" dirty="0">
                <a:solidFill>
                  <a:srgbClr val="2D3238"/>
                </a:solidFill>
                <a:latin typeface="Segoe UI"/>
              </a:rPr>
              <a:t> </a:t>
            </a:r>
            <a:r>
              <a:rPr sz="1420" b="0" dirty="0" err="1">
                <a:solidFill>
                  <a:srgbClr val="2D3238"/>
                </a:solidFill>
                <a:latin typeface="Segoe UI"/>
              </a:rPr>
              <a:t>клієнтські</a:t>
            </a:r>
            <a:r>
              <a:rPr sz="1420" b="0" dirty="0">
                <a:solidFill>
                  <a:srgbClr val="2D3238"/>
                </a:solidFill>
                <a:latin typeface="Segoe UI"/>
              </a:rPr>
              <a:t> </a:t>
            </a:r>
            <a:r>
              <a:rPr sz="1420" b="0" dirty="0" err="1">
                <a:solidFill>
                  <a:srgbClr val="2D3238"/>
                </a:solidFill>
                <a:latin typeface="Segoe UI"/>
              </a:rPr>
              <a:t>політики</a:t>
            </a:r>
            <a:r>
              <a:rPr sz="1420" b="0" dirty="0">
                <a:solidFill>
                  <a:srgbClr val="2D3238"/>
                </a:solidFill>
                <a:latin typeface="Segoe UI"/>
              </a:rPr>
              <a:t> </a:t>
            </a:r>
            <a:r>
              <a:rPr sz="1420" b="0" dirty="0" err="1">
                <a:solidFill>
                  <a:srgbClr val="2D3238"/>
                </a:solidFill>
                <a:latin typeface="Segoe UI"/>
              </a:rPr>
              <a:t>балансування</a:t>
            </a:r>
            <a:r>
              <a:rPr sz="1420" b="0" dirty="0">
                <a:solidFill>
                  <a:srgbClr val="2D3238"/>
                </a:solidFill>
                <a:latin typeface="Segoe UI"/>
              </a:rPr>
              <a:t> (</a:t>
            </a:r>
            <a:r>
              <a:rPr sz="1420" b="0" dirty="0" err="1">
                <a:solidFill>
                  <a:srgbClr val="2D3238"/>
                </a:solidFill>
                <a:latin typeface="Segoe UI"/>
              </a:rPr>
              <a:t>RoundRobinConfig</a:t>
            </a:r>
            <a:r>
              <a:rPr sz="1420" b="0" dirty="0">
                <a:solidFill>
                  <a:srgbClr val="2D3238"/>
                </a:solidFill>
                <a:latin typeface="Segoe UI"/>
              </a:rPr>
              <a:t>, </a:t>
            </a:r>
            <a:r>
              <a:rPr sz="1420" b="0" dirty="0" err="1">
                <a:solidFill>
                  <a:srgbClr val="2D3238"/>
                </a:solidFill>
                <a:latin typeface="Segoe UI"/>
              </a:rPr>
              <a:t>PickFirstConfig</a:t>
            </a:r>
            <a:r>
              <a:rPr sz="1420" b="0" dirty="0">
                <a:solidFill>
                  <a:srgbClr val="2D3238"/>
                </a:solidFill>
                <a:latin typeface="Segoe UI"/>
              </a:rPr>
              <a:t>) з </a:t>
            </a:r>
            <a:r>
              <a:rPr sz="1420" b="0" dirty="0" err="1">
                <a:solidFill>
                  <a:srgbClr val="2D3238"/>
                </a:solidFill>
                <a:latin typeface="Segoe UI"/>
              </a:rPr>
              <a:t>періодичним</a:t>
            </a:r>
            <a:r>
              <a:rPr sz="1420" b="0" dirty="0">
                <a:solidFill>
                  <a:srgbClr val="2D3238"/>
                </a:solidFill>
                <a:latin typeface="Segoe UI"/>
              </a:rPr>
              <a:t> </a:t>
            </a:r>
            <a:r>
              <a:rPr sz="1420" b="0" dirty="0" err="1">
                <a:solidFill>
                  <a:srgbClr val="2D3238"/>
                </a:solidFill>
                <a:latin typeface="Segoe UI"/>
              </a:rPr>
              <a:t>оновленням</a:t>
            </a:r>
            <a:r>
              <a:rPr sz="1420" b="0" dirty="0">
                <a:solidFill>
                  <a:srgbClr val="2D3238"/>
                </a:solidFill>
                <a:latin typeface="Segoe UI"/>
              </a:rPr>
              <a:t> DNS.</a:t>
            </a:r>
          </a:p>
          <a:p>
            <a:pPr>
              <a:spcAft>
                <a:spcPts val="600"/>
              </a:spcAft>
            </a:pPr>
            <a:r>
              <a:rPr sz="1420" b="1" dirty="0">
                <a:solidFill>
                  <a:srgbClr val="111418"/>
                </a:solidFill>
                <a:latin typeface="Segoe UI"/>
              </a:rPr>
              <a:t>• </a:t>
            </a:r>
            <a:r>
              <a:rPr sz="1420" b="1" dirty="0" err="1">
                <a:solidFill>
                  <a:srgbClr val="111418"/>
                </a:solidFill>
                <a:latin typeface="Segoe UI"/>
              </a:rPr>
              <a:t>Рішення</a:t>
            </a:r>
            <a:r>
              <a:rPr sz="1420" b="1" dirty="0">
                <a:solidFill>
                  <a:srgbClr val="111418"/>
                </a:solidFill>
                <a:latin typeface="Segoe UI"/>
              </a:rPr>
              <a:t> 2 — L7 Proxy / Aspire Service Discovery:
</a:t>
            </a:r>
            <a:r>
              <a:rPr sz="1420" b="0" dirty="0" err="1">
                <a:solidFill>
                  <a:srgbClr val="2D3238"/>
                </a:solidFill>
                <a:latin typeface="Segoe UI"/>
              </a:rPr>
              <a:t>використання</a:t>
            </a:r>
            <a:r>
              <a:rPr sz="1420" b="0" dirty="0">
                <a:solidFill>
                  <a:srgbClr val="2D3238"/>
                </a:solidFill>
                <a:latin typeface="Segoe UI"/>
              </a:rPr>
              <a:t> L7-проксі (Envoy, YARP, </a:t>
            </a:r>
            <a:r>
              <a:rPr sz="1420" b="0" dirty="0" err="1">
                <a:solidFill>
                  <a:srgbClr val="2D3238"/>
                </a:solidFill>
                <a:latin typeface="Segoe UI"/>
              </a:rPr>
              <a:t>Linkerd</a:t>
            </a:r>
            <a:r>
              <a:rPr sz="1420" b="0" dirty="0">
                <a:solidFill>
                  <a:srgbClr val="2D3238"/>
                </a:solidFill>
                <a:latin typeface="Segoe UI"/>
              </a:rPr>
              <a:t>) </a:t>
            </a:r>
            <a:r>
              <a:rPr sz="1420" b="0" dirty="0" err="1">
                <a:solidFill>
                  <a:srgbClr val="2D3238"/>
                </a:solidFill>
                <a:latin typeface="Segoe UI"/>
              </a:rPr>
              <a:t>або</a:t>
            </a:r>
            <a:r>
              <a:rPr sz="1420" b="0" dirty="0">
                <a:solidFill>
                  <a:srgbClr val="2D3238"/>
                </a:solidFill>
                <a:latin typeface="Segoe UI"/>
              </a:rPr>
              <a:t> </a:t>
            </a:r>
            <a:r>
              <a:rPr sz="1420" b="0" dirty="0" err="1">
                <a:solidFill>
                  <a:srgbClr val="2D3238"/>
                </a:solidFill>
                <a:latin typeface="Segoe UI"/>
              </a:rPr>
              <a:t>резолюції</a:t>
            </a:r>
            <a:r>
              <a:rPr sz="1420" b="0" dirty="0">
                <a:solidFill>
                  <a:srgbClr val="2D3238"/>
                </a:solidFill>
                <a:latin typeface="Segoe UI"/>
              </a:rPr>
              <a:t> </a:t>
            </a:r>
            <a:r>
              <a:rPr sz="1420" b="0" dirty="0" err="1">
                <a:solidFill>
                  <a:srgbClr val="2D3238"/>
                </a:solidFill>
                <a:latin typeface="Segoe UI"/>
              </a:rPr>
              <a:t>ендпоінтів</a:t>
            </a:r>
            <a:r>
              <a:rPr sz="1420" b="0" dirty="0">
                <a:solidFill>
                  <a:srgbClr val="2D3238"/>
                </a:solidFill>
                <a:latin typeface="Segoe UI"/>
              </a:rPr>
              <a:t> .NET Aspire, </a:t>
            </a:r>
            <a:r>
              <a:rPr sz="1420" b="0" dirty="0" err="1">
                <a:solidFill>
                  <a:srgbClr val="2D3238"/>
                </a:solidFill>
                <a:latin typeface="Segoe UI"/>
              </a:rPr>
              <a:t>які</a:t>
            </a:r>
            <a:r>
              <a:rPr sz="1420" b="0" dirty="0">
                <a:solidFill>
                  <a:srgbClr val="2D3238"/>
                </a:solidFill>
                <a:latin typeface="Segoe UI"/>
              </a:rPr>
              <a:t> </a:t>
            </a:r>
            <a:r>
              <a:rPr sz="1420" b="0" dirty="0" err="1">
                <a:solidFill>
                  <a:srgbClr val="2D3238"/>
                </a:solidFill>
                <a:latin typeface="Segoe UI"/>
              </a:rPr>
              <a:t>розподіляють</a:t>
            </a:r>
            <a:r>
              <a:rPr sz="1420" b="0" dirty="0">
                <a:solidFill>
                  <a:srgbClr val="2D3238"/>
                </a:solidFill>
                <a:latin typeface="Segoe UI"/>
              </a:rPr>
              <a:t> </a:t>
            </a:r>
            <a:r>
              <a:rPr sz="1420" b="0" dirty="0" err="1">
                <a:solidFill>
                  <a:srgbClr val="2D3238"/>
                </a:solidFill>
                <a:latin typeface="Segoe UI"/>
              </a:rPr>
              <a:t>окремі</a:t>
            </a:r>
            <a:r>
              <a:rPr sz="1420" b="0" dirty="0">
                <a:solidFill>
                  <a:srgbClr val="2D3238"/>
                </a:solidFill>
                <a:latin typeface="Segoe UI"/>
              </a:rPr>
              <a:t> HTTP/2-потоки </a:t>
            </a:r>
            <a:r>
              <a:rPr sz="1420" b="0" dirty="0" err="1">
                <a:solidFill>
                  <a:srgbClr val="2D3238"/>
                </a:solidFill>
                <a:latin typeface="Segoe UI"/>
              </a:rPr>
              <a:t>між</a:t>
            </a:r>
            <a:r>
              <a:rPr sz="1420" b="0" dirty="0">
                <a:solidFill>
                  <a:srgbClr val="2D3238"/>
                </a:solidFill>
                <a:latin typeface="Segoe UI"/>
              </a:rPr>
              <a:t> </a:t>
            </a:r>
            <a:r>
              <a:rPr sz="1420" b="0" dirty="0" err="1">
                <a:solidFill>
                  <a:srgbClr val="2D3238"/>
                </a:solidFill>
                <a:latin typeface="Segoe UI"/>
              </a:rPr>
              <a:t>репліками</a:t>
            </a:r>
            <a:r>
              <a:rPr sz="1420" b="0" dirty="0">
                <a:solidFill>
                  <a:srgbClr val="2D3238"/>
                </a:solidFill>
                <a:latin typeface="Segoe UI"/>
              </a:rPr>
              <a:t>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19088"/>
            <a:ext cx="11183112" cy="13716"/>
          </a:xfrm>
          <a:prstGeom prst="rect">
            <a:avLst/>
          </a:prstGeom>
          <a:solidFill>
            <a:srgbClr val="B9B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464808"/>
            <a:ext cx="9509760" cy="29260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050">
                <a:solidFill>
                  <a:srgbClr val="5F666E"/>
                </a:solidFill>
                <a:latin typeface="Segoe UI"/>
              </a:rPr>
              <a:t>Документація Microsoft: Deadlines, Cancellation та gRPC Load Balancing</a:t>
            </a:r>
            <a:r>
              <a:rPr sz="1050" b="1">
                <a:solidFill>
                  <a:srgbClr val="111418"/>
                </a:solidFill>
                <a:latin typeface="Segoe UI"/>
                <a:hlinkClick r:id="rId2"/>
              </a:rPr>
              <a:t>   |   Джерело: https://learn.microsoft.com/en-us/aspnet/core/grpc/loadbalancing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49840" y="6464808"/>
            <a:ext cx="1536192" cy="292608"/>
          </a:xfrm>
          <a:prstGeom prst="rect">
            <a:avLst/>
          </a:prstGeom>
          <a:noFill/>
        </p:spPr>
        <p:txBody>
          <a:bodyPr wrap="none" tIns="0" rIns="0">
            <a:spAutoFit/>
          </a:bodyPr>
          <a:lstStyle/>
          <a:p>
            <a:pPr algn="r">
              <a:defRPr sz="1100" b="1">
                <a:solidFill>
                  <a:srgbClr val="111418"/>
                </a:solidFill>
                <a:latin typeface="Segoe UI"/>
              </a:defRPr>
            </a:pPr>
            <a:r>
              <a:t>Слайд 24 з 28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11183112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5F666E"/>
                </a:solidFill>
                <a:latin typeface="Segoe UI"/>
              </a:defRPr>
            </a:pPr>
            <a:r>
              <a:rPr dirty="0"/>
              <a:t>РОЗДІЛ 8. СПОСТЕРЕЖУВАНІСТЬ (OBSERVABILITY) ТА OPENTELEMETRY</a:t>
            </a:r>
          </a:p>
          <a:p>
            <a:pPr>
              <a:defRPr sz="2400" b="1">
                <a:solidFill>
                  <a:srgbClr val="111418"/>
                </a:solidFill>
                <a:latin typeface="Segoe UI"/>
              </a:defRPr>
            </a:pPr>
            <a:r>
              <a:rPr dirty="0" err="1"/>
              <a:t>Наскрізне</a:t>
            </a:r>
            <a:r>
              <a:rPr dirty="0"/>
              <a:t> </a:t>
            </a:r>
            <a:r>
              <a:rPr dirty="0" err="1"/>
              <a:t>трасування</a:t>
            </a:r>
            <a:r>
              <a:rPr dirty="0"/>
              <a:t> </a:t>
            </a:r>
            <a:r>
              <a:rPr dirty="0" err="1"/>
              <a:t>gRPC</a:t>
            </a:r>
            <a:r>
              <a:rPr dirty="0"/>
              <a:t> у .NET 10 Aspire Dashboard (W3C Trace Context)</a:t>
            </a:r>
          </a:p>
          <a:p>
            <a:pPr>
              <a:defRPr sz="1350">
                <a:solidFill>
                  <a:srgbClr val="5F666E"/>
                </a:solidFill>
                <a:latin typeface="Segoe UI"/>
              </a:defRPr>
            </a:pPr>
            <a:r>
              <a:rPr dirty="0" err="1"/>
              <a:t>Як</a:t>
            </a:r>
            <a:r>
              <a:rPr dirty="0"/>
              <a:t> </a:t>
            </a:r>
            <a:r>
              <a:rPr dirty="0" err="1"/>
              <a:t>контекст</a:t>
            </a:r>
            <a:r>
              <a:rPr dirty="0"/>
              <a:t> </a:t>
            </a:r>
            <a:r>
              <a:rPr dirty="0" err="1"/>
              <a:t>traceparent</a:t>
            </a:r>
            <a:r>
              <a:rPr dirty="0"/>
              <a:t> </a:t>
            </a:r>
            <a:r>
              <a:rPr dirty="0" err="1"/>
              <a:t>автоматично</a:t>
            </a:r>
            <a:r>
              <a:rPr dirty="0"/>
              <a:t> </a:t>
            </a:r>
            <a:r>
              <a:rPr dirty="0" err="1"/>
              <a:t>прокидається</a:t>
            </a:r>
            <a:r>
              <a:rPr dirty="0"/>
              <a:t> </a:t>
            </a:r>
            <a:r>
              <a:rPr dirty="0" err="1"/>
              <a:t>через</a:t>
            </a:r>
            <a:r>
              <a:rPr dirty="0"/>
              <a:t> </a:t>
            </a:r>
            <a:r>
              <a:rPr dirty="0" err="1"/>
              <a:t>заголовки</a:t>
            </a:r>
            <a:r>
              <a:rPr dirty="0"/>
              <a:t> HTTP/2 </a:t>
            </a:r>
            <a:r>
              <a:rPr dirty="0" err="1"/>
              <a:t>між</a:t>
            </a:r>
            <a:r>
              <a:rPr dirty="0"/>
              <a:t> </a:t>
            </a:r>
            <a:r>
              <a:rPr dirty="0" err="1"/>
              <a:t>мікросервісами</a:t>
            </a:r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502920" y="1115568"/>
            <a:ext cx="11183112" cy="18288"/>
          </a:xfrm>
          <a:prstGeom prst="rect">
            <a:avLst/>
          </a:prstGeom>
          <a:solidFill>
            <a:srgbClr val="505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1396124"/>
            <a:ext cx="11183112" cy="1874519"/>
          </a:xfrm>
          <a:prstGeom prst="rect">
            <a:avLst/>
          </a:prstGeom>
          <a:solidFill>
            <a:srgbClr val="F6F7F8"/>
          </a:solidFill>
          <a:ln w="12700">
            <a:solidFill>
              <a:srgbClr val="B9B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46304" rIns="182880" bIns="128016" rtlCol="0" anchor="t"/>
          <a:lstStyle/>
          <a:p>
            <a:pPr algn="ctr">
              <a:spcAft>
                <a:spcPts val="800"/>
              </a:spcAft>
              <a:defRPr sz="1650" b="1">
                <a:solidFill>
                  <a:srgbClr val="111418"/>
                </a:solidFill>
                <a:latin typeface="Segoe UI"/>
              </a:defRPr>
            </a:pPr>
            <a:r>
              <a:rPr dirty="0" err="1"/>
              <a:t>Інструментація</a:t>
            </a:r>
            <a:r>
              <a:rPr dirty="0"/>
              <a:t> у </a:t>
            </a:r>
            <a:r>
              <a:rPr dirty="0" err="1"/>
              <a:t>файлі</a:t>
            </a:r>
            <a:r>
              <a:rPr dirty="0"/>
              <a:t> Aspire/</a:t>
            </a:r>
            <a:r>
              <a:rPr dirty="0" err="1"/>
              <a:t>CargoDelivery.ServiceDefaults</a:t>
            </a:r>
            <a:r>
              <a:rPr dirty="0"/>
              <a:t>/</a:t>
            </a:r>
            <a:r>
              <a:rPr dirty="0" err="1"/>
              <a:t>Extensions.cs</a:t>
            </a:r>
            <a:r>
              <a:rPr dirty="0"/>
              <a:t> (</a:t>
            </a:r>
            <a:r>
              <a:rPr dirty="0" err="1"/>
              <a:t>рядки</a:t>
            </a:r>
            <a:r>
              <a:rPr dirty="0"/>
              <a:t> 146–198)</a:t>
            </a:r>
          </a:p>
          <a:p>
            <a:pPr>
              <a:spcAft>
                <a:spcPts val="500"/>
              </a:spcAft>
            </a:pPr>
            <a:r>
              <a:rPr sz="1400" b="1" dirty="0">
                <a:solidFill>
                  <a:srgbClr val="111418"/>
                </a:solidFill>
                <a:latin typeface="Segoe UI"/>
              </a:rPr>
              <a:t>• </a:t>
            </a:r>
            <a:r>
              <a:rPr sz="1400" b="1" dirty="0" err="1">
                <a:solidFill>
                  <a:srgbClr val="111418"/>
                </a:solidFill>
                <a:latin typeface="Segoe UI"/>
              </a:rPr>
              <a:t>Автоматичне</a:t>
            </a:r>
            <a:r>
              <a:rPr sz="1400" b="1" dirty="0">
                <a:solidFill>
                  <a:srgbClr val="111418"/>
                </a:solidFill>
                <a:latin typeface="Segoe UI"/>
              </a:rPr>
              <a:t> </a:t>
            </a:r>
            <a:r>
              <a:rPr sz="1400" b="1" dirty="0" err="1">
                <a:solidFill>
                  <a:srgbClr val="111418"/>
                </a:solidFill>
                <a:latin typeface="Segoe UI"/>
              </a:rPr>
              <a:t>перехоплення</a:t>
            </a:r>
            <a:r>
              <a:rPr sz="1400" b="1" dirty="0">
                <a:solidFill>
                  <a:srgbClr val="111418"/>
                </a:solidFill>
                <a:latin typeface="Segoe UI"/>
              </a:rPr>
              <a:t> </a:t>
            </a:r>
            <a:r>
              <a:rPr sz="1400" b="1" dirty="0" err="1">
                <a:solidFill>
                  <a:srgbClr val="111418"/>
                </a:solidFill>
                <a:latin typeface="Segoe UI"/>
              </a:rPr>
              <a:t>викликів</a:t>
            </a:r>
            <a:r>
              <a:rPr sz="1400" b="1" dirty="0">
                <a:solidFill>
                  <a:srgbClr val="111418"/>
                </a:solidFill>
                <a:latin typeface="Segoe UI"/>
              </a:rPr>
              <a:t>: </a:t>
            </a:r>
            <a:r>
              <a:rPr sz="1400" b="0" dirty="0" err="1">
                <a:solidFill>
                  <a:srgbClr val="2D3238"/>
                </a:solidFill>
                <a:latin typeface="Segoe UI"/>
              </a:rPr>
              <a:t>виклики</a:t>
            </a:r>
            <a:r>
              <a:rPr sz="1400" b="0" dirty="0">
                <a:solidFill>
                  <a:srgbClr val="2D3238"/>
                </a:solidFill>
                <a:latin typeface="Segoe UI"/>
              </a:rPr>
              <a:t> .</a:t>
            </a:r>
            <a:r>
              <a:rPr sz="1400" b="0" dirty="0" err="1">
                <a:solidFill>
                  <a:srgbClr val="2D3238"/>
                </a:solidFill>
                <a:latin typeface="Segoe UI"/>
              </a:rPr>
              <a:t>AddAspNetCoreInstrumentation</a:t>
            </a:r>
            <a:r>
              <a:rPr sz="1400" b="0" dirty="0">
                <a:solidFill>
                  <a:srgbClr val="2D3238"/>
                </a:solidFill>
                <a:latin typeface="Segoe UI"/>
              </a:rPr>
              <a:t>() </a:t>
            </a:r>
            <a:r>
              <a:rPr sz="1400" b="0" dirty="0" err="1">
                <a:solidFill>
                  <a:srgbClr val="2D3238"/>
                </a:solidFill>
                <a:latin typeface="Segoe UI"/>
              </a:rPr>
              <a:t>та</a:t>
            </a:r>
            <a:r>
              <a:rPr sz="1400" b="0" dirty="0">
                <a:solidFill>
                  <a:srgbClr val="2D3238"/>
                </a:solidFill>
                <a:latin typeface="Segoe UI"/>
              </a:rPr>
              <a:t> .</a:t>
            </a:r>
            <a:r>
              <a:rPr sz="1400" b="0" dirty="0" err="1">
                <a:solidFill>
                  <a:srgbClr val="2D3238"/>
                </a:solidFill>
                <a:latin typeface="Segoe UI"/>
              </a:rPr>
              <a:t>AddHttpClientInstrumentation</a:t>
            </a:r>
            <a:r>
              <a:rPr sz="1400" b="0" dirty="0">
                <a:solidFill>
                  <a:srgbClr val="2D3238"/>
                </a:solidFill>
                <a:latin typeface="Segoe UI"/>
              </a:rPr>
              <a:t>() </a:t>
            </a:r>
            <a:r>
              <a:rPr sz="1400" b="0" dirty="0" err="1">
                <a:solidFill>
                  <a:srgbClr val="2D3238"/>
                </a:solidFill>
                <a:latin typeface="Segoe UI"/>
              </a:rPr>
              <a:t>перехоплюють</a:t>
            </a:r>
            <a:r>
              <a:rPr sz="1400" b="0" dirty="0">
                <a:solidFill>
                  <a:srgbClr val="2D3238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2D3238"/>
                </a:solidFill>
                <a:latin typeface="Segoe UI"/>
              </a:rPr>
              <a:t>кожен</a:t>
            </a:r>
            <a:r>
              <a:rPr sz="1400" b="0" dirty="0">
                <a:solidFill>
                  <a:srgbClr val="2D3238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2D3238"/>
                </a:solidFill>
                <a:latin typeface="Segoe UI"/>
              </a:rPr>
              <a:t>gRPC-запит</a:t>
            </a:r>
            <a:r>
              <a:rPr sz="1400" b="0" dirty="0">
                <a:solidFill>
                  <a:srgbClr val="2D3238"/>
                </a:solidFill>
                <a:latin typeface="Segoe UI"/>
              </a:rPr>
              <a:t> (</a:t>
            </a:r>
            <a:r>
              <a:rPr sz="1400" b="0" dirty="0" err="1">
                <a:solidFill>
                  <a:srgbClr val="2D3238"/>
                </a:solidFill>
                <a:latin typeface="Segoe UI"/>
              </a:rPr>
              <a:t>оскільки</a:t>
            </a:r>
            <a:r>
              <a:rPr sz="1400" b="0" dirty="0">
                <a:solidFill>
                  <a:srgbClr val="2D3238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2D3238"/>
                </a:solidFill>
                <a:latin typeface="Segoe UI"/>
              </a:rPr>
              <a:t>Grpc.Net.Client</a:t>
            </a:r>
            <a:r>
              <a:rPr sz="1400" b="0" dirty="0">
                <a:solidFill>
                  <a:srgbClr val="2D3238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2D3238"/>
                </a:solidFill>
                <a:latin typeface="Segoe UI"/>
              </a:rPr>
              <a:t>працює</a:t>
            </a:r>
            <a:r>
              <a:rPr sz="1400" b="0" dirty="0">
                <a:solidFill>
                  <a:srgbClr val="2D3238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2D3238"/>
                </a:solidFill>
                <a:latin typeface="Segoe UI"/>
              </a:rPr>
              <a:t>поверх</a:t>
            </a:r>
            <a:r>
              <a:rPr sz="1400" b="0" dirty="0">
                <a:solidFill>
                  <a:srgbClr val="2D3238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2D3238"/>
                </a:solidFill>
                <a:latin typeface="Segoe UI"/>
              </a:rPr>
              <a:t>HttpClient</a:t>
            </a:r>
            <a:r>
              <a:rPr sz="1400" b="0" dirty="0">
                <a:solidFill>
                  <a:srgbClr val="2D3238"/>
                </a:solidFill>
                <a:latin typeface="Segoe UI"/>
              </a:rPr>
              <a:t>).</a:t>
            </a:r>
          </a:p>
          <a:p>
            <a:pPr>
              <a:spcAft>
                <a:spcPts val="300"/>
              </a:spcAft>
            </a:pPr>
            <a:r>
              <a:rPr sz="1400" b="1" dirty="0">
                <a:solidFill>
                  <a:srgbClr val="111418"/>
                </a:solidFill>
                <a:latin typeface="Segoe UI"/>
              </a:rPr>
              <a:t>• </a:t>
            </a:r>
            <a:r>
              <a:rPr sz="1400" b="1" dirty="0" err="1">
                <a:solidFill>
                  <a:srgbClr val="111418"/>
                </a:solidFill>
                <a:latin typeface="Segoe UI"/>
              </a:rPr>
              <a:t>Прокидання</a:t>
            </a:r>
            <a:r>
              <a:rPr sz="1400" b="1" dirty="0">
                <a:solidFill>
                  <a:srgbClr val="111418"/>
                </a:solidFill>
                <a:latin typeface="Segoe UI"/>
              </a:rPr>
              <a:t> </a:t>
            </a:r>
            <a:r>
              <a:rPr sz="1400" b="1" dirty="0" err="1">
                <a:solidFill>
                  <a:srgbClr val="111418"/>
                </a:solidFill>
                <a:latin typeface="Segoe UI"/>
              </a:rPr>
              <a:t>контексту</a:t>
            </a:r>
            <a:r>
              <a:rPr sz="1400" b="1" dirty="0">
                <a:solidFill>
                  <a:srgbClr val="111418"/>
                </a:solidFill>
                <a:latin typeface="Segoe UI"/>
              </a:rPr>
              <a:t>: </a:t>
            </a:r>
            <a:r>
              <a:rPr sz="1400" b="0" dirty="0" err="1">
                <a:solidFill>
                  <a:srgbClr val="2D3238"/>
                </a:solidFill>
                <a:latin typeface="Segoe UI"/>
              </a:rPr>
              <a:t>клієнт</a:t>
            </a:r>
            <a:r>
              <a:rPr sz="1400" b="0" dirty="0">
                <a:solidFill>
                  <a:srgbClr val="2D3238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2D3238"/>
                </a:solidFill>
                <a:latin typeface="Segoe UI"/>
              </a:rPr>
              <a:t>автоматично</a:t>
            </a:r>
            <a:r>
              <a:rPr sz="1400" b="0" dirty="0">
                <a:solidFill>
                  <a:srgbClr val="2D3238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2D3238"/>
                </a:solidFill>
                <a:latin typeface="Segoe UI"/>
              </a:rPr>
              <a:t>додає</a:t>
            </a:r>
            <a:r>
              <a:rPr sz="1400" b="0" dirty="0">
                <a:solidFill>
                  <a:srgbClr val="2D3238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2D3238"/>
                </a:solidFill>
                <a:latin typeface="Segoe UI"/>
              </a:rPr>
              <a:t>метадані</a:t>
            </a:r>
            <a:r>
              <a:rPr sz="1400" b="0" dirty="0">
                <a:solidFill>
                  <a:srgbClr val="2D3238"/>
                </a:solidFill>
                <a:latin typeface="Segoe UI"/>
              </a:rPr>
              <a:t> HTTP/2 </a:t>
            </a:r>
            <a:r>
              <a:rPr sz="1400" b="0" dirty="0" err="1">
                <a:solidFill>
                  <a:srgbClr val="2D3238"/>
                </a:solidFill>
                <a:latin typeface="Segoe UI"/>
              </a:rPr>
              <a:t>traceparent</a:t>
            </a:r>
            <a:r>
              <a:rPr sz="1400" b="0" dirty="0">
                <a:solidFill>
                  <a:srgbClr val="2D3238"/>
                </a:solidFill>
                <a:latin typeface="Segoe UI"/>
              </a:rPr>
              <a:t> (00-&lt;</a:t>
            </a:r>
            <a:r>
              <a:rPr sz="1400" b="0" dirty="0" err="1">
                <a:solidFill>
                  <a:srgbClr val="2D3238"/>
                </a:solidFill>
                <a:latin typeface="Segoe UI"/>
              </a:rPr>
              <a:t>TraceId</a:t>
            </a:r>
            <a:r>
              <a:rPr sz="1400" b="0" dirty="0">
                <a:solidFill>
                  <a:srgbClr val="2D3238"/>
                </a:solidFill>
                <a:latin typeface="Segoe UI"/>
              </a:rPr>
              <a:t>&gt;-&lt;</a:t>
            </a:r>
            <a:r>
              <a:rPr sz="1400" b="0" dirty="0" err="1">
                <a:solidFill>
                  <a:srgbClr val="2D3238"/>
                </a:solidFill>
                <a:latin typeface="Segoe UI"/>
              </a:rPr>
              <a:t>SpanId</a:t>
            </a:r>
            <a:r>
              <a:rPr sz="1400" b="0" dirty="0">
                <a:solidFill>
                  <a:srgbClr val="2D3238"/>
                </a:solidFill>
                <a:latin typeface="Segoe UI"/>
              </a:rPr>
              <a:t>&gt;-01). </a:t>
            </a:r>
            <a:r>
              <a:rPr sz="1400" b="0" dirty="0" err="1">
                <a:solidFill>
                  <a:srgbClr val="2D3238"/>
                </a:solidFill>
                <a:latin typeface="Segoe UI"/>
              </a:rPr>
              <a:t>Експортер</a:t>
            </a:r>
            <a:r>
              <a:rPr sz="1400" b="0" dirty="0">
                <a:solidFill>
                  <a:srgbClr val="2D3238"/>
                </a:solidFill>
                <a:latin typeface="Segoe UI"/>
              </a:rPr>
              <a:t> .</a:t>
            </a:r>
            <a:r>
              <a:rPr sz="1400" b="0" dirty="0" err="1">
                <a:solidFill>
                  <a:srgbClr val="2D3238"/>
                </a:solidFill>
                <a:latin typeface="Segoe UI"/>
              </a:rPr>
              <a:t>UseOtlpExporter</a:t>
            </a:r>
            <a:r>
              <a:rPr sz="1400" b="0" dirty="0">
                <a:solidFill>
                  <a:srgbClr val="2D3238"/>
                </a:solidFill>
                <a:latin typeface="Segoe UI"/>
              </a:rPr>
              <a:t>() </a:t>
            </a:r>
            <a:r>
              <a:rPr sz="1400" b="0" dirty="0" err="1">
                <a:solidFill>
                  <a:srgbClr val="2D3238"/>
                </a:solidFill>
                <a:latin typeface="Segoe UI"/>
              </a:rPr>
              <a:t>надсилає</a:t>
            </a:r>
            <a:r>
              <a:rPr sz="1400" b="0" dirty="0">
                <a:solidFill>
                  <a:srgbClr val="2D3238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2D3238"/>
                </a:solidFill>
                <a:latin typeface="Segoe UI"/>
              </a:rPr>
              <a:t>спани</a:t>
            </a:r>
            <a:r>
              <a:rPr sz="1400" b="0" dirty="0">
                <a:solidFill>
                  <a:srgbClr val="2D3238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2D3238"/>
                </a:solidFill>
                <a:latin typeface="Segoe UI"/>
              </a:rPr>
              <a:t>обох</a:t>
            </a:r>
            <a:r>
              <a:rPr sz="1400" b="0" dirty="0">
                <a:solidFill>
                  <a:srgbClr val="2D3238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2D3238"/>
                </a:solidFill>
                <a:latin typeface="Segoe UI"/>
              </a:rPr>
              <a:t>сервісів</a:t>
            </a:r>
            <a:r>
              <a:rPr sz="1400" b="0" dirty="0">
                <a:solidFill>
                  <a:srgbClr val="2D3238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2D3238"/>
                </a:solidFill>
                <a:latin typeface="Segoe UI"/>
              </a:rPr>
              <a:t>по</a:t>
            </a:r>
            <a:r>
              <a:rPr sz="1400" b="0" dirty="0">
                <a:solidFill>
                  <a:srgbClr val="2D3238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2D3238"/>
                </a:solidFill>
                <a:latin typeface="Segoe UI"/>
              </a:rPr>
              <a:t>gRPC</a:t>
            </a:r>
            <a:r>
              <a:rPr sz="1400" b="0" dirty="0">
                <a:solidFill>
                  <a:srgbClr val="2D3238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2D3238"/>
                </a:solidFill>
                <a:latin typeface="Segoe UI"/>
              </a:rPr>
              <a:t>на</a:t>
            </a:r>
            <a:r>
              <a:rPr sz="1400" b="0" dirty="0">
                <a:solidFill>
                  <a:srgbClr val="2D3238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2D3238"/>
                </a:solidFill>
                <a:latin typeface="Segoe UI"/>
              </a:rPr>
              <a:t>порт</a:t>
            </a:r>
            <a:r>
              <a:rPr sz="1400" b="0" dirty="0">
                <a:solidFill>
                  <a:srgbClr val="2D3238"/>
                </a:solidFill>
                <a:latin typeface="Segoe UI"/>
              </a:rPr>
              <a:t> :18889 Aspire Dashboard.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3310128"/>
          <a:ext cx="11183112" cy="29291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47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111418"/>
                          </a:solidFill>
                          <a:latin typeface="Segoe UI"/>
                        </a:defRPr>
                      </a:pPr>
                      <a:r>
                        <a:t>Рівень ієрархії спану в Aspire Traces</a:t>
                      </a:r>
                    </a:p>
                  </a:txBody>
                  <a:tcPr marL="109728" marR="109728" marT="54864" marB="54864" anchor="ctr">
                    <a:solidFill>
                      <a:srgbClr val="DCE0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111418"/>
                          </a:solidFill>
                          <a:latin typeface="Segoe UI"/>
                        </a:defRPr>
                      </a:pPr>
                      <a:r>
                        <a:t>Сервіс / Джерело</a:t>
                      </a:r>
                    </a:p>
                  </a:txBody>
                  <a:tcPr marL="109728" marR="109728" marT="54864" marB="54864" anchor="ctr">
                    <a:solidFill>
                      <a:srgbClr val="DCE0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111418"/>
                          </a:solidFill>
                          <a:latin typeface="Segoe UI"/>
                        </a:defRPr>
                      </a:pPr>
                      <a:r>
                        <a:t>Операція / Маршрут</a:t>
                      </a:r>
                    </a:p>
                  </a:txBody>
                  <a:tcPr marL="109728" marR="109728" marT="54864" marB="54864" anchor="ctr">
                    <a:solidFill>
                      <a:srgbClr val="DCE0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111418"/>
                          </a:solidFill>
                          <a:latin typeface="Segoe UI"/>
                        </a:defRPr>
                      </a:pPr>
                      <a:r>
                        <a:t>Ключові атрибути OpenTelemetry</a:t>
                      </a:r>
                    </a:p>
                  </a:txBody>
                  <a:tcPr marL="109728" marR="109728" marT="54864" marB="54864" anchor="ctr">
                    <a:solidFill>
                      <a:srgbClr val="DCE0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111418"/>
                          </a:solidFill>
                          <a:latin typeface="Segoe UI"/>
                        </a:defRPr>
                      </a:pPr>
                      <a:r>
                        <a:t>Час</a:t>
                      </a:r>
                    </a:p>
                  </a:txBody>
                  <a:tcPr marL="109728" marR="109728" marT="54864" marB="54864" anchor="ctr">
                    <a:solidFill>
                      <a:srgbClr val="DCE0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11418"/>
                          </a:solidFill>
                          <a:latin typeface="Segoe UI"/>
                        </a:defRPr>
                      </a:pPr>
                      <a:r>
                        <a:t>1. Кореневий спан [SERVER]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DriversManagement (:5001)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GET /api/drivers/{driverId}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http.response.status_code = 200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28.4 мс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11418"/>
                          </a:solidFill>
                          <a:latin typeface="Segoe UI"/>
                        </a:defRPr>
                      </a:pPr>
                      <a:r>
                        <a:t>  |-- 2. Дочірній спан [CLIENT SQL]</a:t>
                      </a:r>
                    </a:p>
                  </a:txBody>
                  <a:tcPr marL="109728" marR="109728" marT="54864" marB="54864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MSSQL (:1434)</a:t>
                      </a:r>
                    </a:p>
                  </a:txBody>
                  <a:tcPr marL="109728" marR="109728" marT="54864" marB="54864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SELECT Drivers (dev_driversmanagement)</a:t>
                      </a:r>
                    </a:p>
                  </a:txBody>
                  <a:tcPr marL="109728" marR="109728" marT="54864" marB="54864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db.system = microsoft.sql_server</a:t>
                      </a:r>
                    </a:p>
                  </a:txBody>
                  <a:tcPr marL="109728" marR="109728" marT="54864" marB="54864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4.1 мс</a:t>
                      </a:r>
                    </a:p>
                  </a:txBody>
                  <a:tcPr marL="109728" marR="109728" marT="54864" marB="54864" anchor="ctr">
                    <a:solidFill>
                      <a:srgbClr val="F6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11418"/>
                          </a:solidFill>
                          <a:latin typeface="Segoe UI"/>
                        </a:defRPr>
                      </a:pPr>
                      <a:r>
                        <a:t>  |-- 3. Дочірній спан [CLIENT gRPC]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Grpc.Net.Client (:5001)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POST /DriverRpc/GetDriverWithPosts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rpc.system = grpc, grpc.status_code = 0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21.2 мс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11418"/>
                          </a:solidFill>
                          <a:latin typeface="Segoe UI"/>
                        </a:defRPr>
                      </a:pPr>
                      <a:r>
                        <a:t>        |-- 4. Серверний спан [SERVER]</a:t>
                      </a:r>
                    </a:p>
                  </a:txBody>
                  <a:tcPr marL="109728" marR="109728" marT="54864" marB="54864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DriversBlogManagement (:5002)</a:t>
                      </a:r>
                    </a:p>
                  </a:txBody>
                  <a:tcPr marL="109728" marR="109728" marT="54864" marB="54864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/DriverRpc/GetDriverWithPosts</a:t>
                      </a:r>
                    </a:p>
                  </a:txBody>
                  <a:tcPr marL="109728" marR="109728" marT="54864" marB="54864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rpc.service = DriverRpc, status = 0</a:t>
                      </a:r>
                    </a:p>
                  </a:txBody>
                  <a:tcPr marL="109728" marR="109728" marT="54864" marB="54864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18.5 мс</a:t>
                      </a:r>
                    </a:p>
                  </a:txBody>
                  <a:tcPr marL="109728" marR="109728" marT="54864" marB="54864" anchor="ctr">
                    <a:solidFill>
                      <a:srgbClr val="F6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11418"/>
                          </a:solidFill>
                          <a:latin typeface="Segoe UI"/>
                        </a:defRPr>
                      </a:pPr>
                      <a:r>
                        <a:t>              |-- 5. Спан БД блогу [SQL]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MSSQL (:1435)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SELECT Drivers + PostAboutDrivers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db.name = dev_driversblogmanagement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3238"/>
                          </a:solidFill>
                          <a:latin typeface="Segoe UI"/>
                        </a:defRPr>
                      </a:pPr>
                      <a:r>
                        <a:t>7.8 мс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02920" y="6419088"/>
            <a:ext cx="11183112" cy="13716"/>
          </a:xfrm>
          <a:prstGeom prst="rect">
            <a:avLst/>
          </a:prstGeom>
          <a:solidFill>
            <a:srgbClr val="B9B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464808"/>
            <a:ext cx="9509760" cy="29260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050">
                <a:solidFill>
                  <a:srgbClr val="5F666E"/>
                </a:solidFill>
                <a:latin typeface="Segoe UI"/>
              </a:rPr>
              <a:t>Конфігурація OpenTelemetry: Aspire/CargoDelivery.ServiceDefaults/Extensions.cs#L146-L198</a:t>
            </a:r>
            <a:r>
              <a:rPr sz="1050" b="1">
                <a:solidFill>
                  <a:srgbClr val="111418"/>
                </a:solidFill>
                <a:latin typeface="Segoe UI"/>
                <a:hlinkClick r:id="rId2"/>
              </a:rPr>
              <a:t>   |   Джерело: https://learn.microsoft.com/en-us/dotnet/aspire/fundamentals/telemetry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49840" y="6464808"/>
            <a:ext cx="1536192" cy="292608"/>
          </a:xfrm>
          <a:prstGeom prst="rect">
            <a:avLst/>
          </a:prstGeom>
          <a:noFill/>
        </p:spPr>
        <p:txBody>
          <a:bodyPr wrap="none" tIns="0" rIns="0">
            <a:spAutoFit/>
          </a:bodyPr>
          <a:lstStyle/>
          <a:p>
            <a:pPr algn="r">
              <a:defRPr sz="1100" b="1">
                <a:solidFill>
                  <a:srgbClr val="111418"/>
                </a:solidFill>
                <a:latin typeface="Segoe UI"/>
              </a:defRPr>
            </a:pPr>
            <a:r>
              <a:t>Слайд 25 з 28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11183112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5F666E"/>
                </a:solidFill>
                <a:latin typeface="Segoe UI"/>
              </a:defRPr>
            </a:pPr>
            <a:r>
              <a:t>РОЗДІЛ 8. СИНЕРГІЯ АСИНХРОННОЇ ТА СИНХРОННОЇ КОМУНІКАЦІЇ</a:t>
            </a:r>
          </a:p>
          <a:p>
            <a:pPr>
              <a:defRPr sz="2400" b="1">
                <a:solidFill>
                  <a:srgbClr val="111418"/>
                </a:solidFill>
                <a:latin typeface="Segoe UI"/>
              </a:defRPr>
            </a:pPr>
            <a:r>
              <a:t>Повний життєвий цикл даних: запис через RabbitMQ та читання через gRPC</a:t>
            </a:r>
          </a:p>
          <a:p>
            <a:pPr>
              <a:defRPr sz="1350">
                <a:solidFill>
                  <a:srgbClr val="5F666E"/>
                </a:solidFill>
                <a:latin typeface="Segoe UI"/>
              </a:defRPr>
            </a:pPr>
            <a:r>
              <a:t>Як тіньова таблиця водіїв (Shadow Entity) у базі блогу забезпечує роботу gRPC-сервера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15568"/>
            <a:ext cx="11183112" cy="18288"/>
          </a:xfrm>
          <a:prstGeom prst="rect">
            <a:avLst/>
          </a:prstGeom>
          <a:solidFill>
            <a:srgbClr val="505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diag_10_eventual_consisten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65148"/>
            <a:ext cx="11183112" cy="372770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02920" y="4983480"/>
            <a:ext cx="11183112" cy="1325880"/>
          </a:xfrm>
          <a:prstGeom prst="rect">
            <a:avLst/>
          </a:prstGeom>
          <a:solidFill>
            <a:srgbClr val="F6F7F8"/>
          </a:solidFill>
          <a:ln w="12700">
            <a:solidFill>
              <a:srgbClr val="B9B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46304" rIns="182880" bIns="128016" rtlCol="0" anchor="t"/>
          <a:lstStyle/>
          <a:p>
            <a:pPr algn="ctr">
              <a:spcAft>
                <a:spcPts val="300"/>
              </a:spcAft>
            </a:pPr>
            <a:r>
              <a:rPr sz="1380" b="1">
                <a:solidFill>
                  <a:srgbClr val="111418"/>
                </a:solidFill>
                <a:latin typeface="Segoe UI"/>
              </a:rPr>
              <a:t>• Чому потрібні обидва механізми: </a:t>
            </a:r>
            <a:r>
              <a:rPr sz="1380" b="0">
                <a:solidFill>
                  <a:srgbClr val="2D3238"/>
                </a:solidFill>
                <a:latin typeface="Segoe UI"/>
              </a:rPr>
              <a:t>1) При створенні водія (AddDriver.cs#L85) сервіс публікує подію IDriverCreated у RabbitMQ, а консьюмер SyncDriver.cs#L56 створює тіньову копію водія в БД блогу (:1435).  2) При відкритті картки водія (GetDriver.cs#L93) клієнт синхронно запитує пости цього водія по gRPC із гарантованим захистом від затримки реплікації.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19088"/>
            <a:ext cx="11183112" cy="13716"/>
          </a:xfrm>
          <a:prstGeom prst="rect">
            <a:avLst/>
          </a:prstGeom>
          <a:solidFill>
            <a:srgbClr val="B9B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464808"/>
            <a:ext cx="9509760" cy="29260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050">
                <a:solidFill>
                  <a:srgbClr val="5F666E"/>
                </a:solidFill>
                <a:latin typeface="Segoe UI"/>
              </a:rPr>
              <a:t>Файли: AddDriver.cs#L85, SyncDriver.cs#L56, GetDriver.cs#L93, DriverRpcService.cs#L57</a:t>
            </a:r>
            <a:r>
              <a:rPr sz="1050" b="1">
                <a:solidFill>
                  <a:srgbClr val="111418"/>
                </a:solidFill>
                <a:latin typeface="Segoe UI"/>
                <a:hlinkClick r:id="rId3"/>
              </a:rPr>
              <a:t>   |   Джерело: https://microservices.io/patterns/data/cqrs.html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49840" y="6464808"/>
            <a:ext cx="1536192" cy="292608"/>
          </a:xfrm>
          <a:prstGeom prst="rect">
            <a:avLst/>
          </a:prstGeom>
          <a:noFill/>
        </p:spPr>
        <p:txBody>
          <a:bodyPr wrap="none" tIns="0" rIns="0">
            <a:spAutoFit/>
          </a:bodyPr>
          <a:lstStyle/>
          <a:p>
            <a:pPr algn="r">
              <a:defRPr sz="1100" b="1">
                <a:solidFill>
                  <a:srgbClr val="111418"/>
                </a:solidFill>
                <a:latin typeface="Segoe UI"/>
              </a:defRPr>
            </a:pPr>
            <a:r>
              <a:t>Слайд 26 з 28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11183112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5F666E"/>
                </a:solidFill>
                <a:latin typeface="Segoe UI"/>
              </a:defRPr>
            </a:pPr>
            <a:r>
              <a:t>РОЗДІЛ 8. ІНТЕГРАЦІЯ З БРАУЗЕРАМИ ТА ПРАКТИЧНЕ ТЕСТУВАННЯ</a:t>
            </a:r>
          </a:p>
          <a:p>
            <a:pPr>
              <a:defRPr sz="2400" b="1">
                <a:solidFill>
                  <a:srgbClr val="111418"/>
                </a:solidFill>
                <a:latin typeface="Segoe UI"/>
              </a:defRPr>
            </a:pPr>
            <a:r>
              <a:t>gRPC-Web, gRPC JSON Transcoding у .NET 10 та перевірка через .http файл</a:t>
            </a:r>
          </a:p>
          <a:p>
            <a:pPr>
              <a:defRPr sz="1350">
                <a:solidFill>
                  <a:srgbClr val="5F666E"/>
                </a:solidFill>
                <a:latin typeface="Segoe UI"/>
              </a:defRPr>
            </a:pPr>
            <a:r>
              <a:t>Як протестувати весь ланцюжок у нашому репозиторії за допомогою CargoDelivery.HttpAggregator.http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15568"/>
            <a:ext cx="11183112" cy="18288"/>
          </a:xfrm>
          <a:prstGeom prst="rect">
            <a:avLst/>
          </a:prstGeom>
          <a:solidFill>
            <a:srgbClr val="505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1280160"/>
            <a:ext cx="5440680" cy="4937760"/>
          </a:xfrm>
          <a:prstGeom prst="rect">
            <a:avLst/>
          </a:prstGeom>
          <a:solidFill>
            <a:srgbClr val="F6F7F8"/>
          </a:solidFill>
          <a:ln w="12700">
            <a:solidFill>
              <a:srgbClr val="B9B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46304" rIns="182880" bIns="128016" rtlCol="0" anchor="t"/>
          <a:lstStyle/>
          <a:p>
            <a:pPr algn="ctr">
              <a:spcAft>
                <a:spcPts val="800"/>
              </a:spcAft>
              <a:defRPr sz="1650" b="1">
                <a:solidFill>
                  <a:srgbClr val="111418"/>
                </a:solidFill>
                <a:latin typeface="Segoe UI"/>
              </a:defRPr>
            </a:pPr>
            <a:r>
              <a:t>Як відкрити gRPC для браузерів у .NET 10?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11418"/>
                </a:solidFill>
                <a:latin typeface="Segoe UI"/>
              </a:rPr>
              <a:t>1. Чому браузер не викликає gRPC напряму:
</a:t>
            </a:r>
            <a:r>
              <a:rPr sz="1400" b="0">
                <a:solidFill>
                  <a:srgbClr val="2D3238"/>
                </a:solidFill>
                <a:latin typeface="Segoe UI"/>
              </a:rPr>
              <a:t>браузерний JavaScript (Fetch API) не дає низькорівневого доступу до кадрів HTTP/2 та фінальних трейлерів grpc-status.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11418"/>
                </a:solidFill>
                <a:latin typeface="Segoe UI"/>
              </a:rPr>
              <a:t>2. Підхід А — Протокол gRPC-Web:
</a:t>
            </a:r>
            <a:r>
              <a:rPr sz="1400" b="0">
                <a:solidFill>
                  <a:srgbClr val="2D3238"/>
                </a:solidFill>
                <a:latin typeface="Segoe UI"/>
              </a:rPr>
              <a:t>пакет Grpc.AspNetCore.Web упаковує трейлери в тіло пакета, дозволяючи викликати gRPC із клієнта у браузері.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11418"/>
                </a:solidFill>
                <a:latin typeface="Segoe UI"/>
              </a:rPr>
              <a:t>3. Підхід Б — gRPC JSON Transcoding (.NET 7–10):
</a:t>
            </a:r>
            <a:r>
              <a:rPr sz="1400" b="0">
                <a:solidFill>
                  <a:srgbClr val="2D3238"/>
                </a:solidFill>
                <a:latin typeface="Segoe UI"/>
              </a:rPr>
              <a:t>виклик builder.Services.AddGrpc().AddJsonTranscoding() дозволяє Kestrel автоматично публікувати той самий gRPC-сервіс одночасно як бінарний gRPC і як REST JSON API зі Swagger.</a:t>
            </a:r>
          </a:p>
          <a:p>
            <a:pPr>
              <a:spcAft>
                <a:spcPts val="400"/>
              </a:spcAft>
            </a:pPr>
            <a:r>
              <a:rPr sz="1400" b="1">
                <a:solidFill>
                  <a:srgbClr val="111418"/>
                </a:solidFill>
                <a:latin typeface="Segoe UI"/>
              </a:rPr>
              <a:t>4. Підхід В (реалізовано в нашому проєкті):
</a:t>
            </a:r>
            <a:r>
              <a:rPr sz="1400" b="0">
                <a:solidFill>
                  <a:srgbClr val="2D3238"/>
                </a:solidFill>
                <a:latin typeface="Segoe UI"/>
              </a:rPr>
              <a:t>патерн BFF — зовнішній клієнт звертається по REST до контролера DriversController, який усередині викликає gRPC.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45352" y="1280160"/>
            <a:ext cx="5440680" cy="4937760"/>
          </a:xfrm>
          <a:prstGeom prst="rect">
            <a:avLst/>
          </a:prstGeom>
          <a:solidFill>
            <a:srgbClr val="EBEDF0"/>
          </a:solidFill>
          <a:ln w="15240">
            <a:solidFill>
              <a:srgbClr val="505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28016" rIns="137160" bIns="109728" rtlCol="0" anchor="t"/>
          <a:lstStyle/>
          <a:p>
            <a:pPr algn="ctr">
              <a:spcAft>
                <a:spcPts val="600"/>
              </a:spcAft>
              <a:defRPr sz="1300" b="1">
                <a:solidFill>
                  <a:srgbClr val="111418"/>
                </a:solidFill>
                <a:latin typeface="Segoe UI"/>
              </a:defRPr>
            </a:pPr>
            <a:r>
              <a:rPr sz="1200" dirty="0" err="1"/>
              <a:t>Файл</a:t>
            </a:r>
            <a:r>
              <a:rPr sz="1200" dirty="0"/>
              <a:t>: </a:t>
            </a:r>
            <a:r>
              <a:rPr sz="1200" dirty="0" err="1"/>
              <a:t>CargoDelivery.HttpAggregator.http</a:t>
            </a:r>
            <a:r>
              <a:rPr sz="1200" dirty="0"/>
              <a:t> (</a:t>
            </a:r>
            <a:r>
              <a:rPr sz="1200" dirty="0" err="1"/>
              <a:t>рядки</a:t>
            </a:r>
            <a:r>
              <a:rPr sz="1200" dirty="0"/>
              <a:t> 58–66)</a:t>
            </a:r>
          </a:p>
          <a:p>
            <a:pPr>
              <a:spcAft>
                <a:spcPts val="200"/>
              </a:spcAft>
            </a:pPr>
            <a:r>
              <a:rPr sz="1100" dirty="0">
                <a:solidFill>
                  <a:srgbClr val="5F666E"/>
                </a:solidFill>
                <a:latin typeface="Consolas"/>
              </a:rPr>
              <a:t>### </a:t>
            </a:r>
            <a:r>
              <a:rPr sz="1100" dirty="0" err="1">
                <a:solidFill>
                  <a:srgbClr val="5F666E"/>
                </a:solidFill>
                <a:latin typeface="Consolas"/>
              </a:rPr>
              <a:t>CargoDelivery.HttpAggregator.http</a:t>
            </a:r>
            <a:r>
              <a:rPr sz="1100" dirty="0">
                <a:solidFill>
                  <a:srgbClr val="5F666E"/>
                </a:solidFill>
                <a:latin typeface="Consolas"/>
              </a:rPr>
              <a:t> (</a:t>
            </a:r>
            <a:r>
              <a:rPr sz="1100" dirty="0" err="1">
                <a:solidFill>
                  <a:srgbClr val="5F666E"/>
                </a:solidFill>
                <a:latin typeface="Consolas"/>
              </a:rPr>
              <a:t>Запит</a:t>
            </a:r>
            <a:r>
              <a:rPr sz="1100" dirty="0">
                <a:solidFill>
                  <a:srgbClr val="5F666E"/>
                </a:solidFill>
                <a:latin typeface="Consolas"/>
              </a:rPr>
              <a:t> 5, </a:t>
            </a:r>
            <a:r>
              <a:rPr sz="1100" dirty="0" err="1">
                <a:solidFill>
                  <a:srgbClr val="5F666E"/>
                </a:solidFill>
                <a:latin typeface="Consolas"/>
              </a:rPr>
              <a:t>рядки</a:t>
            </a:r>
            <a:r>
              <a:rPr sz="1100" dirty="0">
                <a:solidFill>
                  <a:srgbClr val="5F666E"/>
                </a:solidFill>
                <a:latin typeface="Consolas"/>
              </a:rPr>
              <a:t> 58–66)</a:t>
            </a:r>
          </a:p>
          <a:p>
            <a:pPr>
              <a:spcAft>
                <a:spcPts val="200"/>
              </a:spcAft>
            </a:pPr>
            <a:endParaRPr sz="1100" dirty="0">
              <a:solidFill>
                <a:srgbClr val="5F666E"/>
              </a:solidFill>
              <a:latin typeface="Consolas"/>
            </a:endParaRPr>
          </a:p>
          <a:p>
            <a:pPr>
              <a:spcAft>
                <a:spcPts val="200"/>
              </a:spcAft>
            </a:pPr>
            <a:r>
              <a:rPr sz="1100" dirty="0">
                <a:solidFill>
                  <a:srgbClr val="5F666E"/>
                </a:solidFill>
                <a:latin typeface="Consolas"/>
              </a:rPr>
              <a:t># КРОК 1: </a:t>
            </a:r>
            <a:r>
              <a:rPr sz="1100" dirty="0" err="1">
                <a:solidFill>
                  <a:srgbClr val="5F666E"/>
                </a:solidFill>
                <a:latin typeface="Consolas"/>
              </a:rPr>
              <a:t>Створіть</a:t>
            </a:r>
            <a:r>
              <a:rPr sz="1100" dirty="0">
                <a:solidFill>
                  <a:srgbClr val="5F666E"/>
                </a:solidFill>
                <a:latin typeface="Consolas"/>
              </a:rPr>
              <a:t> </a:t>
            </a:r>
            <a:r>
              <a:rPr sz="1100" dirty="0" err="1">
                <a:solidFill>
                  <a:srgbClr val="5F666E"/>
                </a:solidFill>
                <a:latin typeface="Consolas"/>
              </a:rPr>
              <a:t>водія</a:t>
            </a:r>
            <a:r>
              <a:rPr sz="1100" dirty="0">
                <a:solidFill>
                  <a:srgbClr val="5F666E"/>
                </a:solidFill>
                <a:latin typeface="Consolas"/>
              </a:rPr>
              <a:t> </a:t>
            </a:r>
            <a:r>
              <a:rPr sz="1100" dirty="0" err="1">
                <a:solidFill>
                  <a:srgbClr val="5F666E"/>
                </a:solidFill>
                <a:latin typeface="Consolas"/>
              </a:rPr>
              <a:t>через</a:t>
            </a:r>
            <a:r>
              <a:rPr sz="1100" dirty="0">
                <a:solidFill>
                  <a:srgbClr val="5F666E"/>
                </a:solidFill>
                <a:latin typeface="Consolas"/>
              </a:rPr>
              <a:t> POST /</a:t>
            </a:r>
            <a:r>
              <a:rPr sz="1100" dirty="0" err="1">
                <a:solidFill>
                  <a:srgbClr val="5F666E"/>
                </a:solidFill>
                <a:latin typeface="Consolas"/>
              </a:rPr>
              <a:t>api</a:t>
            </a:r>
            <a:r>
              <a:rPr sz="1100" dirty="0">
                <a:solidFill>
                  <a:srgbClr val="5F666E"/>
                </a:solidFill>
                <a:latin typeface="Consolas"/>
              </a:rPr>
              <a:t>/drivers</a:t>
            </a:r>
          </a:p>
          <a:p>
            <a:pPr>
              <a:spcAft>
                <a:spcPts val="200"/>
              </a:spcAft>
            </a:pPr>
            <a:r>
              <a:rPr sz="1100" dirty="0">
                <a:solidFill>
                  <a:srgbClr val="5F666E"/>
                </a:solidFill>
                <a:latin typeface="Consolas"/>
              </a:rPr>
              <a:t># </a:t>
            </a:r>
            <a:r>
              <a:rPr sz="1100" dirty="0" err="1">
                <a:solidFill>
                  <a:srgbClr val="5F666E"/>
                </a:solidFill>
                <a:latin typeface="Consolas"/>
              </a:rPr>
              <a:t>та</a:t>
            </a:r>
            <a:r>
              <a:rPr sz="1100" dirty="0">
                <a:solidFill>
                  <a:srgbClr val="5F666E"/>
                </a:solidFill>
                <a:latin typeface="Consolas"/>
              </a:rPr>
              <a:t> </a:t>
            </a:r>
            <a:r>
              <a:rPr sz="1100" dirty="0" err="1">
                <a:solidFill>
                  <a:srgbClr val="5F666E"/>
                </a:solidFill>
                <a:latin typeface="Consolas"/>
              </a:rPr>
              <a:t>пост</a:t>
            </a:r>
            <a:r>
              <a:rPr sz="1100" dirty="0">
                <a:solidFill>
                  <a:srgbClr val="5F666E"/>
                </a:solidFill>
                <a:latin typeface="Consolas"/>
              </a:rPr>
              <a:t> у </a:t>
            </a:r>
            <a:r>
              <a:rPr sz="1100" dirty="0" err="1">
                <a:solidFill>
                  <a:srgbClr val="5F666E"/>
                </a:solidFill>
                <a:latin typeface="Consolas"/>
              </a:rPr>
              <a:t>блозі</a:t>
            </a:r>
            <a:r>
              <a:rPr sz="1100" dirty="0">
                <a:solidFill>
                  <a:srgbClr val="5F666E"/>
                </a:solidFill>
                <a:latin typeface="Consolas"/>
              </a:rPr>
              <a:t> </a:t>
            </a:r>
            <a:r>
              <a:rPr sz="1100" dirty="0" err="1">
                <a:solidFill>
                  <a:srgbClr val="5F666E"/>
                </a:solidFill>
                <a:latin typeface="Consolas"/>
              </a:rPr>
              <a:t>через</a:t>
            </a:r>
            <a:r>
              <a:rPr sz="1100" dirty="0">
                <a:solidFill>
                  <a:srgbClr val="5F666E"/>
                </a:solidFill>
                <a:latin typeface="Consolas"/>
              </a:rPr>
              <a:t> POST /</a:t>
            </a:r>
            <a:r>
              <a:rPr sz="1100" dirty="0" err="1">
                <a:solidFill>
                  <a:srgbClr val="5F666E"/>
                </a:solidFill>
                <a:latin typeface="Consolas"/>
              </a:rPr>
              <a:t>api</a:t>
            </a:r>
            <a:r>
              <a:rPr sz="1100" dirty="0">
                <a:solidFill>
                  <a:srgbClr val="5F666E"/>
                </a:solidFill>
                <a:latin typeface="Consolas"/>
              </a:rPr>
              <a:t>/</a:t>
            </a:r>
            <a:r>
              <a:rPr sz="1100" dirty="0" err="1">
                <a:solidFill>
                  <a:srgbClr val="5F666E"/>
                </a:solidFill>
                <a:latin typeface="Consolas"/>
              </a:rPr>
              <a:t>postaboutdrivers</a:t>
            </a:r>
            <a:endParaRPr sz="1100" dirty="0">
              <a:solidFill>
                <a:srgbClr val="5F666E"/>
              </a:solidFill>
              <a:latin typeface="Consolas"/>
            </a:endParaRPr>
          </a:p>
          <a:p>
            <a:pPr>
              <a:spcAft>
                <a:spcPts val="200"/>
              </a:spcAft>
            </a:pPr>
            <a:endParaRPr sz="1100" dirty="0">
              <a:solidFill>
                <a:srgbClr val="5F666E"/>
              </a:solidFill>
              <a:latin typeface="Consolas"/>
            </a:endParaRPr>
          </a:p>
          <a:p>
            <a:pPr>
              <a:spcAft>
                <a:spcPts val="200"/>
              </a:spcAft>
            </a:pPr>
            <a:r>
              <a:rPr sz="1100" dirty="0">
                <a:solidFill>
                  <a:srgbClr val="5F666E"/>
                </a:solidFill>
                <a:latin typeface="Consolas"/>
              </a:rPr>
              <a:t># КРОК 2: </a:t>
            </a:r>
            <a:r>
              <a:rPr sz="1100" dirty="0" err="1">
                <a:solidFill>
                  <a:srgbClr val="5F666E"/>
                </a:solidFill>
                <a:latin typeface="Consolas"/>
              </a:rPr>
              <a:t>Виконайте</a:t>
            </a:r>
            <a:r>
              <a:rPr sz="1100" dirty="0">
                <a:solidFill>
                  <a:srgbClr val="5F666E"/>
                </a:solidFill>
                <a:latin typeface="Consolas"/>
              </a:rPr>
              <a:t> GET-</a:t>
            </a:r>
            <a:r>
              <a:rPr sz="1100" dirty="0" err="1">
                <a:solidFill>
                  <a:srgbClr val="5F666E"/>
                </a:solidFill>
                <a:latin typeface="Consolas"/>
              </a:rPr>
              <a:t>запит</a:t>
            </a:r>
            <a:r>
              <a:rPr sz="1100" dirty="0">
                <a:solidFill>
                  <a:srgbClr val="5F666E"/>
                </a:solidFill>
                <a:latin typeface="Consolas"/>
              </a:rPr>
              <a:t> </a:t>
            </a:r>
            <a:r>
              <a:rPr sz="1100" dirty="0" err="1">
                <a:solidFill>
                  <a:srgbClr val="5F666E"/>
                </a:solidFill>
                <a:latin typeface="Consolas"/>
              </a:rPr>
              <a:t>до</a:t>
            </a:r>
            <a:r>
              <a:rPr sz="1100" dirty="0">
                <a:solidFill>
                  <a:srgbClr val="5F666E"/>
                </a:solidFill>
                <a:latin typeface="Consolas"/>
              </a:rPr>
              <a:t> </a:t>
            </a:r>
            <a:r>
              <a:rPr sz="1100" dirty="0" err="1">
                <a:solidFill>
                  <a:srgbClr val="5F666E"/>
                </a:solidFill>
                <a:latin typeface="Consolas"/>
              </a:rPr>
              <a:t>DriversManagement</a:t>
            </a:r>
            <a:r>
              <a:rPr sz="1100" dirty="0">
                <a:solidFill>
                  <a:srgbClr val="5F666E"/>
                </a:solidFill>
                <a:latin typeface="Consolas"/>
              </a:rPr>
              <a:t> (:5001),</a:t>
            </a:r>
          </a:p>
          <a:p>
            <a:pPr>
              <a:spcAft>
                <a:spcPts val="200"/>
              </a:spcAft>
            </a:pPr>
            <a:r>
              <a:rPr sz="1100" dirty="0">
                <a:solidFill>
                  <a:srgbClr val="5F666E"/>
                </a:solidFill>
                <a:latin typeface="Consolas"/>
              </a:rPr>
              <a:t># </a:t>
            </a:r>
            <a:r>
              <a:rPr sz="1100" dirty="0" err="1">
                <a:solidFill>
                  <a:srgbClr val="5F666E"/>
                </a:solidFill>
                <a:latin typeface="Consolas"/>
              </a:rPr>
              <a:t>який</a:t>
            </a:r>
            <a:r>
              <a:rPr sz="1100" dirty="0">
                <a:solidFill>
                  <a:srgbClr val="5F666E"/>
                </a:solidFill>
                <a:latin typeface="Consolas"/>
              </a:rPr>
              <a:t> </a:t>
            </a:r>
            <a:r>
              <a:rPr sz="1100" dirty="0" err="1">
                <a:solidFill>
                  <a:srgbClr val="5F666E"/>
                </a:solidFill>
                <a:latin typeface="Consolas"/>
              </a:rPr>
              <a:t>всередині</a:t>
            </a:r>
            <a:r>
              <a:rPr sz="1100" dirty="0">
                <a:solidFill>
                  <a:srgbClr val="5F666E"/>
                </a:solidFill>
                <a:latin typeface="Consolas"/>
              </a:rPr>
              <a:t> </a:t>
            </a:r>
            <a:r>
              <a:rPr sz="1100" dirty="0" err="1">
                <a:solidFill>
                  <a:srgbClr val="5F666E"/>
                </a:solidFill>
                <a:latin typeface="Consolas"/>
              </a:rPr>
              <a:t>синхронно</a:t>
            </a:r>
            <a:r>
              <a:rPr sz="1100" dirty="0">
                <a:solidFill>
                  <a:srgbClr val="5F666E"/>
                </a:solidFill>
                <a:latin typeface="Consolas"/>
              </a:rPr>
              <a:t> </a:t>
            </a:r>
            <a:r>
              <a:rPr sz="1100" dirty="0" err="1">
                <a:solidFill>
                  <a:srgbClr val="5F666E"/>
                </a:solidFill>
                <a:latin typeface="Consolas"/>
              </a:rPr>
              <a:t>викликає</a:t>
            </a:r>
            <a:r>
              <a:rPr sz="1100" dirty="0">
                <a:solidFill>
                  <a:srgbClr val="5F666E"/>
                </a:solidFill>
                <a:latin typeface="Consolas"/>
              </a:rPr>
              <a:t> </a:t>
            </a:r>
            <a:r>
              <a:rPr sz="1100" dirty="0" err="1">
                <a:solidFill>
                  <a:srgbClr val="5F666E"/>
                </a:solidFill>
                <a:latin typeface="Consolas"/>
              </a:rPr>
              <a:t>DriversBlogManagement</a:t>
            </a:r>
            <a:r>
              <a:rPr sz="1100" dirty="0">
                <a:solidFill>
                  <a:srgbClr val="5F666E"/>
                </a:solidFill>
                <a:latin typeface="Consolas"/>
              </a:rPr>
              <a:t> (:5002)</a:t>
            </a:r>
          </a:p>
          <a:p>
            <a:pPr>
              <a:spcAft>
                <a:spcPts val="200"/>
              </a:spcAft>
            </a:pPr>
            <a:r>
              <a:rPr sz="1100" dirty="0">
                <a:solidFill>
                  <a:srgbClr val="5F666E"/>
                </a:solidFill>
                <a:latin typeface="Consolas"/>
              </a:rPr>
              <a:t># </a:t>
            </a:r>
            <a:r>
              <a:rPr sz="1100" dirty="0" err="1">
                <a:solidFill>
                  <a:srgbClr val="5F666E"/>
                </a:solidFill>
                <a:latin typeface="Consolas"/>
              </a:rPr>
              <a:t>по</a:t>
            </a:r>
            <a:r>
              <a:rPr sz="1100" dirty="0">
                <a:solidFill>
                  <a:srgbClr val="5F666E"/>
                </a:solidFill>
                <a:latin typeface="Consolas"/>
              </a:rPr>
              <a:t> </a:t>
            </a:r>
            <a:r>
              <a:rPr sz="1100" dirty="0" err="1">
                <a:solidFill>
                  <a:srgbClr val="5F666E"/>
                </a:solidFill>
                <a:latin typeface="Consolas"/>
              </a:rPr>
              <a:t>бінарному</a:t>
            </a:r>
            <a:r>
              <a:rPr sz="1100" dirty="0">
                <a:solidFill>
                  <a:srgbClr val="5F666E"/>
                </a:solidFill>
                <a:latin typeface="Consolas"/>
              </a:rPr>
              <a:t> </a:t>
            </a:r>
            <a:r>
              <a:rPr sz="1100" dirty="0" err="1">
                <a:solidFill>
                  <a:srgbClr val="5F666E"/>
                </a:solidFill>
                <a:latin typeface="Consolas"/>
              </a:rPr>
              <a:t>протоколу</a:t>
            </a:r>
            <a:r>
              <a:rPr sz="1100" dirty="0">
                <a:solidFill>
                  <a:srgbClr val="5F666E"/>
                </a:solidFill>
                <a:latin typeface="Consolas"/>
              </a:rPr>
              <a:t> </a:t>
            </a:r>
            <a:r>
              <a:rPr sz="1100" dirty="0" err="1">
                <a:solidFill>
                  <a:srgbClr val="5F666E"/>
                </a:solidFill>
                <a:latin typeface="Consolas"/>
              </a:rPr>
              <a:t>gRPC</a:t>
            </a:r>
            <a:r>
              <a:rPr sz="1100" dirty="0">
                <a:solidFill>
                  <a:srgbClr val="5F666E"/>
                </a:solidFill>
                <a:latin typeface="Consolas"/>
              </a:rPr>
              <a:t> (HTTP/2):</a:t>
            </a:r>
          </a:p>
          <a:p>
            <a:pPr>
              <a:spcAft>
                <a:spcPts val="200"/>
              </a:spcAft>
            </a:pPr>
            <a:endParaRPr sz="1100" dirty="0">
              <a:solidFill>
                <a:srgbClr val="5F666E"/>
              </a:solidFill>
              <a:latin typeface="Consolas"/>
            </a:endParaRPr>
          </a:p>
          <a:p>
            <a:pPr>
              <a:spcAft>
                <a:spcPts val="200"/>
              </a:spcAft>
            </a:pPr>
            <a:r>
              <a:rPr sz="1100" dirty="0">
                <a:solidFill>
                  <a:srgbClr val="2D3238"/>
                </a:solidFill>
                <a:latin typeface="Consolas"/>
              </a:rPr>
              <a:t>GET https://localhost:5001/api/drivers/{{driverId}}</a:t>
            </a:r>
          </a:p>
          <a:p>
            <a:pPr>
              <a:spcAft>
                <a:spcPts val="200"/>
              </a:spcAft>
            </a:pPr>
            <a:r>
              <a:rPr sz="1100" dirty="0">
                <a:solidFill>
                  <a:srgbClr val="2D3238"/>
                </a:solidFill>
                <a:latin typeface="Consolas"/>
              </a:rPr>
              <a:t>Accept: application/</a:t>
            </a:r>
            <a:r>
              <a:rPr sz="1100" dirty="0" err="1">
                <a:solidFill>
                  <a:srgbClr val="2D3238"/>
                </a:solidFill>
                <a:latin typeface="Consolas"/>
              </a:rPr>
              <a:t>json</a:t>
            </a:r>
            <a:endParaRPr sz="1100" dirty="0">
              <a:solidFill>
                <a:srgbClr val="2D3238"/>
              </a:solidFill>
              <a:latin typeface="Consolas"/>
            </a:endParaRPr>
          </a:p>
          <a:p>
            <a:pPr>
              <a:spcAft>
                <a:spcPts val="200"/>
              </a:spcAft>
            </a:pPr>
            <a:endParaRPr sz="1100" dirty="0">
              <a:solidFill>
                <a:srgbClr val="2D3238"/>
              </a:solidFill>
              <a:latin typeface="Consolas"/>
            </a:endParaRPr>
          </a:p>
          <a:p>
            <a:pPr>
              <a:spcAft>
                <a:spcPts val="200"/>
              </a:spcAft>
            </a:pPr>
            <a:r>
              <a:rPr sz="1100" dirty="0">
                <a:solidFill>
                  <a:srgbClr val="5F666E"/>
                </a:solidFill>
                <a:latin typeface="Consolas"/>
              </a:rPr>
              <a:t>// </a:t>
            </a:r>
            <a:r>
              <a:rPr sz="1100" dirty="0" err="1">
                <a:solidFill>
                  <a:srgbClr val="5F666E"/>
                </a:solidFill>
                <a:latin typeface="Consolas"/>
              </a:rPr>
              <a:t>Очікувана</a:t>
            </a:r>
            <a:r>
              <a:rPr sz="1100" dirty="0">
                <a:solidFill>
                  <a:srgbClr val="5F666E"/>
                </a:solidFill>
                <a:latin typeface="Consolas"/>
              </a:rPr>
              <a:t> </a:t>
            </a:r>
            <a:r>
              <a:rPr sz="1100" dirty="0" err="1">
                <a:solidFill>
                  <a:srgbClr val="5F666E"/>
                </a:solidFill>
                <a:latin typeface="Consolas"/>
              </a:rPr>
              <a:t>відповідь</a:t>
            </a:r>
            <a:r>
              <a:rPr sz="1100" dirty="0">
                <a:solidFill>
                  <a:srgbClr val="5F666E"/>
                </a:solidFill>
                <a:latin typeface="Consolas"/>
              </a:rPr>
              <a:t> HTTP 200 OK:</a:t>
            </a:r>
          </a:p>
          <a:p>
            <a:pPr>
              <a:spcAft>
                <a:spcPts val="200"/>
              </a:spcAft>
            </a:pPr>
            <a:r>
              <a:rPr sz="1100" dirty="0">
                <a:solidFill>
                  <a:srgbClr val="5F666E"/>
                </a:solidFill>
                <a:latin typeface="Consolas"/>
              </a:rPr>
              <a:t>// {</a:t>
            </a:r>
          </a:p>
          <a:p>
            <a:pPr>
              <a:spcAft>
                <a:spcPts val="200"/>
              </a:spcAft>
            </a:pPr>
            <a:r>
              <a:rPr sz="1100" dirty="0">
                <a:solidFill>
                  <a:srgbClr val="5F666E"/>
                </a:solidFill>
                <a:latin typeface="Consolas"/>
              </a:rPr>
              <a:t>//   "id": "44c4d89f-...",</a:t>
            </a:r>
          </a:p>
          <a:p>
            <a:pPr>
              <a:spcAft>
                <a:spcPts val="200"/>
              </a:spcAft>
            </a:pPr>
            <a:r>
              <a:rPr sz="1100" dirty="0">
                <a:solidFill>
                  <a:srgbClr val="5F666E"/>
                </a:solidFill>
                <a:latin typeface="Consolas"/>
              </a:rPr>
              <a:t>//   "</a:t>
            </a:r>
            <a:r>
              <a:rPr sz="1100" dirty="0" err="1">
                <a:solidFill>
                  <a:srgbClr val="5F666E"/>
                </a:solidFill>
                <a:latin typeface="Consolas"/>
              </a:rPr>
              <a:t>firstName</a:t>
            </a:r>
            <a:r>
              <a:rPr sz="1100" dirty="0">
                <a:solidFill>
                  <a:srgbClr val="5F666E"/>
                </a:solidFill>
                <a:latin typeface="Consolas"/>
              </a:rPr>
              <a:t>": "</a:t>
            </a:r>
            <a:r>
              <a:rPr sz="1100" dirty="0" err="1">
                <a:solidFill>
                  <a:srgbClr val="5F666E"/>
                </a:solidFill>
                <a:latin typeface="Consolas"/>
              </a:rPr>
              <a:t>Іван</a:t>
            </a:r>
            <a:r>
              <a:rPr sz="1100" dirty="0">
                <a:solidFill>
                  <a:srgbClr val="5F666E"/>
                </a:solidFill>
                <a:latin typeface="Consolas"/>
              </a:rPr>
              <a:t>",</a:t>
            </a:r>
          </a:p>
          <a:p>
            <a:pPr>
              <a:spcAft>
                <a:spcPts val="200"/>
              </a:spcAft>
            </a:pPr>
            <a:r>
              <a:rPr sz="1100" dirty="0">
                <a:solidFill>
                  <a:srgbClr val="5F666E"/>
                </a:solidFill>
                <a:latin typeface="Consolas"/>
              </a:rPr>
              <a:t>//   "</a:t>
            </a:r>
            <a:r>
              <a:rPr sz="1100" dirty="0" err="1">
                <a:solidFill>
                  <a:srgbClr val="5F666E"/>
                </a:solidFill>
                <a:latin typeface="Consolas"/>
              </a:rPr>
              <a:t>lastName</a:t>
            </a:r>
            <a:r>
              <a:rPr sz="1100" dirty="0">
                <a:solidFill>
                  <a:srgbClr val="5F666E"/>
                </a:solidFill>
                <a:latin typeface="Consolas"/>
              </a:rPr>
              <a:t>": "</a:t>
            </a:r>
            <a:r>
              <a:rPr sz="1100" dirty="0" err="1">
                <a:solidFill>
                  <a:srgbClr val="5F666E"/>
                </a:solidFill>
                <a:latin typeface="Consolas"/>
              </a:rPr>
              <a:t>Коваленко</a:t>
            </a:r>
            <a:r>
              <a:rPr sz="1100" dirty="0">
                <a:solidFill>
                  <a:srgbClr val="5F666E"/>
                </a:solidFill>
                <a:latin typeface="Consolas"/>
              </a:rPr>
              <a:t>",</a:t>
            </a:r>
          </a:p>
          <a:p>
            <a:pPr>
              <a:spcAft>
                <a:spcPts val="200"/>
              </a:spcAft>
            </a:pPr>
            <a:r>
              <a:rPr sz="1100" dirty="0">
                <a:solidFill>
                  <a:srgbClr val="5F666E"/>
                </a:solidFill>
                <a:latin typeface="Consolas"/>
              </a:rPr>
              <a:t>//   "posts": [</a:t>
            </a:r>
          </a:p>
          <a:p>
            <a:pPr>
              <a:spcAft>
                <a:spcPts val="200"/>
              </a:spcAft>
            </a:pPr>
            <a:r>
              <a:rPr sz="1100" dirty="0">
                <a:solidFill>
                  <a:srgbClr val="5F666E"/>
                </a:solidFill>
                <a:latin typeface="Consolas"/>
              </a:rPr>
              <a:t>//     { "id": "...", "title": "</a:t>
            </a:r>
            <a:r>
              <a:rPr sz="1100" dirty="0" err="1">
                <a:solidFill>
                  <a:srgbClr val="5F666E"/>
                </a:solidFill>
                <a:latin typeface="Consolas"/>
              </a:rPr>
              <a:t>Рейс</a:t>
            </a:r>
            <a:r>
              <a:rPr sz="1100" dirty="0">
                <a:solidFill>
                  <a:srgbClr val="5F666E"/>
                </a:solidFill>
                <a:latin typeface="Consolas"/>
              </a:rPr>
              <a:t> </a:t>
            </a:r>
            <a:r>
              <a:rPr sz="1100" dirty="0" err="1">
                <a:solidFill>
                  <a:srgbClr val="5F666E"/>
                </a:solidFill>
                <a:latin typeface="Consolas"/>
              </a:rPr>
              <a:t>Київ-Львів</a:t>
            </a:r>
            <a:r>
              <a:rPr sz="1100" dirty="0">
                <a:solidFill>
                  <a:srgbClr val="5F666E"/>
                </a:solidFill>
                <a:latin typeface="Consolas"/>
              </a:rPr>
              <a:t>", "content": "..." }</a:t>
            </a:r>
          </a:p>
          <a:p>
            <a:pPr>
              <a:spcAft>
                <a:spcPts val="200"/>
              </a:spcAft>
            </a:pPr>
            <a:r>
              <a:rPr sz="1100" dirty="0">
                <a:solidFill>
                  <a:srgbClr val="5F666E"/>
                </a:solidFill>
                <a:latin typeface="Consolas"/>
              </a:rPr>
              <a:t>//   ]</a:t>
            </a:r>
          </a:p>
          <a:p>
            <a:pPr>
              <a:spcAft>
                <a:spcPts val="200"/>
              </a:spcAft>
            </a:pPr>
            <a:r>
              <a:rPr sz="1100" dirty="0">
                <a:solidFill>
                  <a:srgbClr val="5F666E"/>
                </a:solidFill>
                <a:latin typeface="Consolas"/>
              </a:rPr>
              <a:t>// }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19088"/>
            <a:ext cx="11183112" cy="13716"/>
          </a:xfrm>
          <a:prstGeom prst="rect">
            <a:avLst/>
          </a:prstGeom>
          <a:solidFill>
            <a:srgbClr val="B9B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464808"/>
            <a:ext cx="9509760" cy="29260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050">
                <a:solidFill>
                  <a:srgbClr val="5F666E"/>
                </a:solidFill>
                <a:latin typeface="Segoe UI"/>
              </a:rPr>
              <a:t>Тестовий сценарій: CargoDelivery.HttpAggregator/CargoDelivery.HttpAggregator.http#L58-L66</a:t>
            </a:r>
            <a:r>
              <a:rPr sz="1050" b="1">
                <a:solidFill>
                  <a:srgbClr val="111418"/>
                </a:solidFill>
                <a:latin typeface="Segoe UI"/>
                <a:hlinkClick r:id="rId2"/>
              </a:rPr>
              <a:t>   |   Джерело: https://learn.microsoft.com/en-us/aspnet/core/grpc/json-transcoding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49840" y="6464808"/>
            <a:ext cx="1536192" cy="292608"/>
          </a:xfrm>
          <a:prstGeom prst="rect">
            <a:avLst/>
          </a:prstGeom>
          <a:noFill/>
        </p:spPr>
        <p:txBody>
          <a:bodyPr wrap="none" tIns="0" rIns="0">
            <a:spAutoFit/>
          </a:bodyPr>
          <a:lstStyle/>
          <a:p>
            <a:pPr algn="r">
              <a:defRPr sz="1100" b="1">
                <a:solidFill>
                  <a:srgbClr val="111418"/>
                </a:solidFill>
                <a:latin typeface="Segoe UI"/>
              </a:defRPr>
            </a:pPr>
            <a:r>
              <a:t>Слайд 27 з 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11183112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5F666E"/>
                </a:solidFill>
                <a:latin typeface="Segoe UI"/>
              </a:defRPr>
            </a:pPr>
            <a:r>
              <a:t>РОЗДІЛ 9. ПІДСУМКИ ТА ДЖЕРЕЛА</a:t>
            </a:r>
          </a:p>
          <a:p>
            <a:pPr>
              <a:defRPr sz="2400" b="1">
                <a:solidFill>
                  <a:srgbClr val="111418"/>
                </a:solidFill>
                <a:latin typeface="Segoe UI"/>
              </a:defRPr>
            </a:pPr>
            <a:r>
              <a:t>Архітектурний чек-лист gRPC, навігація по коду проєкту та офіційні ресурси</a:t>
            </a:r>
          </a:p>
          <a:p>
            <a:pPr>
              <a:defRPr sz="1350">
                <a:solidFill>
                  <a:srgbClr val="5F666E"/>
                </a:solidFill>
                <a:latin typeface="Segoe UI"/>
              </a:defRPr>
            </a:pPr>
            <a:r>
              <a:t>Зведена пам'ятка по реалізації gRPC у CargoDeliveryService та посилання на першоджерела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15568"/>
            <a:ext cx="11183112" cy="18288"/>
          </a:xfrm>
          <a:prstGeom prst="rect">
            <a:avLst/>
          </a:prstGeom>
          <a:solidFill>
            <a:srgbClr val="505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1280160"/>
            <a:ext cx="5440680" cy="4937760"/>
          </a:xfrm>
          <a:prstGeom prst="rect">
            <a:avLst/>
          </a:prstGeom>
          <a:solidFill>
            <a:srgbClr val="F6F7F8"/>
          </a:solidFill>
          <a:ln w="12700">
            <a:solidFill>
              <a:srgbClr val="B9B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46304" rIns="182880" bIns="128016" rtlCol="0" anchor="t"/>
          <a:lstStyle/>
          <a:p>
            <a:pPr algn="ctr">
              <a:spcAft>
                <a:spcPts val="800"/>
              </a:spcAft>
              <a:defRPr sz="1650" b="1">
                <a:solidFill>
                  <a:srgbClr val="111418"/>
                </a:solidFill>
                <a:latin typeface="Segoe UI"/>
              </a:defRPr>
            </a:pPr>
            <a:r>
              <a:t>Карта вихідного коду gRPC у репозиторії</a:t>
            </a:r>
          </a:p>
          <a:p>
            <a:pPr>
              <a:spcAft>
                <a:spcPts val="700"/>
              </a:spcAft>
            </a:pPr>
            <a:r>
              <a:rPr sz="1350" b="1">
                <a:solidFill>
                  <a:srgbClr val="111418"/>
                </a:solidFill>
                <a:latin typeface="Segoe UI"/>
              </a:rPr>
              <a:t>1. Контракт Protocol Buffers:
</a:t>
            </a:r>
            <a:r>
              <a:rPr sz="1350" b="0">
                <a:solidFill>
                  <a:srgbClr val="2D3238"/>
                </a:solidFill>
                <a:latin typeface="Segoe UI"/>
              </a:rPr>
              <a:t>DriversBlogManagement/Domain/Drivers/Protos/Driver.proto (#L1–58)</a:t>
            </a:r>
          </a:p>
          <a:p>
            <a:pPr>
              <a:spcAft>
                <a:spcPts val="700"/>
              </a:spcAft>
            </a:pPr>
            <a:r>
              <a:rPr sz="1350" b="1">
                <a:solidFill>
                  <a:srgbClr val="111418"/>
                </a:solidFill>
                <a:latin typeface="Segoe UI"/>
              </a:rPr>
              <a:t>2. Сервер gRPC (:5002):
</a:t>
            </a:r>
            <a:r>
              <a:rPr sz="1350" b="0">
                <a:solidFill>
                  <a:srgbClr val="2D3238"/>
                </a:solidFill>
                <a:latin typeface="Segoe UI"/>
              </a:rPr>
              <a:t>• DriverRpcService.cs (#L31–108)
• DriverRepository.cs (#L24–48)
• Program.cs (#L39 — MapGrpcService)
• DriversBlogManagement.csproj (#L72 — GrpcServices="Both")</a:t>
            </a:r>
          </a:p>
          <a:p>
            <a:pPr>
              <a:spcAft>
                <a:spcPts val="700"/>
              </a:spcAft>
            </a:pPr>
            <a:r>
              <a:rPr sz="1350" b="1">
                <a:solidFill>
                  <a:srgbClr val="111418"/>
                </a:solidFill>
                <a:latin typeface="Segoe UI"/>
              </a:rPr>
              <a:t>3. Клієнт gRPC (:5001):
</a:t>
            </a:r>
            <a:r>
              <a:rPr sz="1350" b="0">
                <a:solidFill>
                  <a:srgbClr val="2D3238"/>
                </a:solidFill>
                <a:latin typeface="Segoe UI"/>
              </a:rPr>
              <a:t>• WebAppServiceConfiguration.cs (#L58–106 — AddGrpcClient + Polly)
• GetDriver.cs (#L47–118 — виклик + Graceful Degradation)
• DriversManagement.csproj (#L94 — Link на Driver.proto)</a:t>
            </a:r>
          </a:p>
          <a:p>
            <a:pPr>
              <a:spcAft>
                <a:spcPts val="400"/>
              </a:spcAft>
            </a:pPr>
            <a:r>
              <a:rPr sz="1350" b="1">
                <a:solidFill>
                  <a:srgbClr val="111418"/>
                </a:solidFill>
                <a:latin typeface="Segoe UI"/>
              </a:rPr>
              <a:t>4. Оркестрація та телеметрія:
</a:t>
            </a:r>
            <a:r>
              <a:rPr sz="1350" b="0">
                <a:solidFill>
                  <a:srgbClr val="2D3238"/>
                </a:solidFill>
                <a:latin typeface="Segoe UI"/>
              </a:rPr>
              <a:t>• Aspire/CargoDelivery.AppHost/AppHost.cs (#L52–98)
• Aspire/CargoDelivery.ServiceDefaults/Extensions.cs (#L83–198)</a:t>
            </a:r>
          </a:p>
        </p:txBody>
      </p:sp>
      <p:sp>
        <p:nvSpPr>
          <p:cNvPr id="5" name="Rectangle 4"/>
          <p:cNvSpPr/>
          <p:nvPr/>
        </p:nvSpPr>
        <p:spPr>
          <a:xfrm>
            <a:off x="6245352" y="1280160"/>
            <a:ext cx="5440680" cy="4937760"/>
          </a:xfrm>
          <a:prstGeom prst="rect">
            <a:avLst/>
          </a:prstGeom>
          <a:solidFill>
            <a:srgbClr val="F6F7F8"/>
          </a:solidFill>
          <a:ln w="12700">
            <a:solidFill>
              <a:srgbClr val="B9B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46304" rIns="182880" bIns="128016" rtlCol="0" anchor="t"/>
          <a:lstStyle/>
          <a:p>
            <a:pPr algn="ctr">
              <a:spcAft>
                <a:spcPts val="800"/>
              </a:spcAft>
              <a:defRPr sz="1650" b="1">
                <a:solidFill>
                  <a:srgbClr val="111418"/>
                </a:solidFill>
                <a:latin typeface="Segoe UI"/>
              </a:defRPr>
            </a:pPr>
            <a:r>
              <a:t>Офіційна документація та рекомендовані посилання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111418"/>
                </a:solidFill>
                <a:latin typeface="Segoe UI"/>
              </a:rPr>
              <a:t>• Вступ та концепції gRPC: </a:t>
            </a:r>
            <a:r>
              <a:rPr sz="1250">
                <a:solidFill>
                  <a:srgbClr val="2D3238"/>
                </a:solidFill>
                <a:latin typeface="Segoe UI"/>
                <a:hlinkClick r:id="rId2"/>
              </a:rPr>
              <a:t>https://grpc.io/docs/what-is-grpc/introduction/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111418"/>
                </a:solidFill>
                <a:latin typeface="Segoe UI"/>
              </a:rPr>
              <a:t>• Основи gRPC для мови C#: </a:t>
            </a:r>
            <a:r>
              <a:rPr sz="1250">
                <a:solidFill>
                  <a:srgbClr val="2D3238"/>
                </a:solidFill>
                <a:latin typeface="Segoe UI"/>
                <a:hlinkClick r:id="rId3"/>
              </a:rPr>
              <a:t>https://grpc.io/docs/languages/csharp/basics/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111418"/>
                </a:solidFill>
                <a:latin typeface="Segoe UI"/>
              </a:rPr>
              <a:t>• Специфікація Protocol Buffers v3: </a:t>
            </a:r>
            <a:r>
              <a:rPr sz="1250">
                <a:solidFill>
                  <a:srgbClr val="2D3238"/>
                </a:solidFill>
                <a:latin typeface="Segoe UI"/>
                <a:hlinkClick r:id="rId4"/>
              </a:rPr>
              <a:t>https://protobuf.dev/programming-guides/proto3/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111418"/>
                </a:solidFill>
                <a:latin typeface="Segoe UI"/>
              </a:rPr>
              <a:t>• Бінарне кодування Protobuf: </a:t>
            </a:r>
            <a:r>
              <a:rPr sz="1250">
                <a:solidFill>
                  <a:srgbClr val="2D3238"/>
                </a:solidFill>
                <a:latin typeface="Segoe UI"/>
                <a:hlinkClick r:id="rId5"/>
              </a:rPr>
              <a:t>https://protobuf.dev/programming-guides/encoding/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111418"/>
                </a:solidFill>
                <a:latin typeface="Segoe UI"/>
              </a:rPr>
              <a:t>• gRPC у мікросервісах .NET: </a:t>
            </a:r>
            <a:r>
              <a:rPr sz="1250">
                <a:solidFill>
                  <a:srgbClr val="2D3238"/>
                </a:solidFill>
                <a:latin typeface="Segoe UI"/>
                <a:hlinkClick r:id="rId6"/>
              </a:rPr>
              <a:t>https://learn.microsoft.com/en-us/dotnet/architecture/cloud-native/grpc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111418"/>
                </a:solidFill>
                <a:latin typeface="Segoe UI"/>
              </a:rPr>
              <a:t>• Фабрика gRPC-клієнтів у .NET: </a:t>
            </a:r>
            <a:r>
              <a:rPr sz="1250">
                <a:solidFill>
                  <a:srgbClr val="2D3238"/>
                </a:solidFill>
                <a:latin typeface="Segoe UI"/>
                <a:hlinkClick r:id="rId7"/>
              </a:rPr>
              <a:t>https://learn.microsoft.com/en-us/aspnet/core/grpc/clientfactory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111418"/>
                </a:solidFill>
                <a:latin typeface="Segoe UI"/>
              </a:rPr>
              <a:t>• Покращення швидкодії gRPC у .NET: </a:t>
            </a:r>
            <a:r>
              <a:rPr sz="1250">
                <a:solidFill>
                  <a:srgbClr val="2D3238"/>
                </a:solidFill>
                <a:latin typeface="Segoe UI"/>
                <a:hlinkClick r:id="rId8"/>
              </a:rPr>
              <a:t>https://devblogs.microsoft.com/aspnet/grpc-performance-improvements-in-net-5/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111418"/>
                </a:solidFill>
                <a:latin typeface="Segoe UI"/>
              </a:rPr>
              <a:t>• Репозиторій бенчмарків REST vs gRPC: </a:t>
            </a:r>
            <a:r>
              <a:rPr sz="1250">
                <a:solidFill>
                  <a:srgbClr val="2D3238"/>
                </a:solidFill>
                <a:latin typeface="Segoe UI"/>
                <a:hlinkClick r:id="rId9"/>
              </a:rPr>
              <a:t>https://github.com/EmperorRXF/RESTvsGRPC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19088"/>
            <a:ext cx="11183112" cy="13716"/>
          </a:xfrm>
          <a:prstGeom prst="rect">
            <a:avLst/>
          </a:prstGeom>
          <a:solidFill>
            <a:srgbClr val="B9B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464808"/>
            <a:ext cx="9509760" cy="29260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050">
                <a:solidFill>
                  <a:srgbClr val="5F666E"/>
                </a:solidFill>
                <a:latin typeface="Segoe UI"/>
              </a:rPr>
              <a:t>Повний гайд у репозиторії: 02-02-Communication-Documentation/03_Patterns_Synchronous_gRPC_Communication.md</a:t>
            </a:r>
            <a:r>
              <a:rPr sz="1050" b="1">
                <a:solidFill>
                  <a:srgbClr val="111418"/>
                </a:solidFill>
                <a:latin typeface="Segoe UI"/>
                <a:hlinkClick r:id="rId10"/>
              </a:rPr>
              <a:t>   |   Джерело: https://grpc.io/docs/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49840" y="6464808"/>
            <a:ext cx="1536192" cy="292608"/>
          </a:xfrm>
          <a:prstGeom prst="rect">
            <a:avLst/>
          </a:prstGeom>
          <a:noFill/>
        </p:spPr>
        <p:txBody>
          <a:bodyPr wrap="none" tIns="0" rIns="0">
            <a:spAutoFit/>
          </a:bodyPr>
          <a:lstStyle/>
          <a:p>
            <a:pPr algn="r">
              <a:defRPr sz="1100" b="1">
                <a:solidFill>
                  <a:srgbClr val="111418"/>
                </a:solidFill>
                <a:latin typeface="Segoe UI"/>
              </a:defRPr>
            </a:pPr>
            <a:r>
              <a:t>Слайд 28 з 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7015</Words>
  <Application>Microsoft Office PowerPoint</Application>
  <PresentationFormat>Широкоэкранный</PresentationFormat>
  <Paragraphs>623</Paragraphs>
  <Slides>29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29</vt:i4>
      </vt:variant>
    </vt:vector>
  </HeadingPairs>
  <TitlesOfParts>
    <vt:vector size="34" baseType="lpstr">
      <vt:lpstr>Arial</vt:lpstr>
      <vt:lpstr>Calibri</vt:lpstr>
      <vt:lpstr>Consolas</vt:lpstr>
      <vt:lpstr>Segoe UI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keywords/>
  <dc:description>generated using python-pptx</dc:description>
  <cp:lastModifiedBy>Yuriy Tomka</cp:lastModifiedBy>
  <cp:revision>6</cp:revision>
  <dcterms:created xsi:type="dcterms:W3CDTF">2013-01-27T09:14:16Z</dcterms:created>
  <dcterms:modified xsi:type="dcterms:W3CDTF">2026-10-16T07:38:52Z</dcterms:modified>
  <cp:category/>
</cp:coreProperties>
</file>